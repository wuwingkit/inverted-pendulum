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6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0.svg" ContentType="image/svg+xml"/>
  <Override PartName="/ppt/media/image12.svg" ContentType="image/svg+xml"/>
  <Override PartName="/ppt/media/image14.svg" ContentType="image/svg+xml"/>
  <Override PartName="/ppt/media/image20.svg" ContentType="image/svg+xml"/>
  <Override PartName="/ppt/media/image22.svg" ContentType="image/svg+xml"/>
  <Override PartName="/ppt/media/image24.svg" ContentType="image/svg+xml"/>
  <Override PartName="/ppt/media/image32.svg" ContentType="image/svg+xml"/>
  <Override PartName="/ppt/media/image35.svg" ContentType="image/svg+xml"/>
  <Override PartName="/ppt/media/image37.svg" ContentType="image/svg+xml"/>
  <Override PartName="/ppt/media/image4.svg" ContentType="image/svg+xml"/>
  <Override PartName="/ppt/media/image42.svg" ContentType="image/svg+xml"/>
  <Override PartName="/ppt/media/image44.svg" ContentType="image/svg+xml"/>
  <Override PartName="/ppt/media/image46.svg" ContentType="image/svg+xml"/>
  <Override PartName="/ppt/media/image51.svg" ContentType="image/svg+xml"/>
  <Override PartName="/ppt/media/image53.svg" ContentType="image/svg+xml"/>
  <Override PartName="/ppt/media/image56.svg" ContentType="image/svg+xml"/>
  <Override PartName="/ppt/media/image6.svg" ContentType="image/svg+xml"/>
  <Override PartName="/ppt/media/image61.svg" ContentType="image/svg+xml"/>
  <Override PartName="/ppt/media/image63.svg" ContentType="image/svg+xml"/>
  <Override PartName="/ppt/media/image6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Lst>
  <p:notesMasterIdLst>
    <p:notesMasterId r:id="rId9"/>
  </p:notesMasterIdLst>
  <p:sldIdLst>
    <p:sldId id="256" r:id="rId8"/>
    <p:sldId id="257" r:id="rId10"/>
    <p:sldId id="279" r:id="rId11"/>
    <p:sldId id="280" r:id="rId12"/>
    <p:sldId id="259" r:id="rId13"/>
    <p:sldId id="261" r:id="rId14"/>
    <p:sldId id="262" r:id="rId15"/>
    <p:sldId id="284" r:id="rId16"/>
    <p:sldId id="285" r:id="rId17"/>
    <p:sldId id="283" r:id="rId18"/>
    <p:sldId id="266" r:id="rId19"/>
    <p:sldId id="267"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286" r:id="rId37"/>
    <p:sldId id="268" r:id="rId38"/>
    <p:sldId id="273" r:id="rId39"/>
    <p:sldId id="274" r:id="rId40"/>
    <p:sldId id="275" r:id="rId41"/>
    <p:sldId id="277" r:id="rId42"/>
    <p:sldId id="269" r:id="rId43"/>
    <p:sldId id="270" r:id="rId44"/>
    <p:sldId id="272" r:id="rId4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36" userDrawn="1">
          <p15:clr>
            <a:srgbClr val="747775"/>
          </p15:clr>
        </p15:guide>
        <p15:guide id="2" pos="290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千板" initials="authorId_464640949"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852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8FDFF00-9161-4752-985D-9B649F7FD27A}" styleName="表样式 1 12">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6E560EE8-C04B-4DBB-A23E-6B21578234B7}"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D47C45C6-B7E7-46C0-8195-336C3F98D871}"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ADA5656D-0BD9-4D8F-9E45-50BB38FF7506}"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21CC8093-3799-48AE-BC2B-F0442AC5ABC2}"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9EE3CD24-B024-46AC-99A2-79BD5C3E0FDF}"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6694F3C7-BCAB-4285-95E8-D237CD025DDE}"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36"/>
        <p:guide pos="290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1.xml"/><Relationship Id="rId7" Type="http://schemas.openxmlformats.org/officeDocument/2006/relationships/slideMaster" Target="slideMasters/slideMaster6.xml"/><Relationship Id="rId6" Type="http://schemas.openxmlformats.org/officeDocument/2006/relationships/slideMaster" Target="slideMasters/slideMaster5.xml"/><Relationship Id="rId51" Type="http://schemas.openxmlformats.org/officeDocument/2006/relationships/customXml" Target="../customXml/item1.xml"/><Relationship Id="rId50" Type="http://schemas.openxmlformats.org/officeDocument/2006/relationships/customXmlProps" Target="../customXml/itemProps65.xml"/><Relationship Id="rId5" Type="http://schemas.openxmlformats.org/officeDocument/2006/relationships/slideMaster" Target="slideMasters/slideMaster4.xml"/><Relationship Id="rId49" Type="http://schemas.openxmlformats.org/officeDocument/2006/relationships/commentAuthors" Target="commentAuthors.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汇报我的控制工程原理课程设计——基于STM32的小车倒立摆控制系统。本次设计旨在通过实践，深入理解控制理论，并将其应用于一个经典且富有挑战性的物理系统中。接下来，我将从项目背景、系统方案、软硬件设计、实验调试以及总结展望几个方面进行详细介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参数整定是控制工程的关键。我们遵循严格的“先内环，后外环”原则。首先，我们单独调试速度环，让它能精准、平稳地调速。然后，在速度环稳定的基础上，再调试角度环。先调P让系统有响应，再调D来抑制震荡。最后，在实际地面上进行微调，最终得到一组稳定的参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分析高摩擦和大阻尼这两个硬件特性是如何影响我们的控制系统的。静摩擦导致了“死区效应”，也就是小信号无法驱动电机。动摩擦和电机阻尼则导致了响应滞后和积分饱和。这些问题共同作用，使得系统表现出剧烈的震荡和不稳定，就像这张图展示的一样，系统无法稳定下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死区问题，我们提出了核心优化方案——死区补偿。它的原理很简单，就是在PID计算出的PWM值基础上，额外加上一个固定的补偿值，这个值刚好能克服静摩擦。我们通过代码实现了这一点，并为每个轮子单独测量了死区阈值，特别是C轮，我们发现它的死区比其他轮子更大，所以进行了单独设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参数整定是控制工程的关键。我们遵循严格的“先内环，后外环”原则。首先，我们单独调试速度环，让它能精准、平稳地调速。然后，在速度环稳定的基础上，再调试角度环。先调P让系统有响应，再调D来抑制震荡。最后，在实际地面上进行微调，最终得到一组稳定的参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参数整定是控制工程的关键。我们遵循严格的“先内环，后外环”原则。首先，我们单独调试速度环，让它能精准、平稳地调速。然后，在速度环稳定的基础上，再调试角度环。先调P让系统有响应，再调D来抑制震荡。最后，在实际地面上进行微调，最终得到一组稳定的参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3" Type="http://schemas.openxmlformats.org/officeDocument/2006/relationships/notesSlide" Target="../notesSlides/notesSlide4.xml"/><Relationship Id="rId12" Type="http://schemas.openxmlformats.org/officeDocument/2006/relationships/slideLayout" Target="../slideLayouts/slideLayout12.xml"/><Relationship Id="rId11" Type="http://schemas.openxmlformats.org/officeDocument/2006/relationships/image" Target="../media/image15.jpeg"/><Relationship Id="rId10" Type="http://schemas.openxmlformats.org/officeDocument/2006/relationships/image" Target="../media/image14.sv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6.svg"/><Relationship Id="rId5" Type="http://schemas.openxmlformats.org/officeDocument/2006/relationships/image" Target="../media/image18.png"/><Relationship Id="rId4" Type="http://schemas.openxmlformats.org/officeDocument/2006/relationships/image" Target="../media/image10.svg"/><Relationship Id="rId3" Type="http://schemas.openxmlformats.org/officeDocument/2006/relationships/image" Target="../media/image17.png"/><Relationship Id="rId2" Type="http://schemas.openxmlformats.org/officeDocument/2006/relationships/image" Target="../media/image12.svg"/><Relationship Id="rId14" Type="http://schemas.openxmlformats.org/officeDocument/2006/relationships/notesSlide" Target="../notesSlides/notesSlide5.xml"/><Relationship Id="rId13" Type="http://schemas.openxmlformats.org/officeDocument/2006/relationships/slideLayout" Target="../slideLayouts/slideLayout12.xml"/><Relationship Id="rId12" Type="http://schemas.openxmlformats.org/officeDocument/2006/relationships/image" Target="../media/image24.svg"/><Relationship Id="rId11" Type="http://schemas.openxmlformats.org/officeDocument/2006/relationships/image" Target="../media/image23.png"/><Relationship Id="rId10" Type="http://schemas.openxmlformats.org/officeDocument/2006/relationships/image" Target="../media/image22.sv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26.jpeg"/><Relationship Id="rId4" Type="http://schemas.openxmlformats.org/officeDocument/2006/relationships/tags" Target="../tags/tag3.xml"/><Relationship Id="rId31" Type="http://schemas.openxmlformats.org/officeDocument/2006/relationships/notesSlide" Target="../notesSlides/notesSlide6.xml"/><Relationship Id="rId30" Type="http://schemas.openxmlformats.org/officeDocument/2006/relationships/slideLayout" Target="../slideLayouts/slideLayout12.xml"/><Relationship Id="rId3" Type="http://schemas.openxmlformats.org/officeDocument/2006/relationships/tags" Target="../tags/tag2.xml"/><Relationship Id="rId29" Type="http://schemas.openxmlformats.org/officeDocument/2006/relationships/tags" Target="../tags/tag24.xml"/><Relationship Id="rId28" Type="http://schemas.openxmlformats.org/officeDocument/2006/relationships/tags" Target="../tags/tag23.xml"/><Relationship Id="rId27" Type="http://schemas.openxmlformats.org/officeDocument/2006/relationships/tags" Target="../tags/tag22.xml"/><Relationship Id="rId26" Type="http://schemas.openxmlformats.org/officeDocument/2006/relationships/image" Target="../media/image29.jpeg"/><Relationship Id="rId25" Type="http://schemas.openxmlformats.org/officeDocument/2006/relationships/tags" Target="../tags/tag21.xml"/><Relationship Id="rId24" Type="http://schemas.openxmlformats.org/officeDocument/2006/relationships/tags" Target="../tags/tag20.xml"/><Relationship Id="rId23" Type="http://schemas.openxmlformats.org/officeDocument/2006/relationships/tags" Target="../tags/tag19.xml"/><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tags" Target="../tags/tag1.xml"/><Relationship Id="rId19" Type="http://schemas.openxmlformats.org/officeDocument/2006/relationships/image" Target="../media/image28.jpeg"/><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image" Target="../media/image27.jpeg"/><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25.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30.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5.xml"/><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2.xml"/><Relationship Id="rId5" Type="http://schemas.openxmlformats.org/officeDocument/2006/relationships/image" Target="../media/image38.jpeg"/><Relationship Id="rId4" Type="http://schemas.openxmlformats.org/officeDocument/2006/relationships/image" Target="../media/image37.svg"/><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39.png"/></Relationships>
</file>

<file path=ppt/slides/_rels/slide12.xml.rels><?xml version="1.0" encoding="UTF-8" standalone="yes"?>
<Relationships xmlns="http://schemas.openxmlformats.org/package/2006/relationships"><Relationship Id="rId9" Type="http://schemas.openxmlformats.org/officeDocument/2006/relationships/image" Target="../media/image37.svg"/><Relationship Id="rId8" Type="http://schemas.openxmlformats.org/officeDocument/2006/relationships/image" Target="../media/image47.png"/><Relationship Id="rId7" Type="http://schemas.openxmlformats.org/officeDocument/2006/relationships/image" Target="../media/image46.svg"/><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 Id="rId3" Type="http://schemas.openxmlformats.org/officeDocument/2006/relationships/image" Target="../media/image42.svg"/><Relationship Id="rId2" Type="http://schemas.openxmlformats.org/officeDocument/2006/relationships/image" Target="../media/image41.png"/><Relationship Id="rId11" Type="http://schemas.openxmlformats.org/officeDocument/2006/relationships/notesSlide" Target="../notesSlides/notesSlide12.xml"/><Relationship Id="rId10" Type="http://schemas.openxmlformats.org/officeDocument/2006/relationships/slideLayout" Target="../slideLayouts/slideLayout12.xml"/><Relationship Id="rId1" Type="http://schemas.openxmlformats.org/officeDocument/2006/relationships/image" Target="../media/image40.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tags" Target="../tags/tag27.xml"/><Relationship Id="rId1" Type="http://schemas.openxmlformats.org/officeDocument/2006/relationships/tags" Target="../tags/tag2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2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30.xml"/></Relationships>
</file>

<file path=ppt/slides/_rels/slide29.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1" Type="http://schemas.openxmlformats.org/officeDocument/2006/relationships/notesSlide" Target="../notesSlides/notesSlide29.xml"/><Relationship Id="rId10" Type="http://schemas.openxmlformats.org/officeDocument/2006/relationships/slideLayout" Target="../slideLayouts/slideLayout16.xml"/><Relationship Id="rId1" Type="http://schemas.openxmlformats.org/officeDocument/2006/relationships/tags" Target="../tags/tag31.xml"/></Relationships>
</file>

<file path=ppt/slides/_rels/slide30.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image" Target="../media/image48.jpeg"/><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9" Type="http://schemas.openxmlformats.org/officeDocument/2006/relationships/notesSlide" Target="../notesSlides/notesSlide30.xml"/><Relationship Id="rId18" Type="http://schemas.openxmlformats.org/officeDocument/2006/relationships/slideLayout" Target="../slideLayouts/slideLayout12.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image" Target="../media/image25.jpeg"/></Relationships>
</file>

<file path=ppt/slides/_rels/slide31.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image" Target="../media/image51.svg"/><Relationship Id="rId4" Type="http://schemas.openxmlformats.org/officeDocument/2006/relationships/image" Target="../media/image50.png"/><Relationship Id="rId3" Type="http://schemas.openxmlformats.org/officeDocument/2006/relationships/tags" Target="../tags/tag56.xml"/><Relationship Id="rId2" Type="http://schemas.openxmlformats.org/officeDocument/2006/relationships/tags" Target="../tags/tag55.xml"/><Relationship Id="rId17" Type="http://schemas.openxmlformats.org/officeDocument/2006/relationships/notesSlide" Target="../notesSlides/notesSlide31.xml"/><Relationship Id="rId16" Type="http://schemas.openxmlformats.org/officeDocument/2006/relationships/slideLayout" Target="../slideLayouts/slideLayout12.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image" Target="../media/image53.svg"/><Relationship Id="rId11" Type="http://schemas.openxmlformats.org/officeDocument/2006/relationships/image" Target="../media/image52.png"/><Relationship Id="rId10" Type="http://schemas.openxmlformats.org/officeDocument/2006/relationships/tags" Target="../tags/tag61.xml"/><Relationship Id="rId1" Type="http://schemas.openxmlformats.org/officeDocument/2006/relationships/image" Target="../media/image49.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image" Target="../media/image54.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10.svg"/><Relationship Id="rId7" Type="http://schemas.openxmlformats.org/officeDocument/2006/relationships/image" Target="../media/image58.png"/><Relationship Id="rId6" Type="http://schemas.openxmlformats.org/officeDocument/2006/relationships/image" Target="../media/image4.svg"/><Relationship Id="rId5" Type="http://schemas.openxmlformats.org/officeDocument/2006/relationships/image" Target="../media/image57.png"/><Relationship Id="rId4" Type="http://schemas.openxmlformats.org/officeDocument/2006/relationships/image" Target="../media/image56.svg"/><Relationship Id="rId3" Type="http://schemas.openxmlformats.org/officeDocument/2006/relationships/image" Target="../media/image55.png"/><Relationship Id="rId2" Type="http://schemas.openxmlformats.org/officeDocument/2006/relationships/image" Target="../media/image12.svg"/><Relationship Id="rId11" Type="http://schemas.openxmlformats.org/officeDocument/2006/relationships/notesSlide" Target="../notesSlides/notesSlide35.xml"/><Relationship Id="rId10" Type="http://schemas.openxmlformats.org/officeDocument/2006/relationships/slideLayout" Target="../slideLayouts/slideLayout12.xml"/><Relationship Id="rId1" Type="http://schemas.openxmlformats.org/officeDocument/2006/relationships/image" Target="../media/image31.png"/></Relationships>
</file>

<file path=ppt/slides/_rels/slide36.xml.rels><?xml version="1.0" encoding="UTF-8" standalone="yes"?>
<Relationships xmlns="http://schemas.openxmlformats.org/package/2006/relationships"><Relationship Id="rId9" Type="http://schemas.openxmlformats.org/officeDocument/2006/relationships/image" Target="../media/image35.svg"/><Relationship Id="rId8" Type="http://schemas.openxmlformats.org/officeDocument/2006/relationships/image" Target="../media/image67.png"/><Relationship Id="rId7" Type="http://schemas.openxmlformats.org/officeDocument/2006/relationships/image" Target="../media/image66.svg"/><Relationship Id="rId6" Type="http://schemas.openxmlformats.org/officeDocument/2006/relationships/image" Target="../media/image65.png"/><Relationship Id="rId5" Type="http://schemas.openxmlformats.org/officeDocument/2006/relationships/image" Target="../media/image64.jpeg"/><Relationship Id="rId4" Type="http://schemas.openxmlformats.org/officeDocument/2006/relationships/image" Target="../media/image63.svg"/><Relationship Id="rId3" Type="http://schemas.openxmlformats.org/officeDocument/2006/relationships/image" Target="../media/image62.png"/><Relationship Id="rId2" Type="http://schemas.openxmlformats.org/officeDocument/2006/relationships/image" Target="../media/image61.svg"/><Relationship Id="rId13" Type="http://schemas.openxmlformats.org/officeDocument/2006/relationships/notesSlide" Target="../notesSlides/notesSlide36.xml"/><Relationship Id="rId12" Type="http://schemas.openxmlformats.org/officeDocument/2006/relationships/slideLayout" Target="../slideLayouts/slideLayout12.xml"/><Relationship Id="rId11" Type="http://schemas.openxmlformats.org/officeDocument/2006/relationships/image" Target="../media/image4.svg"/><Relationship Id="rId10" Type="http://schemas.openxmlformats.org/officeDocument/2006/relationships/image" Target="../media/image57.png"/><Relationship Id="rId1" Type="http://schemas.openxmlformats.org/officeDocument/2006/relationships/image" Target="../media/image60.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1"/>
          <a:srcRect t="10" b="10"/>
          <a:stretch>
            <a:fillRect/>
          </a:stretch>
        </p:blipFill>
        <p:spPr>
          <a:xfrm>
            <a:off x="8850770" y="546078"/>
            <a:ext cx="3600450" cy="4800600"/>
          </a:xfrm>
          <a:prstGeom prst="rect">
            <a:avLst/>
          </a:prstGeom>
          <a:noFill/>
        </p:spPr>
      </p:pic>
      <p:sp>
        <p:nvSpPr>
          <p:cNvPr id="2" name="AutoShape 2"/>
          <p:cNvSpPr/>
          <p:nvPr/>
        </p:nvSpPr>
        <p:spPr>
          <a:xfrm>
            <a:off x="584861" y="2172598"/>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基于STM32的小车倒立摆控制系统设计</a:t>
            </a:r>
            <a:endParaRPr lang="en-US" sz="1100"/>
          </a:p>
        </p:txBody>
      </p:sp>
      <p:sp>
        <p:nvSpPr>
          <p:cNvPr id="3" name="AutoShape 3"/>
          <p:cNvSpPr/>
          <p:nvPr/>
        </p:nvSpPr>
        <p:spPr>
          <a:xfrm>
            <a:off x="648075" y="3112423"/>
            <a:ext cx="2286000" cy="762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648075" y="4036333"/>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控制工程原理课程设计汇报</a:t>
            </a:r>
            <a:endParaRPr lang="en-US" sz="1100"/>
          </a:p>
        </p:txBody>
      </p:sp>
      <p:cxnSp>
        <p:nvCxnSpPr>
          <p:cNvPr id="5" name="Connector 5"/>
          <p:cNvCxnSpPr/>
          <p:nvPr/>
        </p:nvCxnSpPr>
        <p:spPr>
          <a:xfrm rot="-4092">
            <a:off x="762004" y="5327650"/>
            <a:ext cx="10668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6" name="AutoShape 6"/>
          <p:cNvSpPr/>
          <p:nvPr/>
        </p:nvSpPr>
        <p:spPr>
          <a:xfrm>
            <a:off x="762000" y="5524500"/>
            <a:ext cx="5207000" cy="1016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8" name="AutoShape 8"/>
          <p:cNvSpPr/>
          <p:nvPr/>
        </p:nvSpPr>
        <p:spPr>
          <a:xfrm>
            <a:off x="1524000" y="56515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a:t>
            </a:r>
            <a:r>
              <a:rPr lang="zh-CN" altLang="en-US" sz="1600" b="1" i="0" u="none" strike="noStrike">
                <a:solidFill>
                  <a:srgbClr val="1F2937"/>
                </a:solidFill>
                <a:latin typeface="Noto Sans SC" panose="020B0200000000000000" charset="-122"/>
                <a:ea typeface="Noto Sans SC" panose="020B0200000000000000" charset="-122"/>
                <a:cs typeface="Arial" panose="020B0604020202020204" pitchFamily="34" charset="0"/>
                <a:sym typeface="Noto Sans SC" panose="020B0200000000000000" charset="-122"/>
              </a:rPr>
              <a:t>小组</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第二组</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223000" y="5524500"/>
            <a:ext cx="5207000" cy="1016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11" name="AutoShape 11"/>
          <p:cNvSpPr/>
          <p:nvPr/>
        </p:nvSpPr>
        <p:spPr>
          <a:xfrm>
            <a:off x="6985000" y="56515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日期：2026年6月</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3" name="AutoShape 3"/>
          <p:cNvSpPr/>
          <p:nvPr/>
        </p:nvSpPr>
        <p:spPr>
          <a:xfrm>
            <a:off x="762000" y="1778000"/>
            <a:ext cx="5080000" cy="1524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4" name="AutoShape 4"/>
          <p:cNvSpPr/>
          <p:nvPr/>
        </p:nvSpPr>
        <p:spPr>
          <a:xfrm>
            <a:off x="762000" y="1778000"/>
            <a:ext cx="76200" cy="1524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0795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891B2"/>
                </a:solidFill>
                <a:latin typeface="Lato"/>
                <a:ea typeface="Lato"/>
                <a:cs typeface="Lato"/>
                <a:sym typeface="Lato"/>
              </a:rPr>
              <a:t>01</a:t>
            </a:r>
            <a:endParaRPr lang="en-US" sz="1100"/>
          </a:p>
        </p:txBody>
      </p:sp>
      <p:cxnSp>
        <p:nvCxnSpPr>
          <p:cNvPr id="6" name="Connector 6"/>
          <p:cNvCxnSpPr/>
          <p:nvPr/>
        </p:nvCxnSpPr>
        <p:spPr>
          <a:xfrm rot="5361804">
            <a:off x="1460500" y="2533685"/>
            <a:ext cx="1143000" cy="12700"/>
          </a:xfrm>
          <a:prstGeom prst="straightConnector1">
            <a:avLst/>
          </a:prstGeom>
          <a:solidFill>
            <a:srgbClr val="DEE0E3">
              <a:alpha val="100000"/>
            </a:srgbClr>
          </a:solidFill>
          <a:ln w="12700" cap="flat" cmpd="sng">
            <a:solidFill>
              <a:srgbClr val="0891B2">
                <a:alpha val="40000"/>
              </a:srgbClr>
            </a:solidFill>
            <a:prstDash val="solid"/>
            <a:round/>
            <a:headEnd type="none" w="med" len="med"/>
            <a:tailEnd type="none" w="med" len="med"/>
          </a:ln>
        </p:spPr>
      </p:cxnSp>
      <p:sp>
        <p:nvSpPr>
          <p:cNvPr id="7" name="AutoShape 7"/>
          <p:cNvSpPr/>
          <p:nvPr/>
        </p:nvSpPr>
        <p:spPr>
          <a:xfrm>
            <a:off x="2222500" y="1968500"/>
            <a:ext cx="342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课题意义</a:t>
            </a:r>
            <a:endParaRPr lang="en-US" sz="1100"/>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倒立摆是控制工程领域的经典入门案例，本次课题构建了从理论建模、算法设计到实物实现的完整实践链路，具有重要的教学与工程实践意义。</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3556000"/>
            <a:ext cx="5080000" cy="1524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762000" y="3556000"/>
            <a:ext cx="76200" cy="1524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1079500" y="3746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891B2"/>
                </a:solidFill>
                <a:latin typeface="Lato"/>
                <a:ea typeface="Lato"/>
                <a:cs typeface="Lato"/>
                <a:sym typeface="Lato"/>
              </a:rPr>
              <a:t>02</a:t>
            </a:r>
            <a:endParaRPr lang="en-US" sz="1100"/>
          </a:p>
        </p:txBody>
      </p:sp>
      <p:cxnSp>
        <p:nvCxnSpPr>
          <p:cNvPr id="11" name="Connector 11"/>
          <p:cNvCxnSpPr/>
          <p:nvPr/>
        </p:nvCxnSpPr>
        <p:spPr>
          <a:xfrm rot="5361804">
            <a:off x="1460500" y="4311685"/>
            <a:ext cx="1143000" cy="12700"/>
          </a:xfrm>
          <a:prstGeom prst="straightConnector1">
            <a:avLst/>
          </a:prstGeom>
          <a:solidFill>
            <a:srgbClr val="DEE0E3">
              <a:alpha val="100000"/>
            </a:srgbClr>
          </a:solidFill>
          <a:ln w="12700" cap="flat" cmpd="sng">
            <a:solidFill>
              <a:srgbClr val="0891B2">
                <a:alpha val="40000"/>
              </a:srgbClr>
            </a:solidFill>
            <a:prstDash val="solid"/>
            <a:round/>
            <a:headEnd type="none" w="med" len="med"/>
            <a:tailEnd type="none" w="med" len="med"/>
          </a:ln>
        </p:spPr>
      </p:cxnSp>
      <p:sp>
        <p:nvSpPr>
          <p:cNvPr id="12" name="AutoShape 12"/>
          <p:cNvSpPr/>
          <p:nvPr/>
        </p:nvSpPr>
        <p:spPr>
          <a:xfrm>
            <a:off x="2222500" y="3746500"/>
            <a:ext cx="342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系统总体方案</a:t>
            </a:r>
            <a:endParaRPr lang="en-US" sz="1100"/>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明确系统的核心设计任务与关键性能指标，规划闭环控制系统的总体架构，梳理从传感器采集、数据处理到执行机构驱动的完整工作流程。</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270500"/>
            <a:ext cx="5080000" cy="1270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14" name="AutoShape 14"/>
          <p:cNvSpPr/>
          <p:nvPr/>
        </p:nvSpPr>
        <p:spPr>
          <a:xfrm>
            <a:off x="762000" y="5270500"/>
            <a:ext cx="76200" cy="1270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1079500" y="5461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891B2"/>
                </a:solidFill>
                <a:latin typeface="Lato"/>
                <a:ea typeface="Lato"/>
                <a:cs typeface="Lato"/>
                <a:sym typeface="Lato"/>
              </a:rPr>
              <a:t>03</a:t>
            </a:r>
            <a:endParaRPr lang="en-US" sz="1100"/>
          </a:p>
        </p:txBody>
      </p:sp>
      <p:cxnSp>
        <p:nvCxnSpPr>
          <p:cNvPr id="16" name="Connector 16"/>
          <p:cNvCxnSpPr/>
          <p:nvPr/>
        </p:nvCxnSpPr>
        <p:spPr>
          <a:xfrm rot="5347115">
            <a:off x="1619250" y="5867449"/>
            <a:ext cx="825500" cy="12700"/>
          </a:xfrm>
          <a:prstGeom prst="straightConnector1">
            <a:avLst/>
          </a:prstGeom>
          <a:solidFill>
            <a:srgbClr val="DEE0E3">
              <a:alpha val="100000"/>
            </a:srgbClr>
          </a:solidFill>
          <a:ln w="12700" cap="flat" cmpd="sng">
            <a:solidFill>
              <a:srgbClr val="0891B2">
                <a:alpha val="40000"/>
              </a:srgbClr>
            </a:solidFill>
            <a:prstDash val="solid"/>
            <a:round/>
            <a:headEnd type="none" w="med" len="med"/>
            <a:tailEnd type="none" w="med" len="med"/>
          </a:ln>
        </p:spPr>
      </p:cxnSp>
      <p:sp>
        <p:nvSpPr>
          <p:cNvPr id="17" name="AutoShape 17"/>
          <p:cNvSpPr/>
          <p:nvPr/>
        </p:nvSpPr>
        <p:spPr>
          <a:xfrm>
            <a:off x="2222500" y="54610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硬件系统设计</a:t>
            </a:r>
            <a:endParaRPr lang="en-US" sz="1100"/>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介绍核心控制器、传感器与执行电机的选型分析，确定各模块间的电气连接关系。</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6350000" y="1778000"/>
            <a:ext cx="5080000" cy="1524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19" name="AutoShape 19"/>
          <p:cNvSpPr/>
          <p:nvPr/>
        </p:nvSpPr>
        <p:spPr>
          <a:xfrm>
            <a:off x="6350000" y="1778000"/>
            <a:ext cx="76200" cy="1524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20" name="AutoShape 20"/>
          <p:cNvSpPr/>
          <p:nvPr/>
        </p:nvSpPr>
        <p:spPr>
          <a:xfrm>
            <a:off x="66675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891B2"/>
                </a:solidFill>
                <a:latin typeface="Lato"/>
                <a:ea typeface="Lato"/>
                <a:cs typeface="Lato"/>
                <a:sym typeface="Lato"/>
              </a:rPr>
              <a:t>04</a:t>
            </a:r>
            <a:endParaRPr lang="en-US" sz="1100"/>
          </a:p>
        </p:txBody>
      </p:sp>
      <p:cxnSp>
        <p:nvCxnSpPr>
          <p:cNvPr id="21" name="Connector 21"/>
          <p:cNvCxnSpPr/>
          <p:nvPr/>
        </p:nvCxnSpPr>
        <p:spPr>
          <a:xfrm rot="5361804">
            <a:off x="7048500" y="2533685"/>
            <a:ext cx="1143000" cy="12700"/>
          </a:xfrm>
          <a:prstGeom prst="straightConnector1">
            <a:avLst/>
          </a:prstGeom>
          <a:solidFill>
            <a:srgbClr val="DEE0E3">
              <a:alpha val="100000"/>
            </a:srgbClr>
          </a:solidFill>
          <a:ln w="12700" cap="flat" cmpd="sng">
            <a:solidFill>
              <a:srgbClr val="0891B2">
                <a:alpha val="40000"/>
              </a:srgbClr>
            </a:solidFill>
            <a:prstDash val="solid"/>
            <a:round/>
            <a:headEnd type="none" w="med" len="med"/>
            <a:tailEnd type="none" w="med" len="med"/>
          </a:ln>
        </p:spPr>
      </p:cxnSp>
      <p:sp>
        <p:nvSpPr>
          <p:cNvPr id="22" name="AutoShape 22"/>
          <p:cNvSpPr/>
          <p:nvPr/>
        </p:nvSpPr>
        <p:spPr>
          <a:xfrm>
            <a:off x="7900735" y="1968552"/>
            <a:ext cx="342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软件系统设计</a:t>
            </a:r>
            <a:endParaRPr lang="en-US" sz="1100"/>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分为小车PWM控制、传感器ADC采集和PID控制算法三块，讲解倒立摆控制的原理与实现步骤。</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6350000" y="3556000"/>
            <a:ext cx="5080000" cy="1524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24" name="AutoShape 24"/>
          <p:cNvSpPr/>
          <p:nvPr/>
        </p:nvSpPr>
        <p:spPr>
          <a:xfrm>
            <a:off x="6350000" y="3556000"/>
            <a:ext cx="76200" cy="1524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25" name="AutoShape 25"/>
          <p:cNvSpPr/>
          <p:nvPr/>
        </p:nvSpPr>
        <p:spPr>
          <a:xfrm>
            <a:off x="6667500" y="3746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891B2"/>
                </a:solidFill>
                <a:latin typeface="Lato"/>
                <a:ea typeface="Lato"/>
                <a:cs typeface="Lato"/>
                <a:sym typeface="Lato"/>
              </a:rPr>
              <a:t>05</a:t>
            </a:r>
            <a:endParaRPr lang="en-US" sz="1100"/>
          </a:p>
        </p:txBody>
      </p:sp>
      <p:cxnSp>
        <p:nvCxnSpPr>
          <p:cNvPr id="26" name="Connector 26"/>
          <p:cNvCxnSpPr/>
          <p:nvPr/>
        </p:nvCxnSpPr>
        <p:spPr>
          <a:xfrm rot="5361804">
            <a:off x="7048500" y="4311685"/>
            <a:ext cx="1143000" cy="12700"/>
          </a:xfrm>
          <a:prstGeom prst="straightConnector1">
            <a:avLst/>
          </a:prstGeom>
          <a:solidFill>
            <a:srgbClr val="DEE0E3">
              <a:alpha val="100000"/>
            </a:srgbClr>
          </a:solidFill>
          <a:ln w="12700" cap="flat" cmpd="sng">
            <a:solidFill>
              <a:srgbClr val="0891B2">
                <a:alpha val="40000"/>
              </a:srgbClr>
            </a:solidFill>
            <a:prstDash val="solid"/>
            <a:round/>
            <a:headEnd type="none" w="med" len="med"/>
            <a:tailEnd type="none" w="med" len="med"/>
          </a:ln>
        </p:spPr>
      </p:cxnSp>
      <p:sp>
        <p:nvSpPr>
          <p:cNvPr id="27" name="AutoShape 27"/>
          <p:cNvSpPr/>
          <p:nvPr/>
        </p:nvSpPr>
        <p:spPr>
          <a:xfrm>
            <a:off x="7810500" y="3746500"/>
            <a:ext cx="342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实验调试与结果分析</a:t>
            </a:r>
            <a:endParaRPr lang="en-US" sz="1100"/>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开展系统联调实验，记录并分析实验数据，针对调试中出现的振荡、稳态误差等典型问题，提出针对性的解决方法与参数优化策略。</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6350000" y="5270500"/>
            <a:ext cx="5080000" cy="1270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29" name="AutoShape 29"/>
          <p:cNvSpPr/>
          <p:nvPr/>
        </p:nvSpPr>
        <p:spPr>
          <a:xfrm>
            <a:off x="6350000" y="5270500"/>
            <a:ext cx="76200" cy="1270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nvSpPr>
        <p:spPr>
          <a:xfrm>
            <a:off x="6667500" y="5461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891B2"/>
                </a:solidFill>
                <a:latin typeface="Lato"/>
                <a:ea typeface="Lato"/>
                <a:cs typeface="Lato"/>
                <a:sym typeface="Lato"/>
              </a:rPr>
              <a:t>06</a:t>
            </a:r>
            <a:endParaRPr lang="en-US" sz="1100"/>
          </a:p>
        </p:txBody>
      </p:sp>
      <p:cxnSp>
        <p:nvCxnSpPr>
          <p:cNvPr id="31" name="Connector 31"/>
          <p:cNvCxnSpPr/>
          <p:nvPr/>
        </p:nvCxnSpPr>
        <p:spPr>
          <a:xfrm rot="5347115">
            <a:off x="7207250" y="5867449"/>
            <a:ext cx="825500" cy="12700"/>
          </a:xfrm>
          <a:prstGeom prst="straightConnector1">
            <a:avLst/>
          </a:prstGeom>
          <a:solidFill>
            <a:srgbClr val="DEE0E3">
              <a:alpha val="100000"/>
            </a:srgbClr>
          </a:solidFill>
          <a:ln w="12700" cap="flat" cmpd="sng">
            <a:solidFill>
              <a:srgbClr val="0891B2">
                <a:alpha val="40000"/>
              </a:srgbClr>
            </a:solidFill>
            <a:prstDash val="solid"/>
            <a:round/>
            <a:headEnd type="none" w="med" len="med"/>
            <a:tailEnd type="none" w="med" len="med"/>
          </a:ln>
        </p:spPr>
      </p:cxnSp>
      <p:sp>
        <p:nvSpPr>
          <p:cNvPr id="32" name="AutoShape 32"/>
          <p:cNvSpPr/>
          <p:nvPr/>
        </p:nvSpPr>
        <p:spPr>
          <a:xfrm>
            <a:off x="7810500" y="54610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总结项目的核心研究成果与实践收获，客观分析当前系统存在的不足，并对后续的算法优化、功能扩展等改进方向进行规划与展望。</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01 课题意义</a:t>
            </a:r>
            <a:endParaRPr lang="en-US" sz="1100"/>
          </a:p>
        </p:txBody>
      </p:sp>
      <p:pic>
        <p:nvPicPr>
          <p:cNvPr id="4" name="Picture 4"/>
          <p:cNvPicPr>
            <a:picLocks noChangeAspect="1"/>
          </p:cNvPicPr>
          <p:nvPr/>
        </p:nvPicPr>
        <p:blipFill>
          <a:blip r:embed="rId1"/>
          <a:srcRect t="10323" b="10323"/>
          <a:stretch>
            <a:fillRect/>
          </a:stretch>
        </p:blipFill>
        <p:spPr>
          <a:xfrm>
            <a:off x="762000" y="1778000"/>
            <a:ext cx="4318000" cy="3302000"/>
          </a:xfrm>
          <a:prstGeom prst="rect">
            <a:avLst/>
          </a:prstGeom>
          <a:noFill/>
          <a:ln w="25400" cap="flat" cmpd="sng">
            <a:noFill/>
            <a:prstDash val="solid"/>
            <a:round/>
          </a:ln>
        </p:spPr>
      </p:pic>
      <p:sp>
        <p:nvSpPr>
          <p:cNvPr id="5" name="AutoShape 5"/>
          <p:cNvSpPr/>
          <p:nvPr/>
        </p:nvSpPr>
        <p:spPr>
          <a:xfrm>
            <a:off x="762000" y="52705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图1：经典一阶倒立摆系统受力分析模型。该模型直观呈现了小车与摆杆的动力学耦合关系，是理解控制系统稳定性与反馈机制的基础载体。</a:t>
            </a:r>
            <a:endParaRPr lang="en-US" sz="1100"/>
          </a:p>
        </p:txBody>
      </p:sp>
      <p:cxnSp>
        <p:nvCxnSpPr>
          <p:cNvPr id="6" name="Connector 6"/>
          <p:cNvCxnSpPr/>
          <p:nvPr/>
        </p:nvCxnSpPr>
        <p:spPr>
          <a:xfrm rot="5389889">
            <a:off x="3429000" y="3930659"/>
            <a:ext cx="4318000" cy="12700"/>
          </a:xfrm>
          <a:prstGeom prst="straightConnector1">
            <a:avLst/>
          </a:prstGeom>
          <a:solidFill>
            <a:srgbClr val="DEE0E3">
              <a:alpha val="100000"/>
            </a:srgbClr>
          </a:solidFill>
          <a:ln w="12700" cap="flat" cmpd="sng">
            <a:solidFill>
              <a:srgbClr val="0891B2">
                <a:alpha val="30000"/>
              </a:srgbClr>
            </a:solidFill>
            <a:prstDash val="solid"/>
            <a:round/>
            <a:headEnd type="none" w="med" len="med"/>
            <a:tailEnd type="none" w="med" len="med"/>
          </a:ln>
        </p:spPr>
      </p:cxnSp>
      <p:sp>
        <p:nvSpPr>
          <p:cNvPr id="7" name="AutoShape 7"/>
          <p:cNvSpPr/>
          <p:nvPr/>
        </p:nvSpPr>
        <p:spPr>
          <a:xfrm>
            <a:off x="5969000" y="1778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倒立摆：控制工程的“Hello World”</a:t>
            </a:r>
            <a:endParaRPr lang="en-US" sz="1100"/>
          </a:p>
        </p:txBody>
      </p:sp>
      <p:sp>
        <p:nvSpPr>
          <p:cNvPr id="8" name="AutoShape 8"/>
          <p:cNvSpPr/>
          <p:nvPr/>
        </p:nvSpPr>
        <p:spPr>
          <a:xfrm>
            <a:off x="5969000" y="2540000"/>
            <a:ext cx="50800" cy="889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6159500" y="2413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理论价值</a:t>
            </a:r>
            <a:endParaRPr lang="en-US" sz="1100"/>
          </a:p>
          <a:p>
            <a:pPr marL="0" indent="0" algn="l">
              <a:lnSpc>
                <a:spcPct val="117000"/>
              </a:lnSpc>
            </a:pPr>
            <a:r>
              <a:rPr lang="zh-CN" altLang="en-US" sz="1300">
                <a:solidFill>
                  <a:srgbClr val="6B7280"/>
                </a:solidFill>
                <a:latin typeface="Noto Sans SC" panose="020B0200000000000000" charset="-122"/>
                <a:ea typeface="Noto Sans SC" panose="020B0200000000000000" charset="-122"/>
                <a:cs typeface="Noto Sans SC" panose="020B0200000000000000" charset="-122"/>
              </a:rPr>
              <a:t>小车倒立摆为经典开环不稳定欠驱动系统，直观验证负反馈、</a:t>
            </a:r>
            <a:r>
              <a:rPr lang="en-US" altLang="zh-CN" sz="1300">
                <a:solidFill>
                  <a:srgbClr val="6B7280"/>
                </a:solidFill>
                <a:latin typeface="Noto Sans SC" panose="020B0200000000000000" charset="-122"/>
                <a:ea typeface="Noto Sans SC" panose="020B0200000000000000" charset="-122"/>
                <a:cs typeface="Noto Sans SC" panose="020B0200000000000000" charset="-122"/>
              </a:rPr>
              <a:t>PD </a:t>
            </a:r>
            <a:r>
              <a:rPr lang="zh-CN" altLang="en-US" sz="1300">
                <a:solidFill>
                  <a:srgbClr val="6B7280"/>
                </a:solidFill>
                <a:latin typeface="Noto Sans SC" panose="020B0200000000000000" charset="-122"/>
                <a:ea typeface="Noto Sans SC" panose="020B0200000000000000" charset="-122"/>
                <a:cs typeface="Noto Sans SC" panose="020B0200000000000000" charset="-122"/>
              </a:rPr>
              <a:t>阻尼、稳态误差等控制理论，是经典控制算法实物验证平台。</a:t>
            </a:r>
            <a:endParaRPr lang="zh-CN" altLang="en-US" sz="13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5969000" y="3873500"/>
            <a:ext cx="50800" cy="889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6223000" y="38481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zh-CN" altLang="en-US" sz="16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工程实践意义：</a:t>
            </a:r>
            <a:endParaRPr lang="zh-CN" altLang="en-US" sz="16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完整完成传感器采集校准、2</a:t>
            </a:r>
            <a:r>
              <a:rPr lang="en-US" altLang="zh-CN"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ms </a:t>
            </a:r>
            <a:r>
              <a:rPr lang="zh-CN" alt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高实时中断闭环、双环分层控制开发；学会处理噪声、零点漂移、电机滞后等真实工况干扰，建立标准化嵌入式控制系统开发与故障校正思维。</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5969000" y="5270500"/>
            <a:ext cx="5334000" cy="1143000"/>
          </a:xfrm>
          <a:prstGeom prst="roundRect">
            <a:avLst>
              <a:gd name="adj" fmla="val 0"/>
            </a:avLst>
          </a:prstGeom>
          <a:solidFill>
            <a:srgbClr val="0891B2">
              <a:alpha val="8000"/>
            </a:srgbClr>
          </a:solidFill>
          <a:ln w="25400" cap="flat" cmpd="sng">
            <a:no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59500" y="5461000"/>
            <a:ext cx="304800" cy="304800"/>
          </a:xfrm>
          <a:prstGeom prst="rect">
            <a:avLst/>
          </a:prstGeom>
        </p:spPr>
      </p:pic>
      <p:sp>
        <p:nvSpPr>
          <p:cNvPr id="14" name="AutoShape 14"/>
          <p:cNvSpPr/>
          <p:nvPr/>
        </p:nvSpPr>
        <p:spPr>
          <a:xfrm>
            <a:off x="6604000" y="5397500"/>
            <a:ext cx="4508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课题核心意义：构建“理论-硬件-软件”的完整闭环</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本项目通过四轮小车与模拟传感器的结合，旨在系统性训练硬件集成、实时数据处理、嵌入式架构设计及控制器参数整定的综合工程能力。</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9083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系统总体方案</a:t>
            </a:r>
            <a:endParaRPr lang="en-US" sz="1100"/>
          </a:p>
        </p:txBody>
      </p:sp>
      <p:sp>
        <p:nvSpPr>
          <p:cNvPr id="4" name="AutoShape 4"/>
          <p:cNvSpPr/>
          <p:nvPr/>
        </p:nvSpPr>
        <p:spPr>
          <a:xfrm>
            <a:off x="762000" y="1397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▍系统总体架构：闭环控制核心组成</a:t>
            </a:r>
            <a:endParaRPr lang="en-US" sz="1100"/>
          </a:p>
        </p:txBody>
      </p:sp>
      <p:sp>
        <p:nvSpPr>
          <p:cNvPr id="5" name="AutoShape 5"/>
          <p:cNvSpPr/>
          <p:nvPr/>
        </p:nvSpPr>
        <p:spPr>
          <a:xfrm>
            <a:off x="762000" y="2159000"/>
            <a:ext cx="2603500" cy="1143000"/>
          </a:xfrm>
          <a:prstGeom prst="roundRect">
            <a:avLst>
              <a:gd name="adj" fmla="val 0"/>
            </a:avLst>
          </a:prstGeom>
          <a:solidFill>
            <a:srgbClr val="FFFFFF">
              <a:alpha val="100000"/>
            </a:srgbClr>
          </a:solidFill>
          <a:ln w="12700" cap="flat" cmpd="sng">
            <a:solidFill>
              <a:srgbClr val="0891B2">
                <a:alpha val="80000"/>
              </a:srgbClr>
            </a:solid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2286000"/>
            <a:ext cx="355600" cy="355600"/>
          </a:xfrm>
          <a:prstGeom prst="rect">
            <a:avLst/>
          </a:prstGeom>
        </p:spPr>
      </p:pic>
      <p:sp>
        <p:nvSpPr>
          <p:cNvPr id="7" name="AutoShape 7"/>
          <p:cNvSpPr/>
          <p:nvPr/>
        </p:nvSpPr>
        <p:spPr>
          <a:xfrm>
            <a:off x="1333500" y="2260600"/>
            <a:ext cx="1905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机械平台</a:t>
            </a:r>
            <a:endParaRPr lang="en-US" sz="1500" b="1">
              <a:solidFill>
                <a:srgbClr val="1F2937"/>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pPr>
            <a:r>
              <a:rPr lang="zh-CN" altLang="en-US" sz="1200">
                <a:solidFill>
                  <a:srgbClr val="6B7280"/>
                </a:solidFill>
                <a:latin typeface="Noto Sans SC" panose="020B0200000000000000" charset="-122"/>
                <a:ea typeface="Noto Sans SC" panose="020B0200000000000000" charset="-122"/>
                <a:cs typeface="Noto Sans SC" panose="020B0200000000000000" charset="-122"/>
              </a:rPr>
              <a:t>以四轮小车为运动载体，搭建嵌入式倒立摆自平衡控制系统。</a:t>
            </a:r>
            <a:r>
              <a:rPr lang="en-US" sz="12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492500" y="2159000"/>
            <a:ext cx="2603500" cy="1143000"/>
          </a:xfrm>
          <a:prstGeom prst="roundRect">
            <a:avLst>
              <a:gd name="adj" fmla="val 0"/>
            </a:avLst>
          </a:prstGeom>
          <a:solidFill>
            <a:srgbClr val="FFFFFF">
              <a:alpha val="100000"/>
            </a:srgbClr>
          </a:solidFill>
          <a:ln w="12700" cap="flat" cmpd="sng">
            <a:solidFill>
              <a:srgbClr val="0891B2">
                <a:alpha val="80000"/>
              </a:srgbClr>
            </a:solidFill>
            <a:prstDash val="solid"/>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19500" y="2286000"/>
            <a:ext cx="355600" cy="355600"/>
          </a:xfrm>
          <a:prstGeom prst="rect">
            <a:avLst/>
          </a:prstGeom>
        </p:spPr>
      </p:pic>
      <p:sp>
        <p:nvSpPr>
          <p:cNvPr id="10" name="AutoShape 10"/>
          <p:cNvSpPr/>
          <p:nvPr/>
        </p:nvSpPr>
        <p:spPr>
          <a:xfrm>
            <a:off x="4064000" y="2260600"/>
            <a:ext cx="1905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检测单元</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集成角位移传感器、电机编码器与电池电压采样，实时采集系统状态与环境数据。</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762000" y="3556000"/>
            <a:ext cx="2603500" cy="1143000"/>
          </a:xfrm>
          <a:prstGeom prst="roundRect">
            <a:avLst>
              <a:gd name="adj" fmla="val 0"/>
            </a:avLst>
          </a:prstGeom>
          <a:solidFill>
            <a:srgbClr val="FFFFFF">
              <a:alpha val="100000"/>
            </a:srgbClr>
          </a:solidFill>
          <a:ln w="12700" cap="flat" cmpd="sng">
            <a:solidFill>
              <a:srgbClr val="0891B2">
                <a:alpha val="80000"/>
              </a:srgbClr>
            </a:solidFill>
            <a:prstDash val="solid"/>
            <a:round/>
          </a:ln>
        </p:spPr>
        <p:txBody>
          <a:bodyPr vert="horz" wrap="square" lIns="0" tIns="0" rIns="0" bIns="0" rtlCol="0" anchor="ctr" anchorCtr="0"/>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 y="3683000"/>
            <a:ext cx="355600" cy="355600"/>
          </a:xfrm>
          <a:prstGeom prst="rect">
            <a:avLst/>
          </a:prstGeom>
        </p:spPr>
      </p:pic>
      <p:sp>
        <p:nvSpPr>
          <p:cNvPr id="13" name="AutoShape 13"/>
          <p:cNvSpPr/>
          <p:nvPr/>
        </p:nvSpPr>
        <p:spPr>
          <a:xfrm>
            <a:off x="1333500" y="3657600"/>
            <a:ext cx="1905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控制单元</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以STM32F103单片机为核心，负责数据处理、状态估算及控制算法的实时运算决策。</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3492500" y="3556000"/>
            <a:ext cx="2603500" cy="1143000"/>
          </a:xfrm>
          <a:prstGeom prst="roundRect">
            <a:avLst>
              <a:gd name="adj" fmla="val 0"/>
            </a:avLst>
          </a:prstGeom>
          <a:solidFill>
            <a:srgbClr val="FFFFFF">
              <a:alpha val="100000"/>
            </a:srgbClr>
          </a:solidFill>
          <a:ln w="12700" cap="flat" cmpd="sng">
            <a:solidFill>
              <a:srgbClr val="0891B2">
                <a:alpha val="80000"/>
              </a:srgb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19500" y="3683000"/>
            <a:ext cx="355600" cy="355600"/>
          </a:xfrm>
          <a:prstGeom prst="rect">
            <a:avLst/>
          </a:prstGeom>
        </p:spPr>
      </p:pic>
      <p:sp>
        <p:nvSpPr>
          <p:cNvPr id="16" name="AutoShape 16"/>
          <p:cNvSpPr/>
          <p:nvPr/>
        </p:nvSpPr>
        <p:spPr>
          <a:xfrm>
            <a:off x="4064000" y="3657600"/>
            <a:ext cx="1905000" cy="528353"/>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执行单元</a:t>
            </a:r>
            <a:endParaRPr lang="en-US" sz="1100"/>
          </a:p>
          <a:p>
            <a:pPr marL="0" indent="0" algn="l">
              <a:lnSpc>
                <a:spcPct val="108000"/>
              </a:lnSpc>
            </a:pPr>
            <a:r>
              <a:rPr lang="zh-CN" altLang="en-US" sz="1200">
                <a:solidFill>
                  <a:srgbClr val="6B7280"/>
                </a:solidFill>
                <a:latin typeface="Noto Sans SC" panose="020B0200000000000000" charset="-122"/>
                <a:ea typeface="Noto Sans SC" panose="020B0200000000000000" charset="-122"/>
                <a:cs typeface="Noto Sans SC" panose="020B0200000000000000" charset="-122"/>
              </a:rPr>
              <a:t>四路直流电机及其驱动模块。</a:t>
            </a:r>
            <a:endParaRPr lang="zh-CN" altLang="en-US" sz="12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762000" y="5080000"/>
            <a:ext cx="5334000" cy="1016000"/>
          </a:xfrm>
          <a:prstGeom prst="roundRect">
            <a:avLst>
              <a:gd name="adj" fmla="val 0"/>
            </a:avLst>
          </a:prstGeom>
          <a:solidFill>
            <a:srgbClr val="FFFFFF">
              <a:alpha val="100000"/>
            </a:srgbClr>
          </a:solidFill>
          <a:ln w="12700" cap="flat" cmpd="sng">
            <a:solidFill>
              <a:srgbClr val="0891B2">
                <a:alpha val="80000"/>
              </a:srgbClr>
            </a:solid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9000" y="5207000"/>
            <a:ext cx="406400" cy="406400"/>
          </a:xfrm>
          <a:prstGeom prst="rect">
            <a:avLst/>
          </a:prstGeom>
        </p:spPr>
      </p:pic>
      <p:sp>
        <p:nvSpPr>
          <p:cNvPr id="19" name="AutoShape 19"/>
          <p:cNvSpPr/>
          <p:nvPr/>
        </p:nvSpPr>
        <p:spPr>
          <a:xfrm>
            <a:off x="1460500" y="52070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人机交互单元：</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配置按键、LCD显示屏与串口通信模块，实现系统参数配置、状态实时显示及上位机数据交互，方便用户操作与调试。</a:t>
            </a:r>
            <a:endParaRPr lang="en-US" sz="1100"/>
          </a:p>
        </p:txBody>
      </p:sp>
      <p:cxnSp>
        <p:nvCxnSpPr>
          <p:cNvPr id="20" name="Connector 20"/>
          <p:cNvCxnSpPr/>
          <p:nvPr/>
        </p:nvCxnSpPr>
        <p:spPr>
          <a:xfrm rot="5390953">
            <a:off x="3936992" y="3930667"/>
            <a:ext cx="4826017" cy="12700"/>
          </a:xfrm>
          <a:prstGeom prst="straightConnector1">
            <a:avLst/>
          </a:prstGeom>
          <a:solidFill>
            <a:srgbClr val="DEE0E3">
              <a:alpha val="100000"/>
            </a:srgbClr>
          </a:solidFill>
          <a:ln w="12700" cap="flat" cmpd="sng">
            <a:solidFill>
              <a:srgbClr val="0891B2">
                <a:alpha val="30000"/>
              </a:srgbClr>
            </a:solidFill>
            <a:prstDash val="dash"/>
            <a:round/>
            <a:headEnd type="none" w="med" len="med"/>
            <a:tailEnd type="none" w="med" len="med"/>
          </a:ln>
        </p:spPr>
      </p:cxnSp>
      <p:pic>
        <p:nvPicPr>
          <p:cNvPr id="32" name="图片 31"/>
          <p:cNvPicPr>
            <a:picLocks noChangeAspect="1"/>
          </p:cNvPicPr>
          <p:nvPr/>
        </p:nvPicPr>
        <p:blipFill>
          <a:blip r:embed="rId11"/>
          <a:srcRect t="11910" r="3047" b="10249"/>
          <a:stretch>
            <a:fillRect/>
          </a:stretch>
        </p:blipFill>
        <p:spPr>
          <a:xfrm rot="5400000">
            <a:off x="6635750" y="1863725"/>
            <a:ext cx="4457700" cy="36925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系统总体方案</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0891B2">
                <a:alpha val="40000"/>
              </a:srgbClr>
            </a:solidFill>
            <a:prstDash val="solid"/>
            <a:round/>
            <a:headEnd type="none" w="med" len="med"/>
            <a:tailEnd type="none" w="med" len="med"/>
          </a:ln>
        </p:spPr>
      </p:cxnSp>
      <p:sp>
        <p:nvSpPr>
          <p:cNvPr id="4" name="AutoShape 4"/>
          <p:cNvSpPr/>
          <p:nvPr/>
        </p:nvSpPr>
        <p:spPr>
          <a:xfrm>
            <a:off x="762000" y="1651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01 / 设计任务与核心指标</a:t>
            </a:r>
            <a:endParaRPr lang="en-US" sz="1100"/>
          </a:p>
        </p:txBody>
      </p:sp>
      <p:sp>
        <p:nvSpPr>
          <p:cNvPr id="5" name="AutoShape 5"/>
          <p:cNvSpPr/>
          <p:nvPr/>
        </p:nvSpPr>
        <p:spPr>
          <a:xfrm>
            <a:off x="762000" y="2286000"/>
            <a:ext cx="5207000" cy="12065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705100"/>
            <a:ext cx="355600" cy="355600"/>
          </a:xfrm>
          <a:prstGeom prst="rect">
            <a:avLst/>
          </a:prstGeom>
        </p:spPr>
      </p:pic>
      <p:sp>
        <p:nvSpPr>
          <p:cNvPr id="7" name="AutoShape 7"/>
          <p:cNvSpPr/>
          <p:nvPr/>
        </p:nvSpPr>
        <p:spPr>
          <a:xfrm>
            <a:off x="1460500" y="2413000"/>
            <a:ext cx="438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核心控制任务</a:t>
            </a:r>
            <a:endParaRPr lang="en-US" sz="1100"/>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实现单平面内倒立摆稳定控制，采用人工辅助起摆方式，通过按键完成系统启停与初始调零，确保摆杆从下垂状态平稳起摆至竖直平衡位置。</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3683000"/>
            <a:ext cx="5207000" cy="12065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102100"/>
            <a:ext cx="355600" cy="355600"/>
          </a:xfrm>
          <a:prstGeom prst="rect">
            <a:avLst/>
          </a:prstGeom>
        </p:spPr>
      </p:pic>
      <p:sp>
        <p:nvSpPr>
          <p:cNvPr id="10" name="AutoShape 10"/>
          <p:cNvSpPr/>
          <p:nvPr/>
        </p:nvSpPr>
        <p:spPr>
          <a:xfrm>
            <a:off x="1460500" y="3810000"/>
            <a:ext cx="438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传感与交互架构</a:t>
            </a:r>
            <a:endParaRPr lang="en-US" sz="1100"/>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采用角位移传感器测摆杆倾角、电机编码器测车体运动；通过LCD屏与串口输出实时状态，便于调试；摆杆偏角超阈值时触发硬件级停机保护。</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762000" y="5143500"/>
            <a:ext cx="2514600" cy="1270000"/>
          </a:xfrm>
          <a:prstGeom prst="roundRect">
            <a:avLst>
              <a:gd name="adj" fmla="val 0"/>
            </a:avLst>
          </a:prstGeom>
          <a:solidFill>
            <a:srgbClr val="0891B2">
              <a:alpha val="8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889000" y="5270500"/>
            <a:ext cx="2260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200" b="1" i="0" u="none" strike="noStrike">
                <a:solidFill>
                  <a:srgbClr val="0891B2"/>
                </a:solidFill>
                <a:latin typeface="Lato"/>
                <a:ea typeface="Lato"/>
                <a:cs typeface="Lato"/>
                <a:sym typeface="Lato"/>
              </a:rPr>
              <a:t>2 ms</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系统控制周期 (500 Hz)，保障实时性与响应速度。</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3454400" y="5143500"/>
            <a:ext cx="2514600" cy="1270000"/>
          </a:xfrm>
          <a:prstGeom prst="roundRect">
            <a:avLst>
              <a:gd name="adj" fmla="val 0"/>
            </a:avLst>
          </a:prstGeom>
          <a:solidFill>
            <a:srgbClr val="0891B2">
              <a:alpha val="8000"/>
            </a:srgbClr>
          </a:solidFill>
          <a:ln w="25400" cap="flat" cmpd="sng">
            <a:noFill/>
            <a:prstDash val="solid"/>
            <a:round/>
          </a:ln>
        </p:spPr>
        <p:txBody>
          <a:bodyPr vert="horz" wrap="square" lIns="0" tIns="0" rIns="0" bIns="0" rtlCol="0" anchor="ctr" anchorCtr="0"/>
          <a:lstStyle/>
          <a:p>
            <a:pPr algn="ctr">
              <a:defRPr/>
            </a:pPr>
          </a:p>
        </p:txBody>
      </p:sp>
      <p:sp>
        <p:nvSpPr>
          <p:cNvPr id="14" name="AutoShape 14"/>
          <p:cNvSpPr/>
          <p:nvPr/>
        </p:nvSpPr>
        <p:spPr>
          <a:xfrm>
            <a:off x="3581400" y="5270500"/>
            <a:ext cx="2260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PWM关断</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倾角超安全阈值立即切断输出，构建可靠的硬件防线。</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5" name="Connector 15"/>
          <p:cNvCxnSpPr/>
          <p:nvPr/>
        </p:nvCxnSpPr>
        <p:spPr>
          <a:xfrm rot="5390450">
            <a:off x="4000500" y="4057659"/>
            <a:ext cx="4572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6" name="AutoShape 16"/>
          <p:cNvSpPr/>
          <p:nvPr/>
        </p:nvSpPr>
        <p:spPr>
          <a:xfrm>
            <a:off x="6477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02 / 从理想模型到工程实现的挑战</a:t>
            </a:r>
            <a:endParaRPr lang="en-US" sz="1100"/>
          </a:p>
        </p:txBody>
      </p:sp>
      <p:sp>
        <p:nvSpPr>
          <p:cNvPr id="17" name="AutoShape 17"/>
          <p:cNvSpPr/>
          <p:nvPr/>
        </p:nvSpPr>
        <p:spPr>
          <a:xfrm>
            <a:off x="6477000" y="2286000"/>
            <a:ext cx="2476500" cy="19050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2476500"/>
            <a:ext cx="304800" cy="304800"/>
          </a:xfrm>
          <a:prstGeom prst="rect">
            <a:avLst/>
          </a:prstGeom>
        </p:spPr>
      </p:pic>
      <p:sp>
        <p:nvSpPr>
          <p:cNvPr id="19" name="AutoShape 19"/>
          <p:cNvSpPr/>
          <p:nvPr/>
        </p:nvSpPr>
        <p:spPr>
          <a:xfrm>
            <a:off x="6985000" y="24765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执行机构差异</a:t>
            </a:r>
            <a:endParaRPr lang="en-US" sz="1100"/>
          </a:p>
        </p:txBody>
      </p:sp>
      <p:cxnSp>
        <p:nvCxnSpPr>
          <p:cNvPr id="20" name="Connector 20"/>
          <p:cNvCxnSpPr/>
          <p:nvPr/>
        </p:nvCxnSpPr>
        <p:spPr>
          <a:xfrm rot="-19644">
            <a:off x="6604018" y="2978150"/>
            <a:ext cx="2222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1" name="AutoShape 21"/>
          <p:cNvSpPr/>
          <p:nvPr/>
        </p:nvSpPr>
        <p:spPr>
          <a:xfrm>
            <a:off x="6604000" y="3111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用四轮车体替代理想滑块，引入了更多动力学参数，控制模型更复杂，且车体易发生侧向漂移。</a:t>
            </a:r>
            <a:endParaRPr lang="en-US" sz="1100"/>
          </a:p>
        </p:txBody>
      </p:sp>
      <p:sp>
        <p:nvSpPr>
          <p:cNvPr id="22" name="AutoShape 22"/>
          <p:cNvSpPr/>
          <p:nvPr/>
        </p:nvSpPr>
        <p:spPr>
          <a:xfrm>
            <a:off x="9080500" y="2286000"/>
            <a:ext cx="2476500" cy="19050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pic>
        <p:nvPicPr>
          <p:cNvPr id="23" name="Picture 2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07500" y="2476500"/>
            <a:ext cx="304800" cy="304800"/>
          </a:xfrm>
          <a:prstGeom prst="rect">
            <a:avLst/>
          </a:prstGeom>
        </p:spPr>
      </p:pic>
      <p:sp>
        <p:nvSpPr>
          <p:cNvPr id="24" name="AutoShape 24"/>
          <p:cNvSpPr/>
          <p:nvPr/>
        </p:nvSpPr>
        <p:spPr>
          <a:xfrm>
            <a:off x="9588500" y="24765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传感器精度限制</a:t>
            </a:r>
            <a:endParaRPr lang="en-US" sz="1100"/>
          </a:p>
        </p:txBody>
      </p:sp>
      <p:cxnSp>
        <p:nvCxnSpPr>
          <p:cNvPr id="25" name="Connector 25"/>
          <p:cNvCxnSpPr/>
          <p:nvPr/>
        </p:nvCxnSpPr>
        <p:spPr>
          <a:xfrm rot="-19644">
            <a:off x="9207518" y="2978150"/>
            <a:ext cx="2222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6" name="AutoShape 26"/>
          <p:cNvSpPr/>
          <p:nvPr/>
        </p:nvSpPr>
        <p:spPr>
          <a:xfrm>
            <a:off x="9207500" y="31115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采用模拟角位移传感器而非高精度惯导，角速度需差分估算，信号易受电磁干扰影响控制精度。</a:t>
            </a:r>
            <a:endParaRPr lang="en-US" sz="1100"/>
          </a:p>
        </p:txBody>
      </p:sp>
      <p:sp>
        <p:nvSpPr>
          <p:cNvPr id="27" name="AutoShape 27"/>
          <p:cNvSpPr/>
          <p:nvPr/>
        </p:nvSpPr>
        <p:spPr>
          <a:xfrm>
            <a:off x="6477000" y="4381500"/>
            <a:ext cx="2476500" cy="19050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pic>
        <p:nvPicPr>
          <p:cNvPr id="28" name="Picture 2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4572000"/>
            <a:ext cx="304800" cy="304800"/>
          </a:xfrm>
          <a:prstGeom prst="rect">
            <a:avLst/>
          </a:prstGeom>
        </p:spPr>
      </p:pic>
      <p:sp>
        <p:nvSpPr>
          <p:cNvPr id="29" name="AutoShape 29"/>
          <p:cNvSpPr/>
          <p:nvPr/>
        </p:nvSpPr>
        <p:spPr>
          <a:xfrm>
            <a:off x="6985000" y="45720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运动约束复杂</a:t>
            </a:r>
            <a:endParaRPr lang="en-US" sz="1100"/>
          </a:p>
        </p:txBody>
      </p:sp>
      <p:cxnSp>
        <p:nvCxnSpPr>
          <p:cNvPr id="30" name="Connector 30"/>
          <p:cNvCxnSpPr/>
          <p:nvPr/>
        </p:nvCxnSpPr>
        <p:spPr>
          <a:xfrm rot="-19644">
            <a:off x="6604018" y="5073650"/>
            <a:ext cx="2222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31" name="AutoShape 31"/>
          <p:cNvSpPr/>
          <p:nvPr/>
        </p:nvSpPr>
        <p:spPr>
          <a:xfrm>
            <a:off x="6604000" y="5207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系统存在侧向自由度，无法严格限制在一维直线，需要设计额外的补偿策略以维持稳定运动。</a:t>
            </a:r>
            <a:endParaRPr lang="en-US" sz="1100"/>
          </a:p>
        </p:txBody>
      </p:sp>
      <p:sp>
        <p:nvSpPr>
          <p:cNvPr id="32" name="AutoShape 32"/>
          <p:cNvSpPr/>
          <p:nvPr/>
        </p:nvSpPr>
        <p:spPr>
          <a:xfrm>
            <a:off x="9080500" y="4381500"/>
            <a:ext cx="2476500" cy="19050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pic>
        <p:nvPicPr>
          <p:cNvPr id="33" name="Picture 3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07500" y="4572000"/>
            <a:ext cx="304800" cy="304800"/>
          </a:xfrm>
          <a:prstGeom prst="rect">
            <a:avLst/>
          </a:prstGeom>
        </p:spPr>
      </p:pic>
      <p:sp>
        <p:nvSpPr>
          <p:cNvPr id="34" name="AutoShape 34"/>
          <p:cNvSpPr/>
          <p:nvPr/>
        </p:nvSpPr>
        <p:spPr>
          <a:xfrm>
            <a:off x="9588500" y="45720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非线性干扰显著</a:t>
            </a:r>
            <a:endParaRPr lang="en-US" sz="1100"/>
          </a:p>
        </p:txBody>
      </p:sp>
      <p:cxnSp>
        <p:nvCxnSpPr>
          <p:cNvPr id="35" name="Connector 35"/>
          <p:cNvCxnSpPr/>
          <p:nvPr/>
        </p:nvCxnSpPr>
        <p:spPr>
          <a:xfrm rot="-19644">
            <a:off x="9207518" y="5073650"/>
            <a:ext cx="2222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36" name="AutoShape 36"/>
          <p:cNvSpPr/>
          <p:nvPr/>
        </p:nvSpPr>
        <p:spPr>
          <a:xfrm>
            <a:off x="9207500" y="5207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电机静摩擦、传动死区效应明显，与无摩擦的理想模型偏差大，必须加入死区补偿算法修正。</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Lato"/>
                <a:ea typeface="Lato"/>
                <a:cs typeface="Lato"/>
                <a:sym typeface="Lato"/>
              </a:rPr>
              <a:t>03 </a:t>
            </a: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硬件系统设计</a:t>
            </a:r>
            <a:endParaRPr lang="en-US" sz="1100"/>
          </a:p>
        </p:txBody>
      </p:sp>
      <p:sp>
        <p:nvSpPr>
          <p:cNvPr id="4" name="AutoShape 4"/>
          <p:cNvSpPr/>
          <p:nvPr>
            <p:custDataLst>
              <p:tags r:id="rId2"/>
            </p:custDataLst>
          </p:nvPr>
        </p:nvSpPr>
        <p:spPr>
          <a:xfrm>
            <a:off x="762000" y="1651000"/>
            <a:ext cx="5270500" cy="20955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sp>
        <p:nvSpPr>
          <p:cNvPr id="5" name="AutoShape 5"/>
          <p:cNvSpPr/>
          <p:nvPr>
            <p:custDataLst>
              <p:tags r:id="rId3"/>
            </p:custDataLst>
          </p:nvPr>
        </p:nvSpPr>
        <p:spPr>
          <a:xfrm>
            <a:off x="762000" y="1651000"/>
            <a:ext cx="76200" cy="2095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pic>
        <p:nvPicPr>
          <p:cNvPr id="6" name="Picture 6"/>
          <p:cNvPicPr>
            <a:picLocks noChangeAspect="1"/>
          </p:cNvPicPr>
          <p:nvPr>
            <p:custDataLst>
              <p:tags r:id="rId4"/>
            </p:custDataLst>
          </p:nvPr>
        </p:nvPicPr>
        <p:blipFill>
          <a:blip r:embed="rId5"/>
          <a:srcRect l="3571" r="3571"/>
          <a:stretch>
            <a:fillRect/>
          </a:stretch>
        </p:blipFill>
        <p:spPr>
          <a:xfrm>
            <a:off x="1016000" y="1803400"/>
            <a:ext cx="1651000" cy="1778000"/>
          </a:xfrm>
          <a:prstGeom prst="rect">
            <a:avLst/>
          </a:prstGeom>
          <a:noFill/>
          <a:ln w="25400" cap="flat" cmpd="sng">
            <a:noFill/>
            <a:prstDash val="solid"/>
            <a:round/>
          </a:ln>
        </p:spPr>
      </p:pic>
      <p:sp>
        <p:nvSpPr>
          <p:cNvPr id="7" name="AutoShape 7"/>
          <p:cNvSpPr/>
          <p:nvPr>
            <p:custDataLst>
              <p:tags r:id="rId6"/>
            </p:custDataLst>
          </p:nvPr>
        </p:nvSpPr>
        <p:spPr>
          <a:xfrm>
            <a:off x="2921000" y="1778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主控芯片：</a:t>
            </a:r>
            <a:r>
              <a:rPr lang="en-US" sz="1800" b="1" i="0" u="none" strike="noStrike">
                <a:solidFill>
                  <a:srgbClr val="1F2937"/>
                </a:solidFill>
                <a:latin typeface="微软雅黑" panose="020B0503020204020204" charset="-122"/>
                <a:ea typeface="微软雅黑" panose="020B0503020204020204" charset="-122"/>
                <a:cs typeface="Lato"/>
                <a:sym typeface="Lato"/>
              </a:rPr>
              <a:t>STM32F103RCT6</a:t>
            </a:r>
            <a:endParaRPr lang="en-US" sz="1800" b="1" i="0" u="none" strike="noStrike">
              <a:solidFill>
                <a:srgbClr val="1F2937"/>
              </a:solidFill>
              <a:latin typeface="微软雅黑" panose="020B0503020204020204" charset="-122"/>
              <a:ea typeface="微软雅黑" panose="020B0503020204020204" charset="-122"/>
              <a:cs typeface="Lato"/>
              <a:sym typeface="Lato"/>
            </a:endParaRPr>
          </a:p>
        </p:txBody>
      </p:sp>
      <p:cxnSp>
        <p:nvCxnSpPr>
          <p:cNvPr id="8" name="Connector 8"/>
          <p:cNvCxnSpPr/>
          <p:nvPr>
            <p:custDataLst>
              <p:tags r:id="rId7"/>
            </p:custDataLst>
          </p:nvPr>
        </p:nvCxnSpPr>
        <p:spPr>
          <a:xfrm rot="-14628">
            <a:off x="2921014" y="2279650"/>
            <a:ext cx="2984500" cy="12700"/>
          </a:xfrm>
          <a:prstGeom prst="straightConnector1">
            <a:avLst/>
          </a:prstGeom>
          <a:solidFill>
            <a:srgbClr val="DEE0E3">
              <a:alpha val="100000"/>
            </a:srgbClr>
          </a:solidFill>
          <a:ln w="12700" cap="flat" cmpd="sng">
            <a:solidFill>
              <a:srgbClr val="0891B2">
                <a:alpha val="50000"/>
              </a:srgbClr>
            </a:solidFill>
            <a:prstDash val="dash"/>
            <a:round/>
            <a:headEnd type="none" w="med" len="med"/>
            <a:tailEnd type="none" w="med" len="med"/>
          </a:ln>
        </p:spPr>
      </p:cxnSp>
      <p:sp>
        <p:nvSpPr>
          <p:cNvPr id="9" name="AutoShape 9"/>
          <p:cNvSpPr/>
          <p:nvPr>
            <p:custDataLst>
              <p:tags r:id="rId8"/>
            </p:custDataLst>
          </p:nvPr>
        </p:nvSpPr>
        <p:spPr>
          <a:xfrm>
            <a:off x="2921000" y="2413000"/>
            <a:ext cx="2984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选用72MHz主频的成熟型号，外设资源丰富，集成多路定时器、ADC与GPIO接口，生态完善，能高效支撑项目控制逻辑，兼顾性能与开发效率。</a:t>
            </a:r>
            <a:endParaRPr lang="en-US" sz="1100"/>
          </a:p>
        </p:txBody>
      </p:sp>
      <p:sp>
        <p:nvSpPr>
          <p:cNvPr id="10" name="AutoShape 10"/>
          <p:cNvSpPr/>
          <p:nvPr>
            <p:custDataLst>
              <p:tags r:id="rId9"/>
            </p:custDataLst>
          </p:nvPr>
        </p:nvSpPr>
        <p:spPr>
          <a:xfrm>
            <a:off x="6286500" y="1651000"/>
            <a:ext cx="5270500" cy="20955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sp>
        <p:nvSpPr>
          <p:cNvPr id="11" name="AutoShape 11"/>
          <p:cNvSpPr/>
          <p:nvPr>
            <p:custDataLst>
              <p:tags r:id="rId10"/>
            </p:custDataLst>
          </p:nvPr>
        </p:nvSpPr>
        <p:spPr>
          <a:xfrm>
            <a:off x="6286500" y="1651000"/>
            <a:ext cx="76200" cy="2095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pic>
        <p:nvPicPr>
          <p:cNvPr id="12" name="Picture 12"/>
          <p:cNvPicPr>
            <a:picLocks noChangeAspect="1"/>
          </p:cNvPicPr>
          <p:nvPr>
            <p:custDataLst>
              <p:tags r:id="rId11"/>
            </p:custDataLst>
          </p:nvPr>
        </p:nvPicPr>
        <p:blipFill>
          <a:blip r:embed="rId12"/>
          <a:srcRect l="3571" r="3571"/>
          <a:stretch>
            <a:fillRect/>
          </a:stretch>
        </p:blipFill>
        <p:spPr>
          <a:xfrm>
            <a:off x="6540500" y="1803400"/>
            <a:ext cx="1651000" cy="1778000"/>
          </a:xfrm>
          <a:prstGeom prst="rect">
            <a:avLst/>
          </a:prstGeom>
          <a:noFill/>
          <a:ln w="25400" cap="flat" cmpd="sng">
            <a:noFill/>
            <a:prstDash val="solid"/>
            <a:round/>
          </a:ln>
        </p:spPr>
      </p:pic>
      <p:sp>
        <p:nvSpPr>
          <p:cNvPr id="13" name="AutoShape 13"/>
          <p:cNvSpPr/>
          <p:nvPr>
            <p:custDataLst>
              <p:tags r:id="rId13"/>
            </p:custDataLst>
          </p:nvPr>
        </p:nvSpPr>
        <p:spPr>
          <a:xfrm>
            <a:off x="8445500" y="1778000"/>
            <a:ext cx="29845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小车平台：</a:t>
            </a:r>
            <a:r>
              <a:rPr lang="en-US" sz="1800" b="1" i="0" u="none" strike="noStrike">
                <a:solidFill>
                  <a:srgbClr val="1F2937"/>
                </a:solidFill>
                <a:latin typeface="微软雅黑" panose="020B0503020204020204" charset="-122"/>
                <a:ea typeface="微软雅黑" panose="020B0503020204020204" charset="-122"/>
                <a:cs typeface="Lato"/>
                <a:sym typeface="Lato"/>
              </a:rPr>
              <a:t>WHEELTEC D24A</a:t>
            </a:r>
            <a:endParaRPr lang="en-US" sz="1800" b="1">
              <a:solidFill>
                <a:srgbClr val="1F2937"/>
              </a:solidFill>
              <a:latin typeface="微软雅黑" panose="020B0503020204020204" charset="-122"/>
              <a:ea typeface="微软雅黑" panose="020B0503020204020204" charset="-122"/>
              <a:cs typeface="Lato"/>
            </a:endParaRPr>
          </a:p>
        </p:txBody>
      </p:sp>
      <p:cxnSp>
        <p:nvCxnSpPr>
          <p:cNvPr id="14" name="Connector 14"/>
          <p:cNvCxnSpPr/>
          <p:nvPr>
            <p:custDataLst>
              <p:tags r:id="rId14"/>
            </p:custDataLst>
          </p:nvPr>
        </p:nvCxnSpPr>
        <p:spPr>
          <a:xfrm rot="-14628">
            <a:off x="8445514" y="2279650"/>
            <a:ext cx="2984500" cy="12700"/>
          </a:xfrm>
          <a:prstGeom prst="straightConnector1">
            <a:avLst/>
          </a:prstGeom>
          <a:solidFill>
            <a:srgbClr val="DEE0E3">
              <a:alpha val="100000"/>
            </a:srgbClr>
          </a:solidFill>
          <a:ln w="12700" cap="flat" cmpd="sng">
            <a:solidFill>
              <a:srgbClr val="0891B2">
                <a:alpha val="50000"/>
              </a:srgbClr>
            </a:solidFill>
            <a:prstDash val="dash"/>
            <a:round/>
            <a:headEnd type="none" w="med" len="med"/>
            <a:tailEnd type="none" w="med" len="med"/>
          </a:ln>
        </p:spPr>
      </p:cxnSp>
      <p:sp>
        <p:nvSpPr>
          <p:cNvPr id="15" name="AutoShape 15"/>
          <p:cNvSpPr/>
          <p:nvPr>
            <p:custDataLst>
              <p:tags r:id="rId15"/>
            </p:custDataLst>
          </p:nvPr>
        </p:nvSpPr>
        <p:spPr>
          <a:xfrm>
            <a:off x="8445500" y="2413000"/>
            <a:ext cx="2984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采用高集成度四轮编码器小车底盘，</a:t>
            </a:r>
            <a:r>
              <a:rPr lang="zh-CN" alt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底盘四轮内置霍尔编码器，两相正交方波输出</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，机械结构稳定，安装便捷，可直接用于运动控制实验，减少机械搭建工作量。</a:t>
            </a:r>
            <a:endParaRPr lang="en-US" sz="1100"/>
          </a:p>
        </p:txBody>
      </p:sp>
      <p:sp>
        <p:nvSpPr>
          <p:cNvPr id="16" name="AutoShape 16"/>
          <p:cNvSpPr/>
          <p:nvPr>
            <p:custDataLst>
              <p:tags r:id="rId16"/>
            </p:custDataLst>
          </p:nvPr>
        </p:nvSpPr>
        <p:spPr>
          <a:xfrm>
            <a:off x="762000" y="4064000"/>
            <a:ext cx="5270500" cy="20955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sp>
        <p:nvSpPr>
          <p:cNvPr id="17" name="AutoShape 17"/>
          <p:cNvSpPr/>
          <p:nvPr>
            <p:custDataLst>
              <p:tags r:id="rId17"/>
            </p:custDataLst>
          </p:nvPr>
        </p:nvSpPr>
        <p:spPr>
          <a:xfrm>
            <a:off x="762000" y="4064000"/>
            <a:ext cx="76200" cy="2095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pic>
        <p:nvPicPr>
          <p:cNvPr id="18" name="Picture 18"/>
          <p:cNvPicPr>
            <a:picLocks noChangeAspect="1"/>
          </p:cNvPicPr>
          <p:nvPr>
            <p:custDataLst>
              <p:tags r:id="rId18"/>
            </p:custDataLst>
          </p:nvPr>
        </p:nvPicPr>
        <p:blipFill>
          <a:blip r:embed="rId19"/>
          <a:srcRect l="15178" r="15178"/>
          <a:stretch>
            <a:fillRect/>
          </a:stretch>
        </p:blipFill>
        <p:spPr>
          <a:xfrm>
            <a:off x="1016000" y="4216400"/>
            <a:ext cx="1651000" cy="1778000"/>
          </a:xfrm>
          <a:prstGeom prst="rect">
            <a:avLst/>
          </a:prstGeom>
          <a:noFill/>
          <a:ln w="25400" cap="flat" cmpd="sng">
            <a:noFill/>
            <a:prstDash val="solid"/>
            <a:round/>
          </a:ln>
        </p:spPr>
      </p:pic>
      <p:sp>
        <p:nvSpPr>
          <p:cNvPr id="19" name="AutoShape 19"/>
          <p:cNvSpPr/>
          <p:nvPr>
            <p:custDataLst>
              <p:tags r:id="rId20"/>
            </p:custDataLst>
          </p:nvPr>
        </p:nvSpPr>
        <p:spPr>
          <a:xfrm>
            <a:off x="2921000" y="4191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角位移传感器：</a:t>
            </a:r>
            <a:r>
              <a:rPr lang="en-US" sz="1800" b="1" i="0" u="none" strike="noStrike">
                <a:solidFill>
                  <a:srgbClr val="1F2937"/>
                </a:solidFill>
                <a:latin typeface="微软雅黑" panose="020B0503020204020204" charset="-122"/>
                <a:ea typeface="微软雅黑" panose="020B0503020204020204" charset="-122"/>
                <a:cs typeface="Lato"/>
                <a:sym typeface="Lato"/>
              </a:rPr>
              <a:t>WDD35D4</a:t>
            </a:r>
            <a:endParaRPr lang="en-US" sz="1800" b="1">
              <a:solidFill>
                <a:srgbClr val="1F2937"/>
              </a:solidFill>
              <a:latin typeface="微软雅黑" panose="020B0503020204020204" charset="-122"/>
              <a:ea typeface="微软雅黑" panose="020B0503020204020204" charset="-122"/>
              <a:cs typeface="Lato"/>
            </a:endParaRPr>
          </a:p>
        </p:txBody>
      </p:sp>
      <p:cxnSp>
        <p:nvCxnSpPr>
          <p:cNvPr id="20" name="Connector 20"/>
          <p:cNvCxnSpPr/>
          <p:nvPr>
            <p:custDataLst>
              <p:tags r:id="rId21"/>
            </p:custDataLst>
          </p:nvPr>
        </p:nvCxnSpPr>
        <p:spPr>
          <a:xfrm rot="-14628">
            <a:off x="2921014" y="4692650"/>
            <a:ext cx="2984500" cy="12700"/>
          </a:xfrm>
          <a:prstGeom prst="straightConnector1">
            <a:avLst/>
          </a:prstGeom>
          <a:solidFill>
            <a:srgbClr val="DEE0E3">
              <a:alpha val="100000"/>
            </a:srgbClr>
          </a:solidFill>
          <a:ln w="12700" cap="flat" cmpd="sng">
            <a:solidFill>
              <a:srgbClr val="0891B2">
                <a:alpha val="50000"/>
              </a:srgbClr>
            </a:solidFill>
            <a:prstDash val="dash"/>
            <a:round/>
            <a:headEnd type="none" w="med" len="med"/>
            <a:tailEnd type="none" w="med" len="med"/>
          </a:ln>
        </p:spPr>
      </p:cxnSp>
      <p:sp>
        <p:nvSpPr>
          <p:cNvPr id="21" name="AutoShape 21"/>
          <p:cNvSpPr/>
          <p:nvPr>
            <p:custDataLst>
              <p:tags r:id="rId22"/>
            </p:custDataLst>
          </p:nvPr>
        </p:nvSpPr>
        <p:spPr>
          <a:xfrm>
            <a:off x="2921000" y="4826000"/>
            <a:ext cx="2984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采用导电塑料电位器，输出0-5V模拟电压信号，接口电路简单，</a:t>
            </a:r>
            <a:r>
              <a:rPr lang="zh-CN" alt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电气角度</a:t>
            </a:r>
            <a:r>
              <a:rPr lang="en-US" altLang="zh-CN"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340</a:t>
            </a:r>
            <a:r>
              <a:rPr lang="zh-CN" alt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度</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，物理意义直观，非常适合教学演示与信号采集实验。</a:t>
            </a:r>
            <a:endParaRPr lang="en-US" sz="1100"/>
          </a:p>
        </p:txBody>
      </p:sp>
      <p:sp>
        <p:nvSpPr>
          <p:cNvPr id="22" name="AutoShape 22"/>
          <p:cNvSpPr/>
          <p:nvPr>
            <p:custDataLst>
              <p:tags r:id="rId23"/>
            </p:custDataLst>
          </p:nvPr>
        </p:nvSpPr>
        <p:spPr>
          <a:xfrm>
            <a:off x="6286500" y="4064000"/>
            <a:ext cx="5270500" cy="20955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sp>
        <p:nvSpPr>
          <p:cNvPr id="23" name="AutoShape 23"/>
          <p:cNvSpPr/>
          <p:nvPr>
            <p:custDataLst>
              <p:tags r:id="rId24"/>
            </p:custDataLst>
          </p:nvPr>
        </p:nvSpPr>
        <p:spPr>
          <a:xfrm>
            <a:off x="6286500" y="4064000"/>
            <a:ext cx="76200" cy="2095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pic>
        <p:nvPicPr>
          <p:cNvPr id="24" name="Picture 24"/>
          <p:cNvPicPr>
            <a:picLocks noChangeAspect="1"/>
          </p:cNvPicPr>
          <p:nvPr>
            <p:custDataLst>
              <p:tags r:id="rId25"/>
            </p:custDataLst>
          </p:nvPr>
        </p:nvPicPr>
        <p:blipFill>
          <a:blip r:embed="rId26"/>
          <a:srcRect l="3571" r="3571"/>
          <a:stretch>
            <a:fillRect/>
          </a:stretch>
        </p:blipFill>
        <p:spPr>
          <a:xfrm>
            <a:off x="6540500" y="4216400"/>
            <a:ext cx="1651000" cy="1778000"/>
          </a:xfrm>
          <a:prstGeom prst="rect">
            <a:avLst/>
          </a:prstGeom>
          <a:noFill/>
          <a:ln w="25400" cap="flat" cmpd="sng">
            <a:noFill/>
            <a:prstDash val="solid"/>
            <a:round/>
          </a:ln>
        </p:spPr>
      </p:pic>
      <p:sp>
        <p:nvSpPr>
          <p:cNvPr id="25" name="AutoShape 25"/>
          <p:cNvSpPr/>
          <p:nvPr>
            <p:custDataLst>
              <p:tags r:id="rId27"/>
            </p:custDataLst>
          </p:nvPr>
        </p:nvSpPr>
        <p:spPr>
          <a:xfrm>
            <a:off x="8445500" y="4191000"/>
            <a:ext cx="29845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电机驱动模块：</a:t>
            </a:r>
            <a:r>
              <a:rPr lang="en-US" sz="1800" b="1" i="0" u="none" strike="noStrike">
                <a:solidFill>
                  <a:srgbClr val="1F2937"/>
                </a:solidFill>
                <a:latin typeface="微软雅黑" panose="020B0503020204020204" charset="-122"/>
                <a:ea typeface="微软雅黑" panose="020B0503020204020204" charset="-122"/>
                <a:cs typeface="Lato"/>
                <a:sym typeface="Lato"/>
              </a:rPr>
              <a:t>L298N</a:t>
            </a:r>
            <a:endParaRPr lang="en-US" sz="1800" b="1">
              <a:solidFill>
                <a:srgbClr val="1F2937"/>
              </a:solidFill>
              <a:latin typeface="微软雅黑" panose="020B0503020204020204" charset="-122"/>
              <a:ea typeface="微软雅黑" panose="020B0503020204020204" charset="-122"/>
              <a:cs typeface="Lato"/>
            </a:endParaRPr>
          </a:p>
        </p:txBody>
      </p:sp>
      <p:cxnSp>
        <p:nvCxnSpPr>
          <p:cNvPr id="26" name="Connector 26"/>
          <p:cNvCxnSpPr/>
          <p:nvPr>
            <p:custDataLst>
              <p:tags r:id="rId28"/>
            </p:custDataLst>
          </p:nvPr>
        </p:nvCxnSpPr>
        <p:spPr>
          <a:xfrm rot="-14628">
            <a:off x="8445514" y="4692650"/>
            <a:ext cx="2984500" cy="12700"/>
          </a:xfrm>
          <a:prstGeom prst="straightConnector1">
            <a:avLst/>
          </a:prstGeom>
          <a:solidFill>
            <a:srgbClr val="DEE0E3">
              <a:alpha val="100000"/>
            </a:srgbClr>
          </a:solidFill>
          <a:ln w="12700" cap="flat" cmpd="sng">
            <a:solidFill>
              <a:srgbClr val="0891B2">
                <a:alpha val="50000"/>
              </a:srgbClr>
            </a:solidFill>
            <a:prstDash val="dash"/>
            <a:round/>
            <a:headEnd type="none" w="med" len="med"/>
            <a:tailEnd type="none" w="med" len="med"/>
          </a:ln>
        </p:spPr>
      </p:cxnSp>
      <p:sp>
        <p:nvSpPr>
          <p:cNvPr id="27" name="AutoShape 27"/>
          <p:cNvSpPr/>
          <p:nvPr>
            <p:custDataLst>
              <p:tags r:id="rId29"/>
            </p:custDataLst>
          </p:nvPr>
        </p:nvSpPr>
        <p:spPr>
          <a:xfrm>
            <a:off x="8445500" y="4826000"/>
            <a:ext cx="2984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经典的双全桥驱动芯片方案，可同时驱动两路直流电机，支持PWM调速与正反转控制，电路设计成熟，成本低且可靠性高，满足小车动力驱动需求。</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引脚</a:t>
            </a: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a:t>
            </a:r>
            <a:endParaRPr lang="en-US" sz="1100"/>
          </a:p>
        </p:txBody>
      </p:sp>
      <p:pic>
        <p:nvPicPr>
          <p:cNvPr id="24" name="图片 23" descr="post_object_image_1463396444"/>
          <p:cNvPicPr>
            <a:picLocks noChangeAspect="1"/>
          </p:cNvPicPr>
          <p:nvPr/>
        </p:nvPicPr>
        <p:blipFill>
          <a:blip r:embed="rId1"/>
          <a:stretch>
            <a:fillRect/>
          </a:stretch>
        </p:blipFill>
        <p:spPr>
          <a:xfrm>
            <a:off x="335774" y="1631553"/>
            <a:ext cx="8534400" cy="4657725"/>
          </a:xfrm>
          <a:prstGeom prst="rect">
            <a:avLst/>
          </a:prstGeom>
        </p:spPr>
      </p:pic>
      <p:sp>
        <p:nvSpPr>
          <p:cNvPr id="25" name="文本框 24"/>
          <p:cNvSpPr txBox="1"/>
          <p:nvPr userDrawn="1"/>
        </p:nvSpPr>
        <p:spPr>
          <a:xfrm>
            <a:off x="9176317" y="1631574"/>
            <a:ext cx="2733040" cy="3753485"/>
          </a:xfrm>
          <a:prstGeom prst="rect">
            <a:avLst/>
          </a:prstGeom>
        </p:spPr>
        <p:txBody>
          <a:bodyPr wrap="square" rtlCol="0">
            <a:spAutoFit/>
          </a:bodyPr>
          <a:p>
            <a:pPr marL="171450" indent="-171450">
              <a:buFont typeface="Arial" panose="020B0604020202020204" pitchFamily="34" charset="0"/>
              <a:buChar char="•"/>
            </a:pPr>
            <a:r>
              <a:rPr lang="en-US" altLang="zh-CN" b="1">
                <a:solidFill>
                  <a:srgbClr val="6B7280"/>
                </a:solidFill>
                <a:latin typeface="Noto Sans SC" panose="020B0200000000000000" charset="-122"/>
                <a:ea typeface="Noto Sans SC" panose="020B0200000000000000" charset="-122"/>
                <a:cs typeface="Noto Sans SC" panose="020B0200000000000000" charset="-122"/>
              </a:rPr>
              <a:t>A/B/C </a:t>
            </a:r>
            <a:r>
              <a:rPr lang="zh-CN" altLang="en-US" b="1">
                <a:solidFill>
                  <a:srgbClr val="6B7280"/>
                </a:solidFill>
                <a:latin typeface="Noto Sans SC" panose="020B0200000000000000" charset="-122"/>
                <a:ea typeface="Noto Sans SC" panose="020B0200000000000000" charset="-122"/>
                <a:cs typeface="Noto Sans SC" panose="020B0200000000000000" charset="-122"/>
              </a:rPr>
              <a:t>三路使用 </a:t>
            </a:r>
            <a:r>
              <a:rPr lang="en-US" altLang="zh-CN" b="1">
                <a:solidFill>
                  <a:srgbClr val="6B7280"/>
                </a:solidFill>
                <a:latin typeface="Noto Sans SC" panose="020B0200000000000000" charset="-122"/>
                <a:ea typeface="Noto Sans SC" panose="020B0200000000000000" charset="-122"/>
                <a:cs typeface="Noto Sans SC" panose="020B0200000000000000" charset="-122"/>
              </a:rPr>
              <a:t>STM32 </a:t>
            </a:r>
            <a:r>
              <a:rPr lang="zh-CN" altLang="en-US" b="1">
                <a:solidFill>
                  <a:srgbClr val="6B7280"/>
                </a:solidFill>
                <a:latin typeface="Noto Sans SC" panose="020B0200000000000000" charset="-122"/>
                <a:ea typeface="Noto Sans SC" panose="020B0200000000000000" charset="-122"/>
                <a:cs typeface="Noto Sans SC" panose="020B0200000000000000" charset="-122"/>
              </a:rPr>
              <a:t>定时器内置的正交编码器接硬件自动判向。</a:t>
            </a:r>
            <a:endParaRPr lang="zh-CN" altLang="en-US" b="1">
              <a:solidFill>
                <a:srgbClr val="6B7280"/>
              </a:solidFill>
              <a:latin typeface="Noto Sans SC" panose="020B0200000000000000" charset="-122"/>
              <a:ea typeface="Noto Sans SC" panose="020B0200000000000000" charset="-122"/>
              <a:cs typeface="Noto Sans SC" panose="020B0200000000000000" charset="-122"/>
            </a:endParaRPr>
          </a:p>
          <a:p>
            <a:pPr marL="171450" indent="-171450">
              <a:buFont typeface="Arial" panose="020B0604020202020204" pitchFamily="34" charset="0"/>
              <a:buChar char="•"/>
            </a:pPr>
            <a:endParaRPr lang="en-US" altLang="zh-CN" b="1">
              <a:solidFill>
                <a:srgbClr val="6B7280"/>
              </a:solidFill>
              <a:latin typeface="Noto Sans SC" panose="020B0200000000000000" charset="-122"/>
              <a:ea typeface="Noto Sans SC" panose="020B0200000000000000" charset="-122"/>
              <a:cs typeface="Noto Sans SC" panose="020B0200000000000000" charset="-122"/>
            </a:endParaRPr>
          </a:p>
          <a:p>
            <a:pPr marL="171450" indent="-171450">
              <a:buFont typeface="Arial" panose="020B0604020202020204" pitchFamily="34" charset="0"/>
              <a:buChar char="•"/>
            </a:pPr>
            <a:r>
              <a:rPr lang="en-US" altLang="zh-CN" b="1">
                <a:solidFill>
                  <a:srgbClr val="6B7280"/>
                </a:solidFill>
                <a:latin typeface="Noto Sans SC" panose="020B0200000000000000" charset="-122"/>
                <a:ea typeface="Noto Sans SC" panose="020B0200000000000000" charset="-122"/>
                <a:cs typeface="Noto Sans SC" panose="020B0200000000000000" charset="-122"/>
              </a:rPr>
              <a:t>D </a:t>
            </a:r>
            <a:r>
              <a:rPr lang="zh-CN" altLang="en-US" b="1">
                <a:solidFill>
                  <a:srgbClr val="6B7280"/>
                </a:solidFill>
                <a:latin typeface="Noto Sans SC" panose="020B0200000000000000" charset="-122"/>
                <a:ea typeface="Noto Sans SC" panose="020B0200000000000000" charset="-122"/>
                <a:cs typeface="Noto Sans SC" panose="020B0200000000000000" charset="-122"/>
              </a:rPr>
              <a:t>路因 </a:t>
            </a:r>
            <a:r>
              <a:rPr lang="en-US" altLang="zh-CN" b="1">
                <a:solidFill>
                  <a:srgbClr val="6B7280"/>
                </a:solidFill>
                <a:latin typeface="Noto Sans SC" panose="020B0200000000000000" charset="-122"/>
                <a:ea typeface="Noto Sans SC" panose="020B0200000000000000" charset="-122"/>
                <a:cs typeface="Noto Sans SC" panose="020B0200000000000000" charset="-122"/>
              </a:rPr>
              <a:t>TIM4 </a:t>
            </a:r>
            <a:r>
              <a:rPr lang="zh-CN" altLang="en-US" b="1">
                <a:solidFill>
                  <a:srgbClr val="6B7280"/>
                </a:solidFill>
                <a:latin typeface="Noto Sans SC" panose="020B0200000000000000" charset="-122"/>
                <a:ea typeface="Noto Sans SC" panose="020B0200000000000000" charset="-122"/>
                <a:cs typeface="Noto Sans SC" panose="020B0200000000000000" charset="-122"/>
              </a:rPr>
              <a:t>的 </a:t>
            </a:r>
            <a:r>
              <a:rPr lang="en-US" altLang="zh-CN" b="1">
                <a:solidFill>
                  <a:srgbClr val="6B7280"/>
                </a:solidFill>
                <a:latin typeface="Noto Sans SC" panose="020B0200000000000000" charset="-122"/>
                <a:ea typeface="Noto Sans SC" panose="020B0200000000000000" charset="-122"/>
                <a:cs typeface="Noto Sans SC" panose="020B0200000000000000" charset="-122"/>
              </a:rPr>
              <a:t>PB6/PB7 </a:t>
            </a:r>
            <a:r>
              <a:rPr lang="zh-CN" altLang="en-US" b="1">
                <a:solidFill>
                  <a:srgbClr val="6B7280"/>
                </a:solidFill>
                <a:latin typeface="Noto Sans SC" panose="020B0200000000000000" charset="-122"/>
                <a:ea typeface="Noto Sans SC" panose="020B0200000000000000" charset="-122"/>
                <a:cs typeface="Noto Sans SC" panose="020B0200000000000000" charset="-122"/>
              </a:rPr>
              <a:t>引脚被 </a:t>
            </a:r>
            <a:r>
              <a:rPr lang="en-US" altLang="zh-CN" b="1">
                <a:solidFill>
                  <a:srgbClr val="6B7280"/>
                </a:solidFill>
                <a:latin typeface="Noto Sans SC" panose="020B0200000000000000" charset="-122"/>
                <a:ea typeface="Noto Sans SC" panose="020B0200000000000000" charset="-122"/>
                <a:cs typeface="Noto Sans SC" panose="020B0200000000000000" charset="-122"/>
              </a:rPr>
              <a:t>LCD </a:t>
            </a:r>
            <a:r>
              <a:rPr lang="zh-CN" altLang="en-US" b="1">
                <a:solidFill>
                  <a:srgbClr val="6B7280"/>
                </a:solidFill>
                <a:latin typeface="Noto Sans SC" panose="020B0200000000000000" charset="-122"/>
                <a:ea typeface="Noto Sans SC" panose="020B0200000000000000" charset="-122"/>
                <a:cs typeface="Noto Sans SC" panose="020B0200000000000000" charset="-122"/>
              </a:rPr>
              <a:t>占用，改用软件轮询方式在 </a:t>
            </a:r>
            <a:r>
              <a:rPr lang="en-US" altLang="zh-CN" b="1">
                <a:solidFill>
                  <a:srgbClr val="6B7280"/>
                </a:solidFill>
                <a:latin typeface="Noto Sans SC" panose="020B0200000000000000" charset="-122"/>
                <a:ea typeface="Noto Sans SC" panose="020B0200000000000000" charset="-122"/>
                <a:cs typeface="Noto Sans SC" panose="020B0200000000000000" charset="-122"/>
              </a:rPr>
              <a:t>TIM6 </a:t>
            </a:r>
            <a:r>
              <a:rPr lang="zh-CN" altLang="en-US" b="1">
                <a:solidFill>
                  <a:srgbClr val="6B7280"/>
                </a:solidFill>
                <a:latin typeface="Noto Sans SC" panose="020B0200000000000000" charset="-122"/>
                <a:ea typeface="Noto Sans SC" panose="020B0200000000000000" charset="-122"/>
                <a:cs typeface="Noto Sans SC" panose="020B0200000000000000" charset="-122"/>
              </a:rPr>
              <a:t>中断中按正交查表解码。</a:t>
            </a:r>
            <a:endParaRPr lang="zh-CN" altLang="en-US" b="1">
              <a:solidFill>
                <a:srgbClr val="6B7280"/>
              </a:solidFill>
              <a:latin typeface="Noto Sans SC" panose="020B0200000000000000" charset="-122"/>
              <a:ea typeface="Noto Sans SC" panose="020B0200000000000000" charset="-122"/>
              <a:cs typeface="Noto Sans SC" panose="020B0200000000000000" charset="-122"/>
            </a:endParaRPr>
          </a:p>
          <a:p>
            <a:pPr marL="171450" indent="-171450">
              <a:buFont typeface="Arial" panose="020B0604020202020204" pitchFamily="34" charset="0"/>
              <a:buChar char="•"/>
            </a:pPr>
            <a:endParaRPr lang="zh-CN" altLang="en-US" b="1">
              <a:solidFill>
                <a:srgbClr val="6B7280"/>
              </a:solidFill>
              <a:latin typeface="Noto Sans SC" panose="020B0200000000000000" charset="-122"/>
              <a:ea typeface="Noto Sans SC" panose="020B0200000000000000" charset="-122"/>
              <a:cs typeface="Noto Sans SC" panose="020B0200000000000000" charset="-122"/>
            </a:endParaRPr>
          </a:p>
          <a:p>
            <a:pPr marL="171450" indent="-171450">
              <a:buFont typeface="Arial" panose="020B0604020202020204" pitchFamily="34" charset="0"/>
              <a:buChar char="•"/>
            </a:pPr>
            <a:r>
              <a:rPr lang="zh-CN" altLang="en-US" b="1">
                <a:solidFill>
                  <a:srgbClr val="6B7280"/>
                </a:solidFill>
                <a:latin typeface="Noto Sans SC" panose="020B0200000000000000" charset="-122"/>
                <a:ea typeface="Noto Sans SC" panose="020B0200000000000000" charset="-122"/>
                <a:cs typeface="Noto Sans SC" panose="020B0200000000000000" charset="-122"/>
              </a:rPr>
              <a:t>四个直流减速电机，配套 </a:t>
            </a:r>
            <a:r>
              <a:rPr lang="en-US" altLang="zh-CN" b="1">
                <a:solidFill>
                  <a:srgbClr val="6B7280"/>
                </a:solidFill>
                <a:latin typeface="Noto Sans SC" panose="020B0200000000000000" charset="-122"/>
                <a:ea typeface="Noto Sans SC" panose="020B0200000000000000" charset="-122"/>
                <a:cs typeface="Noto Sans SC" panose="020B0200000000000000" charset="-122"/>
              </a:rPr>
              <a:t>TB6612 </a:t>
            </a:r>
            <a:r>
              <a:rPr lang="zh-CN" altLang="en-US" b="1">
                <a:solidFill>
                  <a:srgbClr val="6B7280"/>
                </a:solidFill>
                <a:latin typeface="Noto Sans SC" panose="020B0200000000000000" charset="-122"/>
                <a:ea typeface="Noto Sans SC" panose="020B0200000000000000" charset="-122"/>
                <a:cs typeface="Noto Sans SC" panose="020B0200000000000000" charset="-122"/>
              </a:rPr>
              <a:t>或同类 </a:t>
            </a:r>
            <a:r>
              <a:rPr lang="en-US" altLang="zh-CN" b="1">
                <a:solidFill>
                  <a:srgbClr val="6B7280"/>
                </a:solidFill>
                <a:latin typeface="Noto Sans SC" panose="020B0200000000000000" charset="-122"/>
                <a:ea typeface="Noto Sans SC" panose="020B0200000000000000" charset="-122"/>
                <a:cs typeface="Noto Sans SC" panose="020B0200000000000000" charset="-122"/>
              </a:rPr>
              <a:t>H </a:t>
            </a:r>
            <a:r>
              <a:rPr lang="zh-CN" altLang="en-US" b="1">
                <a:solidFill>
                  <a:srgbClr val="6B7280"/>
                </a:solidFill>
                <a:latin typeface="Noto Sans SC" panose="020B0200000000000000" charset="-122"/>
                <a:ea typeface="Noto Sans SC" panose="020B0200000000000000" charset="-122"/>
                <a:cs typeface="Noto Sans SC" panose="020B0200000000000000" charset="-122"/>
              </a:rPr>
              <a:t>桥驱动。</a:t>
            </a:r>
            <a:r>
              <a:rPr lang="en-US" altLang="zh-CN" b="1">
                <a:solidFill>
                  <a:srgbClr val="6B7280"/>
                </a:solidFill>
                <a:latin typeface="Noto Sans SC" panose="020B0200000000000000" charset="-122"/>
                <a:ea typeface="Noto Sans SC" panose="020B0200000000000000" charset="-122"/>
                <a:cs typeface="Noto Sans SC" panose="020B0200000000000000" charset="-122"/>
              </a:rPr>
              <a:t>STBY </a:t>
            </a:r>
            <a:r>
              <a:rPr lang="zh-CN" altLang="en-US" b="1">
                <a:solidFill>
                  <a:srgbClr val="6B7280"/>
                </a:solidFill>
                <a:latin typeface="Noto Sans SC" panose="020B0200000000000000" charset="-122"/>
                <a:ea typeface="Noto Sans SC" panose="020B0200000000000000" charset="-122"/>
                <a:cs typeface="Noto Sans SC" panose="020B0200000000000000" charset="-122"/>
              </a:rPr>
              <a:t>引脚接 3.3</a:t>
            </a:r>
            <a:r>
              <a:rPr lang="en-US" altLang="zh-CN" b="1">
                <a:solidFill>
                  <a:srgbClr val="6B7280"/>
                </a:solidFill>
                <a:latin typeface="Noto Sans SC" panose="020B0200000000000000" charset="-122"/>
                <a:ea typeface="Noto Sans SC" panose="020B0200000000000000" charset="-122"/>
                <a:cs typeface="Noto Sans SC" panose="020B0200000000000000" charset="-122"/>
              </a:rPr>
              <a:t>V </a:t>
            </a:r>
            <a:r>
              <a:rPr lang="zh-CN" altLang="en-US" b="1">
                <a:solidFill>
                  <a:srgbClr val="6B7280"/>
                </a:solidFill>
                <a:latin typeface="Noto Sans SC" panose="020B0200000000000000" charset="-122"/>
                <a:ea typeface="Noto Sans SC" panose="020B0200000000000000" charset="-122"/>
                <a:cs typeface="Noto Sans SC" panose="020B0200000000000000" charset="-122"/>
              </a:rPr>
              <a:t>常使能，</a:t>
            </a:r>
            <a:r>
              <a:rPr lang="en-US" altLang="zh-CN" b="1">
                <a:solidFill>
                  <a:srgbClr val="6B7280"/>
                </a:solidFill>
                <a:latin typeface="Noto Sans SC" panose="020B0200000000000000" charset="-122"/>
                <a:ea typeface="Noto Sans SC" panose="020B0200000000000000" charset="-122"/>
                <a:cs typeface="Noto Sans SC" panose="020B0200000000000000" charset="-122"/>
              </a:rPr>
              <a:t>IN1/IN2 </a:t>
            </a:r>
            <a:r>
              <a:rPr lang="zh-CN" altLang="en-US" b="1">
                <a:solidFill>
                  <a:srgbClr val="6B7280"/>
                </a:solidFill>
                <a:latin typeface="Noto Sans SC" panose="020B0200000000000000" charset="-122"/>
                <a:ea typeface="Noto Sans SC" panose="020B0200000000000000" charset="-122"/>
                <a:cs typeface="Noto Sans SC" panose="020B0200000000000000" charset="-122"/>
              </a:rPr>
              <a:t>控制方向，</a:t>
            </a:r>
            <a:r>
              <a:rPr lang="en-US" altLang="zh-CN" b="1">
                <a:solidFill>
                  <a:srgbClr val="6B7280"/>
                </a:solidFill>
                <a:latin typeface="Noto Sans SC" panose="020B0200000000000000" charset="-122"/>
                <a:ea typeface="Noto Sans SC" panose="020B0200000000000000" charset="-122"/>
                <a:cs typeface="Noto Sans SC" panose="020B0200000000000000" charset="-122"/>
              </a:rPr>
              <a:t>PWM </a:t>
            </a:r>
            <a:r>
              <a:rPr lang="zh-CN" altLang="en-US" b="1">
                <a:solidFill>
                  <a:srgbClr val="6B7280"/>
                </a:solidFill>
                <a:latin typeface="Noto Sans SC" panose="020B0200000000000000" charset="-122"/>
                <a:ea typeface="Noto Sans SC" panose="020B0200000000000000" charset="-122"/>
                <a:cs typeface="Noto Sans SC" panose="020B0200000000000000" charset="-122"/>
              </a:rPr>
              <a:t>控制速度</a:t>
            </a:r>
            <a:endParaRPr lang="zh-CN" altLang="en-US" b="1">
              <a:solidFill>
                <a:srgbClr val="6B7280"/>
              </a:solidFill>
              <a:latin typeface="Noto Sans SC" panose="020B0200000000000000" charset="-122"/>
              <a:ea typeface="Noto Sans SC" panose="020B0200000000000000" charset="-122"/>
              <a:cs typeface="Noto Sans SC" panose="020B0200000000000000" charset="-122"/>
            </a:endParaRPr>
          </a:p>
          <a:p>
            <a:pPr marL="171450" indent="-171450">
              <a:buFont typeface="Arial" panose="020B0604020202020204" pitchFamily="34" charset="0"/>
              <a:buChar char="•"/>
            </a:pPr>
            <a:endParaRPr lang="zh-CN" altLang="en-US" b="1">
              <a:solidFill>
                <a:srgbClr val="6B7280"/>
              </a:solidFill>
              <a:latin typeface="Noto Sans SC" panose="020B0200000000000000" charset="-122"/>
              <a:ea typeface="Noto Sans SC" panose="020B0200000000000000" charset="-122"/>
              <a:cs typeface="Noto Sans SC" panose="020B0200000000000000" charset="-122"/>
            </a:endParaRPr>
          </a:p>
          <a:p>
            <a:pPr marL="171450" indent="-171450">
              <a:buFont typeface="Arial" panose="020B0604020202020204" pitchFamily="34" charset="0"/>
              <a:buChar char="•"/>
            </a:pPr>
            <a:r>
              <a:rPr lang="zh-CN" altLang="en-US" b="1">
                <a:solidFill>
                  <a:srgbClr val="6B7280"/>
                </a:solidFill>
                <a:latin typeface="Noto Sans SC" panose="020B0200000000000000" charset="-122"/>
                <a:ea typeface="Noto Sans SC" panose="020B0200000000000000" charset="-122"/>
                <a:cs typeface="Noto Sans SC" panose="020B0200000000000000" charset="-122"/>
              </a:rPr>
              <a:t>只禁用 </a:t>
            </a:r>
            <a:r>
              <a:rPr lang="en-US" altLang="zh-CN" b="1">
                <a:solidFill>
                  <a:srgbClr val="6B7280"/>
                </a:solidFill>
                <a:latin typeface="Noto Sans SC" panose="020B0200000000000000" charset="-122"/>
                <a:ea typeface="Noto Sans SC" panose="020B0200000000000000" charset="-122"/>
                <a:cs typeface="Noto Sans SC" panose="020B0200000000000000" charset="-122"/>
              </a:rPr>
              <a:t>JTAG，</a:t>
            </a:r>
            <a:r>
              <a:rPr lang="zh-CN" altLang="en-US" b="1">
                <a:solidFill>
                  <a:srgbClr val="6B7280"/>
                </a:solidFill>
                <a:latin typeface="Noto Sans SC" panose="020B0200000000000000" charset="-122"/>
                <a:ea typeface="Noto Sans SC" panose="020B0200000000000000" charset="-122"/>
                <a:cs typeface="Noto Sans SC" panose="020B0200000000000000" charset="-122"/>
              </a:rPr>
              <a:t>保留 </a:t>
            </a:r>
            <a:r>
              <a:rPr lang="en-US" altLang="zh-CN" b="1">
                <a:solidFill>
                  <a:srgbClr val="6B7280"/>
                </a:solidFill>
                <a:latin typeface="Noto Sans SC" panose="020B0200000000000000" charset="-122"/>
                <a:ea typeface="Noto Sans SC" panose="020B0200000000000000" charset="-122"/>
                <a:cs typeface="Noto Sans SC" panose="020B0200000000000000" charset="-122"/>
              </a:rPr>
              <a:t>PA13/PA14 </a:t>
            </a:r>
            <a:r>
              <a:rPr lang="zh-CN" altLang="en-US" b="1">
                <a:solidFill>
                  <a:srgbClr val="6B7280"/>
                </a:solidFill>
                <a:latin typeface="Noto Sans SC" panose="020B0200000000000000" charset="-122"/>
                <a:ea typeface="Noto Sans SC" panose="020B0200000000000000" charset="-122"/>
                <a:cs typeface="Noto Sans SC" panose="020B0200000000000000" charset="-122"/>
              </a:rPr>
              <a:t>的 </a:t>
            </a:r>
            <a:r>
              <a:rPr lang="en-US" altLang="zh-CN" b="1">
                <a:solidFill>
                  <a:srgbClr val="6B7280"/>
                </a:solidFill>
                <a:latin typeface="Noto Sans SC" panose="020B0200000000000000" charset="-122"/>
                <a:ea typeface="Noto Sans SC" panose="020B0200000000000000" charset="-122"/>
                <a:cs typeface="Noto Sans SC" panose="020B0200000000000000" charset="-122"/>
              </a:rPr>
              <a:t>SWD</a:t>
            </a:r>
            <a:endParaRPr lang="zh-CN" altLang="en-US" b="1">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26" name="文本框 25"/>
          <p:cNvSpPr txBox="1"/>
          <p:nvPr userDrawn="1"/>
        </p:nvSpPr>
        <p:spPr>
          <a:xfrm>
            <a:off x="9619672" y="872789"/>
            <a:ext cx="2821305" cy="368300"/>
          </a:xfrm>
          <a:prstGeom prst="rect">
            <a:avLst/>
          </a:prstGeom>
        </p:spPr>
        <p:txBody>
          <a:bodyPr wrap="square" rtlCol="0">
            <a:spAutoFit/>
          </a:bodyPr>
          <a:p>
            <a:r>
              <a:rPr lang="zh-CN" altLang="en-US" sz="1800" b="1">
                <a:solidFill>
                  <a:srgbClr val="FF0000"/>
                </a:solidFill>
              </a:rPr>
              <a:t>特别说明！</a:t>
            </a:r>
            <a:endParaRPr lang="zh-CN" altLang="en-US" sz="1800" b="1">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系统总体方案</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0891B2">
                <a:alpha val="40000"/>
              </a:srgbClr>
            </a:solidFill>
            <a:prstDash val="solid"/>
            <a:round/>
            <a:headEnd type="none" w="med" len="med"/>
            <a:tailEnd type="none" w="med" len="med"/>
          </a:ln>
        </p:spPr>
      </p:cxnSp>
      <p:sp>
        <p:nvSpPr>
          <p:cNvPr id="4" name="AutoShape 4"/>
          <p:cNvSpPr/>
          <p:nvPr/>
        </p:nvSpPr>
        <p:spPr>
          <a:xfrm>
            <a:off x="762000" y="1651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设计任务</a:t>
            </a:r>
            <a:r>
              <a:rPr lang="zh-CN" alt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与功能要求</a:t>
            </a:r>
            <a:endParaRPr lang="en-US" sz="1100"/>
          </a:p>
        </p:txBody>
      </p:sp>
      <p:sp>
        <p:nvSpPr>
          <p:cNvPr id="5" name="AutoShape 5"/>
          <p:cNvSpPr/>
          <p:nvPr/>
        </p:nvSpPr>
        <p:spPr>
          <a:xfrm>
            <a:off x="762000" y="2286000"/>
            <a:ext cx="4506306" cy="3894621"/>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286000"/>
            <a:ext cx="355600" cy="355600"/>
          </a:xfrm>
          <a:prstGeom prst="rect">
            <a:avLst/>
          </a:prstGeom>
        </p:spPr>
      </p:pic>
      <p:sp>
        <p:nvSpPr>
          <p:cNvPr id="7" name="AutoShape 7"/>
          <p:cNvSpPr/>
          <p:nvPr/>
        </p:nvSpPr>
        <p:spPr>
          <a:xfrm>
            <a:off x="1427790" y="2941298"/>
            <a:ext cx="3188303" cy="2460728"/>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核心控制任务</a:t>
            </a:r>
            <a:endParaRPr lang="en-US" sz="1800"/>
          </a:p>
          <a:p>
            <a:pPr marL="0" indent="0" algn="l">
              <a:lnSpc>
                <a:spcPct val="117000"/>
              </a:lnSpc>
            </a:pPr>
            <a:r>
              <a:rPr lang="zh-CN" altLang="en-US" sz="1600">
                <a:solidFill>
                  <a:srgbClr val="6B7280"/>
                </a:solidFill>
                <a:latin typeface="Noto Sans SC" panose="020B0200000000000000" charset="-122"/>
                <a:ea typeface="Noto Sans SC" panose="020B0200000000000000" charset="-122"/>
                <a:cs typeface="Noto Sans SC" panose="020B0200000000000000" charset="-122"/>
              </a:rPr>
              <a:t>基于四轮小车实现单平面倒立控制，仅控制前后运动。</a:t>
            </a:r>
            <a:endParaRPr lang="zh-CN" altLang="en-US" sz="1600">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pPr>
            <a:r>
              <a:rPr lang="zh-CN" altLang="en-US" sz="1600">
                <a:solidFill>
                  <a:srgbClr val="6B7280"/>
                </a:solidFill>
                <a:latin typeface="Noto Sans SC" panose="020B0200000000000000" charset="-122"/>
                <a:ea typeface="Noto Sans SC" panose="020B0200000000000000" charset="-122"/>
                <a:cs typeface="Noto Sans SC" panose="020B0200000000000000" charset="-122"/>
              </a:rPr>
              <a:t>人工辅助起摆，无自动起摆功能。</a:t>
            </a:r>
            <a:endParaRPr lang="zh-CN" altLang="en-US" sz="1600">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pPr>
            <a:r>
              <a:rPr lang="zh-CN" altLang="en-US" sz="1600">
                <a:solidFill>
                  <a:srgbClr val="6B7280"/>
                </a:solidFill>
                <a:latin typeface="Noto Sans SC" panose="020B0200000000000000" charset="-122"/>
                <a:ea typeface="Noto Sans SC" panose="020B0200000000000000" charset="-122"/>
                <a:cs typeface="Noto Sans SC" panose="020B0200000000000000" charset="-122"/>
              </a:rPr>
              <a:t>通过角位移传感器测量摆杆倾角。</a:t>
            </a:r>
            <a:endParaRPr lang="zh-CN" altLang="en-US" sz="1600">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pPr>
            <a:r>
              <a:rPr lang="zh-CN" altLang="en-US" sz="1600">
                <a:solidFill>
                  <a:srgbClr val="6B7280"/>
                </a:solidFill>
                <a:latin typeface="Noto Sans SC" panose="020B0200000000000000" charset="-122"/>
                <a:ea typeface="Noto Sans SC" panose="020B0200000000000000" charset="-122"/>
                <a:cs typeface="Noto Sans SC" panose="020B0200000000000000" charset="-122"/>
              </a:rPr>
              <a:t>通过按键（</a:t>
            </a:r>
            <a:r>
              <a:rPr lang="en-US" altLang="zh-CN" sz="1600">
                <a:solidFill>
                  <a:srgbClr val="6B7280"/>
                </a:solidFill>
                <a:latin typeface="Noto Sans SC" panose="020B0200000000000000" charset="-122"/>
                <a:ea typeface="Noto Sans SC" panose="020B0200000000000000" charset="-122"/>
                <a:cs typeface="Noto Sans SC" panose="020B0200000000000000" charset="-122"/>
              </a:rPr>
              <a:t>KEY2）</a:t>
            </a:r>
            <a:r>
              <a:rPr lang="zh-CN" altLang="en-US" sz="1600">
                <a:solidFill>
                  <a:srgbClr val="6B7280"/>
                </a:solidFill>
                <a:latin typeface="Noto Sans SC" panose="020B0200000000000000" charset="-122"/>
                <a:ea typeface="Noto Sans SC" panose="020B0200000000000000" charset="-122"/>
                <a:cs typeface="Noto Sans SC" panose="020B0200000000000000" charset="-122"/>
              </a:rPr>
              <a:t>完成零点标定并启动平衡。</a:t>
            </a:r>
            <a:endParaRPr lang="zh-CN" altLang="en-US" sz="1600">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pPr>
            <a:r>
              <a:rPr lang="zh-CN" altLang="en-US" sz="1600">
                <a:solidFill>
                  <a:srgbClr val="6B7280"/>
                </a:solidFill>
                <a:latin typeface="Noto Sans SC" panose="020B0200000000000000" charset="-122"/>
                <a:ea typeface="Noto Sans SC" panose="020B0200000000000000" charset="-122"/>
                <a:cs typeface="Noto Sans SC" panose="020B0200000000000000" charset="-122"/>
              </a:rPr>
              <a:t>通过编码器采集车轮运动信息，构造速度与位置反馈。</a:t>
            </a:r>
            <a:endParaRPr lang="zh-CN" altLang="en-US" sz="1600">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pPr>
            <a:r>
              <a:rPr lang="zh-CN" altLang="en-US" sz="1600">
                <a:solidFill>
                  <a:srgbClr val="6B7280"/>
                </a:solidFill>
                <a:latin typeface="Noto Sans SC" panose="020B0200000000000000" charset="-122"/>
                <a:ea typeface="Noto Sans SC" panose="020B0200000000000000" charset="-122"/>
                <a:cs typeface="Noto Sans SC" panose="020B0200000000000000" charset="-122"/>
              </a:rPr>
              <a:t>通过 </a:t>
            </a:r>
            <a:r>
              <a:rPr lang="en-US" altLang="zh-CN" sz="1600">
                <a:solidFill>
                  <a:srgbClr val="6B7280"/>
                </a:solidFill>
                <a:latin typeface="Noto Sans SC" panose="020B0200000000000000" charset="-122"/>
                <a:ea typeface="Noto Sans SC" panose="020B0200000000000000" charset="-122"/>
                <a:cs typeface="Noto Sans SC" panose="020B0200000000000000" charset="-122"/>
              </a:rPr>
              <a:t>LCD </a:t>
            </a:r>
            <a:r>
              <a:rPr lang="zh-CN" altLang="en-US" sz="1600">
                <a:solidFill>
                  <a:srgbClr val="6B7280"/>
                </a:solidFill>
                <a:latin typeface="Noto Sans SC" panose="020B0200000000000000" charset="-122"/>
                <a:ea typeface="Noto Sans SC" panose="020B0200000000000000" charset="-122"/>
                <a:cs typeface="Noto Sans SC" panose="020B0200000000000000" charset="-122"/>
              </a:rPr>
              <a:t>和串口显示系统状态，便于调试与汇报。</a:t>
            </a:r>
            <a:endParaRPr lang="zh-CN" altLang="en-US" sz="1600">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pPr>
            <a:r>
              <a:rPr lang="zh-CN" altLang="en-US" sz="1600">
                <a:solidFill>
                  <a:srgbClr val="6B7280"/>
                </a:solidFill>
                <a:latin typeface="Noto Sans SC" panose="020B0200000000000000" charset="-122"/>
                <a:ea typeface="Noto Sans SC" panose="020B0200000000000000" charset="-122"/>
                <a:cs typeface="Noto Sans SC" panose="020B0200000000000000" charset="-122"/>
              </a:rPr>
              <a:t>当摆杆偏角过大时，系统自动停机保护</a:t>
            </a:r>
            <a:r>
              <a:rPr lang="zh-CN" altLang="en-US">
                <a:solidFill>
                  <a:srgbClr val="6B7280"/>
                </a:solidFill>
                <a:latin typeface="Noto Sans SC" panose="020B0200000000000000" charset="-122"/>
                <a:ea typeface="Noto Sans SC" panose="020B0200000000000000" charset="-122"/>
                <a:cs typeface="Noto Sans SC" panose="020B0200000000000000" charset="-122"/>
              </a:rPr>
              <a:t>。</a:t>
            </a:r>
            <a:endParaRPr lang="zh-CN" altLang="en-US">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5" name="Connector 15"/>
          <p:cNvCxnSpPr/>
          <p:nvPr/>
        </p:nvCxnSpPr>
        <p:spPr>
          <a:xfrm rot="5390450">
            <a:off x="4000500" y="4057659"/>
            <a:ext cx="4572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pic>
        <p:nvPicPr>
          <p:cNvPr id="37" name="E657119C-6982-421D-8BA7-E74DEB70A7D9-2"/>
          <p:cNvPicPr>
            <a:picLocks noChangeAspect="1"/>
          </p:cNvPicPr>
          <p:nvPr/>
        </p:nvPicPr>
        <p:blipFill>
          <a:blip r:embed="rId3"/>
          <a:stretch>
            <a:fillRect/>
          </a:stretch>
        </p:blipFill>
        <p:spPr>
          <a:xfrm>
            <a:off x="6273745" y="2032000"/>
            <a:ext cx="5112355" cy="40513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04 软件系统设计：从信号采集到闭环控制</a:t>
            </a:r>
            <a:endParaRPr lang="en-US" sz="1100"/>
          </a:p>
        </p:txBody>
      </p:sp>
      <p:sp>
        <p:nvSpPr>
          <p:cNvPr id="3" name="AutoShape 3"/>
          <p:cNvSpPr/>
          <p:nvPr/>
        </p:nvSpPr>
        <p:spPr>
          <a:xfrm>
            <a:off x="762000" y="1472797"/>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a:t>
            </a:r>
            <a:r>
              <a:rPr lang="zh-CN" altLang="en-US" sz="2000" b="1">
                <a:solidFill>
                  <a:srgbClr val="0891B2"/>
                </a:solidFill>
                <a:latin typeface="Noto Sans SC" panose="020B0200000000000000" charset="-122"/>
                <a:ea typeface="Noto Sans SC" panose="020B0200000000000000" charset="-122"/>
                <a:cs typeface="Arial" panose="020B0604020202020204" pitchFamily="34" charset="0"/>
                <a:sym typeface="Noto Sans SC" panose="020B0200000000000000" charset="-122"/>
              </a:rPr>
              <a:t>思路</a:t>
            </a:r>
            <a:r>
              <a:rPr 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：模块化</a:t>
            </a:r>
            <a:r>
              <a:rPr lang="zh-CN" alt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、分步开发</a:t>
            </a:r>
            <a:endParaRPr lang="en-US" sz="1100"/>
          </a:p>
          <a:p>
            <a:pPr marL="0" indent="0" algn="l">
              <a:lnSpc>
                <a:spcPct val="125000"/>
              </a:lnSpc>
            </a:pPr>
            <a:r>
              <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遵循底层感知→校准修正→执行输出→算法闭环的开发顺序，拆分为三大独立模块：</a:t>
            </a:r>
            <a:r>
              <a:rPr lang="en-US" altLang="zh-CN"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ADC </a:t>
            </a:r>
            <a:r>
              <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传感器采集模块、</a:t>
            </a:r>
            <a:r>
              <a:rPr lang="en-US" altLang="zh-CN"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PWM </a:t>
            </a:r>
            <a:r>
              <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电机驱动模块、</a:t>
            </a:r>
            <a:r>
              <a:rPr lang="en-US" altLang="zh-CN"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PID </a:t>
            </a:r>
            <a:r>
              <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平衡控制模块</a:t>
            </a:r>
            <a:endParaRPr 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762000" y="3316388"/>
            <a:ext cx="10578767" cy="206881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实现步骤：</a:t>
            </a:r>
            <a:endParaRPr lang="en-US" sz="2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81000" indent="0" algn="l">
              <a:lnSpc>
                <a:spcPct val="150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第一步 </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81000" indent="0" algn="l">
              <a:lnSpc>
                <a:spcPct val="150000"/>
              </a:lnSpc>
            </a:pPr>
            <a:r>
              <a:rPr lang="en-US" altLang="zh-CN"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ADC </a:t>
            </a: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信号采集开发：完成 </a:t>
            </a:r>
            <a:r>
              <a:rPr lang="en-US" altLang="zh-CN"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ADC </a:t>
            </a: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外设初始化，实现 </a:t>
            </a:r>
            <a:r>
              <a:rPr lang="en-US" altLang="zh-CN"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WDD35D4 </a:t>
            </a: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模拟电压数字化读取</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81000" indent="0" algn="l">
              <a:lnSpc>
                <a:spcPct val="150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第二步 </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81000" indent="0" algn="l">
              <a:lnSpc>
                <a:spcPct val="150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零点标定：建立系统的平衡基准点。</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81000" indent="0" algn="l">
              <a:lnSpc>
                <a:spcPct val="150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第三步 </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81000" indent="0" algn="l">
              <a:lnSpc>
                <a:spcPct val="150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执行控制 (PWM)：实现对小车电机的开环驱动。</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81000" indent="0" algn="l">
              <a:lnSpc>
                <a:spcPct val="150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第四步 </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81000" indent="0" algn="l">
              <a:lnSpc>
                <a:spcPct val="150000"/>
              </a:lnSpc>
            </a:pPr>
            <a:r>
              <a:rPr lang="en-US" sz="16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闭环控制 (PID)：引入反馈，实现稳定的倒立摆控制。</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04 软件系统设计 (1/3)：传感器ADC与零点标定</a:t>
            </a:r>
            <a:endParaRPr lang="en-US" sz="1100"/>
          </a:p>
        </p:txBody>
      </p:sp>
      <p:sp>
        <p:nvSpPr>
          <p:cNvPr id="5" name="AutoShape 5"/>
          <p:cNvSpPr/>
          <p:nvPr/>
        </p:nvSpPr>
        <p:spPr>
          <a:xfrm>
            <a:off x="762000" y="4826000"/>
            <a:ext cx="3810000" cy="1524000"/>
          </a:xfrm>
          <a:prstGeom prst="roundRect">
            <a:avLst>
              <a:gd name="adj" fmla="val 0"/>
            </a:avLst>
          </a:prstGeom>
          <a:solidFill>
            <a:srgbClr val="0891B2">
              <a:alpha val="8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cxnSp>
        <p:nvCxnSpPr>
          <p:cNvPr id="8" name="Connector 8"/>
          <p:cNvCxnSpPr/>
          <p:nvPr/>
        </p:nvCxnSpPr>
        <p:spPr>
          <a:xfrm rot="-12732">
            <a:off x="952512" y="5480050"/>
            <a:ext cx="3429000" cy="12700"/>
          </a:xfrm>
          <a:prstGeom prst="straightConnector1">
            <a:avLst/>
          </a:prstGeom>
          <a:solidFill>
            <a:srgbClr val="DEE0E3">
              <a:alpha val="100000"/>
            </a:srgbClr>
          </a:solidFill>
          <a:ln w="12700" cap="flat" cmpd="sng">
            <a:solidFill>
              <a:srgbClr val="0891B2">
                <a:alpha val="30000"/>
              </a:srgbClr>
            </a:solidFill>
            <a:prstDash val="dash"/>
            <a:round/>
            <a:headEnd type="none" w="med" len="med"/>
            <a:tailEnd type="none" w="med" len="med"/>
          </a:ln>
        </p:spPr>
      </p:cxnSp>
      <p:cxnSp>
        <p:nvCxnSpPr>
          <p:cNvPr id="10" name="Connector 10"/>
          <p:cNvCxnSpPr/>
          <p:nvPr/>
        </p:nvCxnSpPr>
        <p:spPr>
          <a:xfrm rot="5390708">
            <a:off x="2730500" y="3994159"/>
            <a:ext cx="4699000" cy="12700"/>
          </a:xfrm>
          <a:prstGeom prst="straightConnector1">
            <a:avLst/>
          </a:prstGeom>
          <a:solidFill>
            <a:srgbClr val="DEE0E3">
              <a:alpha val="100000"/>
            </a:srgbClr>
          </a:solidFill>
          <a:ln w="12700" cap="flat" cmpd="sng">
            <a:solidFill>
              <a:srgbClr val="1F2937">
                <a:alpha val="12000"/>
              </a:srgbClr>
            </a:solidFill>
            <a:prstDash val="dash"/>
            <a:round/>
            <a:headEnd type="none" w="med" len="med"/>
            <a:tailEnd type="none" w="med" len="med"/>
          </a:ln>
        </p:spPr>
      </p:cxnSp>
      <p:sp>
        <p:nvSpPr>
          <p:cNvPr id="11" name="AutoShape 11"/>
          <p:cNvSpPr/>
          <p:nvPr/>
        </p:nvSpPr>
        <p:spPr>
          <a:xfrm>
            <a:off x="5334000" y="1651000"/>
            <a:ext cx="6096000" cy="2222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12" name="AutoShape 12"/>
          <p:cNvSpPr/>
          <p:nvPr/>
        </p:nvSpPr>
        <p:spPr>
          <a:xfrm>
            <a:off x="5334000" y="1651000"/>
            <a:ext cx="76200" cy="2222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88000" y="1854200"/>
            <a:ext cx="330200" cy="330200"/>
          </a:xfrm>
          <a:prstGeom prst="rect">
            <a:avLst/>
          </a:prstGeom>
        </p:spPr>
      </p:pic>
      <p:sp>
        <p:nvSpPr>
          <p:cNvPr id="14" name="AutoShape 14"/>
          <p:cNvSpPr/>
          <p:nvPr/>
        </p:nvSpPr>
        <p:spPr>
          <a:xfrm>
            <a:off x="6070600" y="18288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传感器信号采集 (</a:t>
            </a: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双模式 </a:t>
            </a:r>
            <a:r>
              <a:rPr lang="en-US" altLang="zh-CN"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ADC </a:t>
            </a: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采样方案</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cxnSp>
        <p:nvCxnSpPr>
          <p:cNvPr id="15" name="Connector 15"/>
          <p:cNvCxnSpPr/>
          <p:nvPr/>
        </p:nvCxnSpPr>
        <p:spPr>
          <a:xfrm rot="-7813">
            <a:off x="5588007" y="2355850"/>
            <a:ext cx="558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5588000" y="2454213"/>
            <a:ext cx="558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a:solidFill>
                  <a:srgbClr val="6B7280"/>
                </a:solidFill>
                <a:latin typeface="Noto Sans SC" panose="020B0200000000000000" charset="-122"/>
                <a:ea typeface="Noto Sans SC" panose="020B0200000000000000" charset="-122"/>
                <a:cs typeface="Noto Sans SC" panose="020B0200000000000000" charset="-122"/>
              </a:rPr>
              <a:t>①实时单次采样：实时将模拟电压转为数字原始 </a:t>
            </a:r>
            <a:r>
              <a:rPr lang="en-US" altLang="zh-CN">
                <a:solidFill>
                  <a:srgbClr val="6B7280"/>
                </a:solidFill>
                <a:latin typeface="Noto Sans SC" panose="020B0200000000000000" charset="-122"/>
                <a:ea typeface="Noto Sans SC" panose="020B0200000000000000" charset="-122"/>
                <a:cs typeface="Noto Sans SC" panose="020B0200000000000000" charset="-122"/>
              </a:rPr>
              <a:t>AD</a:t>
            </a:r>
            <a:r>
              <a:rPr lang="zh-CN" altLang="en-US">
                <a:solidFill>
                  <a:srgbClr val="6B7280"/>
                </a:solidFill>
                <a:latin typeface="Noto Sans SC" panose="020B0200000000000000" charset="-122"/>
                <a:ea typeface="Noto Sans SC" panose="020B0200000000000000" charset="-122"/>
                <a:cs typeface="Noto Sans SC" panose="020B0200000000000000" charset="-122"/>
              </a:rPr>
              <a:t>值。</a:t>
            </a:r>
            <a:endParaRPr lang="zh-CN" altLang="en-US">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25000"/>
              </a:lnSpc>
              <a:defRPr/>
            </a:pPr>
            <a:r>
              <a:rPr lang="zh-CN" altLang="en-US">
                <a:solidFill>
                  <a:srgbClr val="6B7280"/>
                </a:solidFill>
                <a:latin typeface="Noto Sans SC" panose="020B0200000000000000" charset="-122"/>
                <a:ea typeface="Noto Sans SC" panose="020B0200000000000000" charset="-122"/>
                <a:cs typeface="Noto Sans SC" panose="020B0200000000000000" charset="-122"/>
              </a:rPr>
              <a:t>②均值滤波采样：</a:t>
            </a:r>
            <a:endParaRPr lang="zh-CN" altLang="en-US">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25000"/>
              </a:lnSpc>
              <a:defRPr/>
            </a:pPr>
            <a:r>
              <a:rPr lang="zh-CN" altLang="en-US">
                <a:solidFill>
                  <a:srgbClr val="6B7280"/>
                </a:solidFill>
                <a:latin typeface="Noto Sans SC" panose="020B0200000000000000" charset="-122"/>
                <a:ea typeface="Noto Sans SC" panose="020B0200000000000000" charset="-122"/>
                <a:cs typeface="Noto Sans SC" panose="020B0200000000000000" charset="-122"/>
              </a:rPr>
              <a:t>仅零点标定时启用，循环采集 50 次 </a:t>
            </a:r>
            <a:r>
              <a:rPr lang="en-US" altLang="zh-CN">
                <a:solidFill>
                  <a:srgbClr val="6B7280"/>
                </a:solidFill>
                <a:latin typeface="Noto Sans SC" panose="020B0200000000000000" charset="-122"/>
                <a:ea typeface="Noto Sans SC" panose="020B0200000000000000" charset="-122"/>
                <a:cs typeface="Noto Sans SC" panose="020B0200000000000000" charset="-122"/>
              </a:rPr>
              <a:t>AD </a:t>
            </a:r>
            <a:r>
              <a:rPr lang="zh-CN" altLang="en-US">
                <a:solidFill>
                  <a:srgbClr val="6B7280"/>
                </a:solidFill>
                <a:latin typeface="Noto Sans SC" panose="020B0200000000000000" charset="-122"/>
                <a:ea typeface="Noto Sans SC" panose="020B0200000000000000" charset="-122"/>
                <a:cs typeface="Noto Sans SC" panose="020B0200000000000000" charset="-122"/>
              </a:rPr>
              <a:t>取平均；解决电机 </a:t>
            </a:r>
            <a:r>
              <a:rPr lang="en-US" altLang="zh-CN">
                <a:solidFill>
                  <a:srgbClr val="6B7280"/>
                </a:solidFill>
                <a:latin typeface="Noto Sans SC" panose="020B0200000000000000" charset="-122"/>
                <a:ea typeface="Noto Sans SC" panose="020B0200000000000000" charset="-122"/>
                <a:cs typeface="Noto Sans SC" panose="020B0200000000000000" charset="-122"/>
              </a:rPr>
              <a:t>PWM </a:t>
            </a:r>
            <a:r>
              <a:rPr lang="zh-CN" altLang="en-US">
                <a:solidFill>
                  <a:srgbClr val="6B7280"/>
                </a:solidFill>
                <a:latin typeface="Noto Sans SC" panose="020B0200000000000000" charset="-122"/>
                <a:ea typeface="Noto Sans SC" panose="020B0200000000000000" charset="-122"/>
                <a:cs typeface="Noto Sans SC" panose="020B0200000000000000" charset="-122"/>
              </a:rPr>
              <a:t>高频电磁干扰，抵消随机采样噪声，大幅提升零点基准精度。</a:t>
            </a:r>
            <a:endParaRPr lang="zh-CN" altLang="en-US">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17" name="AutoShape 17"/>
          <p:cNvSpPr/>
          <p:nvPr/>
        </p:nvSpPr>
        <p:spPr>
          <a:xfrm>
            <a:off x="5334000" y="4012706"/>
            <a:ext cx="6096000" cy="2400794"/>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18" name="AutoShape 18"/>
          <p:cNvSpPr/>
          <p:nvPr/>
        </p:nvSpPr>
        <p:spPr>
          <a:xfrm>
            <a:off x="5334000" y="4012706"/>
            <a:ext cx="76255" cy="2337294"/>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pic>
        <p:nvPicPr>
          <p:cNvPr id="19" name="Picture 1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0" y="4305300"/>
            <a:ext cx="330200" cy="330200"/>
          </a:xfrm>
          <a:prstGeom prst="rect">
            <a:avLst/>
          </a:prstGeom>
        </p:spPr>
      </p:pic>
      <p:sp>
        <p:nvSpPr>
          <p:cNvPr id="20" name="AutoShape 20"/>
          <p:cNvSpPr/>
          <p:nvPr/>
        </p:nvSpPr>
        <p:spPr>
          <a:xfrm>
            <a:off x="6070600" y="42799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零点标定与角度量化计算</a:t>
            </a:r>
            <a:endParaRPr lang="en-US" sz="1100"/>
          </a:p>
        </p:txBody>
      </p:sp>
      <p:cxnSp>
        <p:nvCxnSpPr>
          <p:cNvPr id="21" name="Connector 21"/>
          <p:cNvCxnSpPr/>
          <p:nvPr/>
        </p:nvCxnSpPr>
        <p:spPr>
          <a:xfrm rot="-7813">
            <a:off x="5588007" y="4667222"/>
            <a:ext cx="558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2" name="AutoShape 22"/>
          <p:cNvSpPr/>
          <p:nvPr/>
        </p:nvSpPr>
        <p:spPr>
          <a:xfrm>
            <a:off x="5588000" y="4851373"/>
            <a:ext cx="314502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a:solidFill>
                  <a:srgbClr val="6B7280"/>
                </a:solidFill>
                <a:latin typeface="Noto Sans SC" panose="020B0200000000000000" charset="-122"/>
                <a:ea typeface="Noto Sans SC" panose="020B0200000000000000" charset="-122"/>
                <a:cs typeface="Noto Sans SC" panose="020B0200000000000000" charset="-122"/>
              </a:rPr>
              <a:t>零点标定流程：</a:t>
            </a:r>
            <a:endParaRPr lang="zh-CN" altLang="en-US">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25000"/>
              </a:lnSpc>
              <a:defRPr/>
            </a:pPr>
            <a:r>
              <a:rPr lang="en-US" altLang="zh-CN">
                <a:solidFill>
                  <a:srgbClr val="6B7280"/>
                </a:solidFill>
                <a:latin typeface="Noto Sans SC" panose="020B0200000000000000" charset="-122"/>
                <a:ea typeface="Noto Sans SC" panose="020B0200000000000000" charset="-122"/>
                <a:cs typeface="Noto Sans SC" panose="020B0200000000000000" charset="-122"/>
              </a:rPr>
              <a:t>1.</a:t>
            </a:r>
            <a:r>
              <a:rPr lang="zh-CN" altLang="en-US">
                <a:solidFill>
                  <a:srgbClr val="6B7280"/>
                </a:solidFill>
                <a:latin typeface="Noto Sans SC" panose="020B0200000000000000" charset="-122"/>
                <a:ea typeface="Noto Sans SC" panose="020B0200000000000000" charset="-122"/>
                <a:cs typeface="Noto Sans SC" panose="020B0200000000000000" charset="-122"/>
              </a:rPr>
              <a:t>触发：扶直摆杆，</a:t>
            </a:r>
            <a:r>
              <a:rPr lang="en-US" altLang="zh-CN">
                <a:solidFill>
                  <a:srgbClr val="6B7280"/>
                </a:solidFill>
                <a:latin typeface="Noto Sans SC" panose="020B0200000000000000" charset="-122"/>
                <a:ea typeface="Noto Sans SC" panose="020B0200000000000000" charset="-122"/>
                <a:cs typeface="Noto Sans SC" panose="020B0200000000000000" charset="-122"/>
              </a:rPr>
              <a:t>KEY3</a:t>
            </a:r>
            <a:r>
              <a:rPr lang="zh-CN" altLang="en-US">
                <a:solidFill>
                  <a:srgbClr val="6B7280"/>
                </a:solidFill>
                <a:latin typeface="Noto Sans SC" panose="020B0200000000000000" charset="-122"/>
                <a:ea typeface="Noto Sans SC" panose="020B0200000000000000" charset="-122"/>
                <a:cs typeface="Noto Sans SC" panose="020B0200000000000000" charset="-122"/>
              </a:rPr>
              <a:t>按键启动标定；</a:t>
            </a:r>
            <a:endParaRPr lang="zh-CN" altLang="en-US">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25000"/>
              </a:lnSpc>
              <a:defRPr/>
            </a:pPr>
            <a:r>
              <a:rPr lang="en-US" altLang="zh-CN">
                <a:solidFill>
                  <a:srgbClr val="6B7280"/>
                </a:solidFill>
                <a:latin typeface="Noto Sans SC" panose="020B0200000000000000" charset="-122"/>
                <a:ea typeface="Noto Sans SC" panose="020B0200000000000000" charset="-122"/>
                <a:cs typeface="Noto Sans SC" panose="020B0200000000000000" charset="-122"/>
              </a:rPr>
              <a:t>2.</a:t>
            </a:r>
            <a:r>
              <a:rPr lang="zh-CN" altLang="en-US">
                <a:solidFill>
                  <a:srgbClr val="6B7280"/>
                </a:solidFill>
                <a:latin typeface="Noto Sans SC" panose="020B0200000000000000" charset="-122"/>
                <a:ea typeface="Noto Sans SC" panose="020B0200000000000000" charset="-122"/>
                <a:cs typeface="Noto Sans SC" panose="020B0200000000000000" charset="-122"/>
              </a:rPr>
              <a:t>采集基准：50 次均值滤波采样，存入零点偏移量</a:t>
            </a:r>
            <a:r>
              <a:rPr lang="en-US" altLang="zh-CN">
                <a:solidFill>
                  <a:srgbClr val="6B7280"/>
                </a:solidFill>
                <a:latin typeface="Noto Sans SC" panose="020B0200000000000000" charset="-122"/>
                <a:ea typeface="Noto Sans SC" panose="020B0200000000000000" charset="-122"/>
                <a:cs typeface="Noto Sans SC" panose="020B0200000000000000" charset="-122"/>
              </a:rPr>
              <a:t>zero_offset</a:t>
            </a:r>
            <a:r>
              <a:rPr lang="zh-CN" altLang="en-US">
                <a:solidFill>
                  <a:srgbClr val="6B7280"/>
                </a:solidFill>
                <a:latin typeface="Noto Sans SC" panose="020B0200000000000000" charset="-122"/>
                <a:ea typeface="Noto Sans SC" panose="020B0200000000000000" charset="-122"/>
                <a:cs typeface="Noto Sans SC" panose="020B0200000000000000" charset="-122"/>
              </a:rPr>
              <a:t>；</a:t>
            </a:r>
            <a:endParaRPr lang="en-US" altLang="zh-CN">
              <a:solidFill>
                <a:srgbClr val="6B7280"/>
              </a:solidFill>
              <a:latin typeface="Noto Sans SC" panose="020B0200000000000000" charset="-122"/>
              <a:ea typeface="Noto Sans SC" panose="020B0200000000000000" charset="-122"/>
              <a:cs typeface="Noto Sans SC" panose="020B0200000000000000" charset="-122"/>
            </a:endParaRPr>
          </a:p>
          <a:p>
            <a:pPr marL="0" indent="0" algn="l">
              <a:lnSpc>
                <a:spcPct val="125000"/>
              </a:lnSpc>
              <a:defRPr/>
            </a:pPr>
            <a:r>
              <a:rPr lang="en-US" altLang="zh-CN">
                <a:solidFill>
                  <a:srgbClr val="6B7280"/>
                </a:solidFill>
                <a:latin typeface="Noto Sans SC" panose="020B0200000000000000" charset="-122"/>
                <a:ea typeface="Noto Sans SC" panose="020B0200000000000000" charset="-122"/>
                <a:cs typeface="Noto Sans SC" panose="020B0200000000000000" charset="-122"/>
              </a:rPr>
              <a:t>3.</a:t>
            </a:r>
            <a:r>
              <a:rPr lang="zh-CN" altLang="en-US">
                <a:solidFill>
                  <a:srgbClr val="6B7280"/>
                </a:solidFill>
                <a:latin typeface="Noto Sans SC" panose="020B0200000000000000" charset="-122"/>
                <a:ea typeface="Noto Sans SC" panose="020B0200000000000000" charset="-122"/>
                <a:cs typeface="Noto Sans SC" panose="020B0200000000000000" charset="-122"/>
              </a:rPr>
              <a:t>误差消除：角度换算减去偏移，竖直位置倾角归零。</a:t>
            </a:r>
            <a:endParaRPr lang="zh-CN" altLang="en-US">
              <a:solidFill>
                <a:srgbClr val="6B7280"/>
              </a:solidFill>
              <a:latin typeface="Noto Sans SC" panose="020B0200000000000000" charset="-122"/>
              <a:ea typeface="Noto Sans SC" panose="020B0200000000000000" charset="-122"/>
              <a:cs typeface="Noto Sans SC" panose="020B0200000000000000" charset="-122"/>
            </a:endParaRPr>
          </a:p>
        </p:txBody>
      </p:sp>
      <p:cxnSp>
        <p:nvCxnSpPr>
          <p:cNvPr id="23" name="Connector 23"/>
          <p:cNvCxnSpPr/>
          <p:nvPr/>
        </p:nvCxnSpPr>
        <p:spPr>
          <a:xfrm rot="5362634">
            <a:off x="8326098" y="5403885"/>
            <a:ext cx="1168400" cy="12700"/>
          </a:xfrm>
          <a:prstGeom prst="straightConnector1">
            <a:avLst/>
          </a:prstGeom>
          <a:solidFill>
            <a:srgbClr val="DEE0E3">
              <a:alpha val="100000"/>
            </a:srgbClr>
          </a:solidFill>
          <a:ln w="12700" cap="flat" cmpd="sng">
            <a:solidFill>
              <a:srgbClr val="0891B2">
                <a:alpha val="30000"/>
              </a:srgbClr>
            </a:solidFill>
            <a:prstDash val="dash"/>
            <a:round/>
            <a:headEnd type="none" w="med" len="med"/>
            <a:tailEnd type="none" w="med" len="med"/>
          </a:ln>
        </p:spPr>
      </p:cxnSp>
      <p:sp>
        <p:nvSpPr>
          <p:cNvPr id="24" name="AutoShape 24"/>
          <p:cNvSpPr/>
          <p:nvPr/>
        </p:nvSpPr>
        <p:spPr>
          <a:xfrm>
            <a:off x="9094215" y="4686245"/>
            <a:ext cx="2183413"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基于零点的角度换算公式：</a:t>
            </a:r>
            <a:endParaRPr lang="en-US"/>
          </a:p>
          <a:p>
            <a:pPr marL="0" indent="0" algn="l">
              <a:lnSpc>
                <a:spcPct val="125000"/>
              </a:lnSpc>
            </a:pPr>
            <a:r>
              <a:rPr lang="en-US"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angle_x100 = ((ADC - zero)</a:t>
            </a:r>
            <a:endParaRPr lang="en-US"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 × 34000) / 4096</a:t>
            </a:r>
            <a:endParaRPr lang="en-US"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5" name="图片 24" descr="post_object_image_1105615915"/>
          <p:cNvPicPr>
            <a:picLocks noChangeAspect="1"/>
          </p:cNvPicPr>
          <p:nvPr/>
        </p:nvPicPr>
        <p:blipFill>
          <a:blip r:embed="rId5"/>
          <a:stretch>
            <a:fillRect/>
          </a:stretch>
        </p:blipFill>
        <p:spPr>
          <a:xfrm rot="16200000">
            <a:off x="1173321" y="1247689"/>
            <a:ext cx="2987461" cy="3619424"/>
          </a:xfrm>
          <a:prstGeom prst="rect">
            <a:avLst/>
          </a:prstGeom>
          <a:ln w="76200">
            <a:solidFill>
              <a:schemeClr val="bg2">
                <a:lumMod val="60000"/>
                <a:lumOff val="40000"/>
                <a:alpha val="100000"/>
              </a:schemeClr>
            </a:solidFill>
          </a:ln>
        </p:spPr>
      </p:pic>
      <p:sp>
        <p:nvSpPr>
          <p:cNvPr id="26" name="文本框 25"/>
          <p:cNvSpPr txBox="1"/>
          <p:nvPr userDrawn="1"/>
        </p:nvSpPr>
        <p:spPr>
          <a:xfrm>
            <a:off x="1053829" y="4914873"/>
            <a:ext cx="3627890" cy="308610"/>
          </a:xfrm>
          <a:prstGeom prst="rect">
            <a:avLst/>
          </a:prstGeom>
        </p:spPr>
        <p:txBody>
          <a:bodyPr wrap="square" rtlCol="0">
            <a:noAutofit/>
          </a:bodyPr>
          <a:p>
            <a:pPr algn="l"/>
            <a:r>
              <a:rPr lang="zh-CN" altLang="en-US"/>
              <a:t>传感器：</a:t>
            </a:r>
            <a:r>
              <a:rPr lang="en-US" altLang="zh-CN"/>
              <a:t>WDD35D4 340° </a:t>
            </a:r>
            <a:r>
              <a:rPr lang="zh-CN" altLang="en-US"/>
              <a:t>导电塑料电位器，输出 0~3.3</a:t>
            </a:r>
            <a:r>
              <a:rPr lang="en-US" altLang="zh-CN"/>
              <a:t>V </a:t>
            </a:r>
            <a:r>
              <a:rPr lang="zh-CN" altLang="en-US"/>
              <a:t>模拟电压</a:t>
            </a:r>
            <a:endParaRPr lang="zh-CN" altLang="en-US"/>
          </a:p>
        </p:txBody>
      </p:sp>
      <p:sp>
        <p:nvSpPr>
          <p:cNvPr id="27" name="文本框 26"/>
          <p:cNvSpPr txBox="1"/>
          <p:nvPr userDrawn="1"/>
        </p:nvSpPr>
        <p:spPr>
          <a:xfrm>
            <a:off x="1073416" y="5535322"/>
            <a:ext cx="3308084" cy="308610"/>
          </a:xfrm>
          <a:prstGeom prst="rect">
            <a:avLst/>
          </a:prstGeom>
        </p:spPr>
        <p:txBody>
          <a:bodyPr wrap="square" rtlCol="0">
            <a:noAutofit/>
          </a:bodyPr>
          <a:p>
            <a:pPr algn="l"/>
            <a:r>
              <a:rPr lang="zh-CN" altLang="en-US"/>
              <a:t>硬件接线：信号输出接入 </a:t>
            </a:r>
            <a:r>
              <a:rPr lang="en-US" altLang="zh-CN"/>
              <a:t>STM32 PC4</a:t>
            </a:r>
            <a:endParaRPr lang="zh-CN" altLang="en-US"/>
          </a:p>
        </p:txBody>
      </p:sp>
      <p:sp>
        <p:nvSpPr>
          <p:cNvPr id="28" name="文本框 27"/>
          <p:cNvSpPr txBox="1"/>
          <p:nvPr userDrawn="1"/>
        </p:nvSpPr>
        <p:spPr>
          <a:xfrm>
            <a:off x="1053853" y="5843920"/>
            <a:ext cx="3681241" cy="414005"/>
          </a:xfrm>
          <a:prstGeom prst="rect">
            <a:avLst/>
          </a:prstGeom>
        </p:spPr>
        <p:txBody>
          <a:bodyPr wrap="square" rtlCol="0">
            <a:noAutofit/>
          </a:bodyPr>
          <a:p>
            <a:pPr algn="l"/>
            <a:r>
              <a:rPr lang="en-US" altLang="zh-CN"/>
              <a:t>STM32F103 </a:t>
            </a:r>
            <a:r>
              <a:rPr lang="zh-CN" altLang="en-US"/>
              <a:t>内置 12 位 </a:t>
            </a:r>
            <a:r>
              <a:rPr lang="en-US" altLang="zh-CN"/>
              <a:t>ADC，</a:t>
            </a:r>
            <a:r>
              <a:rPr lang="zh-CN" altLang="en-US"/>
              <a:t>数值范围 0~4095</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04 软件系统设计 (2/3)：小车PWM控制</a:t>
            </a:r>
            <a:endParaRPr lang="en-US" sz="1100"/>
          </a:p>
        </p:txBody>
      </p:sp>
      <p:sp>
        <p:nvSpPr>
          <p:cNvPr id="5" name="AutoShape 5"/>
          <p:cNvSpPr/>
          <p:nvPr/>
        </p:nvSpPr>
        <p:spPr>
          <a:xfrm>
            <a:off x="762000" y="4826000"/>
            <a:ext cx="3302000" cy="1524000"/>
          </a:xfrm>
          <a:prstGeom prst="roundRect">
            <a:avLst>
              <a:gd name="adj" fmla="val 0"/>
            </a:avLst>
          </a:prstGeom>
          <a:solidFill>
            <a:srgbClr val="FFFFFF">
              <a:alpha val="100000"/>
            </a:srgbClr>
          </a:solidFill>
          <a:ln w="12700" cap="flat" cmpd="sng">
            <a:solidFill>
              <a:srgbClr val="0891B2">
                <a:alpha val="60000"/>
              </a:srgbClr>
            </a:solidFill>
            <a:prstDash val="solid"/>
            <a:round/>
          </a:ln>
        </p:spPr>
        <p:txBody>
          <a:bodyPr vert="horz" wrap="square" lIns="0" tIns="0" rIns="0" bIns="0" rtlCol="0" anchor="ctr" anchorCtr="0"/>
          <a:lstStyle/>
          <a:p>
            <a:pPr algn="ctr">
              <a:defRPr/>
            </a:pPr>
          </a:p>
        </p:txBody>
      </p:sp>
      <p:sp>
        <p:nvSpPr>
          <p:cNvPr id="6" name="AutoShape 6"/>
          <p:cNvSpPr/>
          <p:nvPr/>
        </p:nvSpPr>
        <p:spPr>
          <a:xfrm>
            <a:off x="889008" y="4889787"/>
            <a:ext cx="3048000" cy="142179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a:solidFill>
                  <a:srgbClr val="0891B2"/>
                </a:solidFill>
              </a:rPr>
              <a:t>补偿</a:t>
            </a:r>
            <a:r>
              <a:rPr lang="zh-CN" altLang="en-US" sz="1600" b="1">
                <a:solidFill>
                  <a:srgbClr val="0891B2"/>
                </a:solidFill>
                <a:cs typeface="Arial" panose="020B0604020202020204" pitchFamily="34" charset="0"/>
              </a:rPr>
              <a:t>算法</a:t>
            </a:r>
            <a:endParaRPr lang="zh-CN" altLang="en-US" sz="1600" b="1">
              <a:solidFill>
                <a:srgbClr val="0891B2"/>
              </a:solidFill>
              <a:cs typeface="Arial" panose="020B0604020202020204" pitchFamily="34" charset="0"/>
            </a:endParaRPr>
          </a:p>
          <a:p>
            <a:pPr marL="0" indent="0" algn="l">
              <a:lnSpc>
                <a:spcPct val="125000"/>
              </a:lnSpc>
              <a:defRPr/>
            </a:pPr>
            <a:endParaRPr lang="en-US" sz="1100"/>
          </a:p>
          <a:p>
            <a:pPr marL="0" indent="0" algn="l">
              <a:lnSpc>
                <a:spcPct val="117000"/>
              </a:lnSpc>
            </a:pPr>
            <a:r>
              <a:rPr lang="zh-CN" altLang="en-US" sz="1200">
                <a:solidFill>
                  <a:srgbClr val="6B7280"/>
                </a:solidFill>
                <a:latin typeface="Noto Sans SC" panose="020B0200000000000000" charset="-122"/>
                <a:ea typeface="Noto Sans SC" panose="020B0200000000000000" charset="-122"/>
                <a:cs typeface="Noto Sans SC" panose="020B0200000000000000" charset="-122"/>
              </a:rPr>
              <a:t>当 </a:t>
            </a:r>
            <a:r>
              <a:rPr lang="en-US" altLang="zh-CN" sz="1200">
                <a:solidFill>
                  <a:srgbClr val="6B7280"/>
                </a:solidFill>
                <a:latin typeface="Noto Sans SC" panose="020B0200000000000000" charset="-122"/>
                <a:ea typeface="Noto Sans SC" panose="020B0200000000000000" charset="-122"/>
                <a:cs typeface="Noto Sans SC" panose="020B0200000000000000" charset="-122"/>
              </a:rPr>
              <a:t>PID </a:t>
            </a:r>
            <a:r>
              <a:rPr lang="zh-CN" altLang="en-US" sz="1200">
                <a:solidFill>
                  <a:srgbClr val="6B7280"/>
                </a:solidFill>
                <a:latin typeface="Noto Sans SC" panose="020B0200000000000000" charset="-122"/>
                <a:ea typeface="Noto Sans SC" panose="020B0200000000000000" charset="-122"/>
                <a:cs typeface="Noto Sans SC" panose="020B0200000000000000" charset="-122"/>
              </a:rPr>
              <a:t>输出在 120~900 区间时，硬件 </a:t>
            </a:r>
            <a:r>
              <a:rPr lang="en-US" altLang="zh-CN" sz="1200">
                <a:solidFill>
                  <a:srgbClr val="6B7280"/>
                </a:solidFill>
                <a:latin typeface="Noto Sans SC" panose="020B0200000000000000" charset="-122"/>
                <a:ea typeface="Noto Sans SC" panose="020B0200000000000000" charset="-122"/>
                <a:cs typeface="Noto Sans SC" panose="020B0200000000000000" charset="-122"/>
              </a:rPr>
              <a:t>PWM </a:t>
            </a:r>
            <a:r>
              <a:rPr lang="zh-CN" altLang="en-US" sz="1200">
                <a:solidFill>
                  <a:srgbClr val="6B7280"/>
                </a:solidFill>
                <a:latin typeface="Noto Sans SC" panose="020B0200000000000000" charset="-122"/>
                <a:ea typeface="Noto Sans SC" panose="020B0200000000000000" charset="-122"/>
                <a:cs typeface="Noto Sans SC" panose="020B0200000000000000" charset="-122"/>
              </a:rPr>
              <a:t>实际输出大于命令值，电机能克服死区可靠转动；命令值低于 120 时完全停机防微颤。</a:t>
            </a:r>
            <a:endParaRPr lang="en-US" sz="12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7" name="Connector 7"/>
          <p:cNvCxnSpPr/>
          <p:nvPr/>
        </p:nvCxnSpPr>
        <p:spPr>
          <a:xfrm rot="5390177">
            <a:off x="2095500" y="3994159"/>
            <a:ext cx="4445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8" name="AutoShape 8"/>
          <p:cNvSpPr/>
          <p:nvPr/>
        </p:nvSpPr>
        <p:spPr>
          <a:xfrm>
            <a:off x="4572000" y="1778000"/>
            <a:ext cx="6858000" cy="14605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4572000" y="1778000"/>
            <a:ext cx="76200" cy="1460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4826000" y="1879600"/>
            <a:ext cx="635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PWM 脉冲宽度调制：速度控制的核心机制</a:t>
            </a:r>
            <a:endParaRPr lang="en-US" sz="1100"/>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通过改变周期内高电平的占空比，等效输出不同的平均电压。占空比越高，施加在电机上的平均功率越大，转速越快；反之则越慢。这是实现小车无级、平滑调速的关键技术。</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572000" y="3492500"/>
            <a:ext cx="6858000" cy="14605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4572000" y="3492500"/>
            <a:ext cx="76200" cy="1460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nvSpPr>
        <p:spPr>
          <a:xfrm>
            <a:off x="4826000" y="3594100"/>
            <a:ext cx="635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开环控制：从固定信号到基础验证</a:t>
            </a:r>
            <a:endParaRPr lang="en-US" sz="1100"/>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利用STM32定时器(TIM5)生成四路独立PWM信号，通过Set_PWM()函数直接设定比较值以改变占空比。此阶段不引入反馈，旨在验证电机驱动电路、方向逻辑的正确性，为后续闭环控制搭建可靠的执行基础。</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4572000" y="5080000"/>
            <a:ext cx="6858000" cy="1397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4572000" y="5080000"/>
            <a:ext cx="76200" cy="1397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nvSpPr>
        <p:spPr>
          <a:xfrm>
            <a:off x="4800711" y="5168527"/>
            <a:ext cx="635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工程优化：最小输出补偿算法</a:t>
            </a:r>
            <a:endParaRPr lang="en-US" sz="1100"/>
          </a:p>
          <a:p>
            <a:pPr marL="0" indent="0" algn="l">
              <a:lnSpc>
                <a:spcPct val="117000"/>
              </a:lnSpc>
            </a:pPr>
            <a:r>
              <a:rPr lang="zh-CN" altLang="en-US" sz="1300">
                <a:solidFill>
                  <a:srgbClr val="6B7280"/>
                </a:solidFill>
                <a:latin typeface="Noto Sans SC" panose="020B0200000000000000" charset="-122"/>
                <a:ea typeface="Noto Sans SC" panose="020B0200000000000000" charset="-122"/>
                <a:cs typeface="Noto Sans SC" panose="020B0200000000000000" charset="-122"/>
              </a:rPr>
              <a:t>直流电机在低占空比时由于静摩擦力/启动转矩不足会发生"叫而不转"现象</a:t>
            </a:r>
            <a:r>
              <a:rPr lang="en-US" sz="13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引入最小输出补偿。当计算输出大于0但小于阈值时，强制提升至“最小有效PWM值”，确保电机能克服静摩擦顺利启动，提升控制的鲁棒性。</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7" name="图片 16" descr="post_object_image_3025465647"/>
          <p:cNvPicPr>
            <a:picLocks noChangeAspect="1"/>
          </p:cNvPicPr>
          <p:nvPr/>
        </p:nvPicPr>
        <p:blipFill>
          <a:blip r:embed="rId1"/>
          <a:stretch>
            <a:fillRect/>
          </a:stretch>
        </p:blipFill>
        <p:spPr>
          <a:xfrm>
            <a:off x="761949" y="1777966"/>
            <a:ext cx="3231175" cy="26846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04 软件系统设计 (3/3)：PID控制算法</a:t>
            </a:r>
            <a:endParaRPr lang="en-US" sz="1100"/>
          </a:p>
        </p:txBody>
      </p:sp>
      <p:sp>
        <p:nvSpPr>
          <p:cNvPr id="4" name="AutoShape 4"/>
          <p:cNvSpPr/>
          <p:nvPr/>
        </p:nvSpPr>
        <p:spPr>
          <a:xfrm>
            <a:off x="762000" y="165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核心控制律：闭环系统构建</a:t>
            </a:r>
            <a:endParaRPr lang="en-US" sz="1100"/>
          </a:p>
        </p:txBody>
      </p:sp>
      <p:sp>
        <p:nvSpPr>
          <p:cNvPr id="5" name="AutoShape 5"/>
          <p:cNvSpPr/>
          <p:nvPr/>
        </p:nvSpPr>
        <p:spPr>
          <a:xfrm>
            <a:off x="762000" y="22860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在开环控制基础上引入传感器反馈，通过复合PID控制器动态调整输出。控制公式：</a:t>
            </a:r>
            <a:r>
              <a:rPr lang="en-US" sz="1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PWM输出 = 角度项(P) + 角速度项(D) - 速度阻尼项(D) - 位置回中项(P)</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。多反馈项加权组合，实现系统稳定与平衡。</a:t>
            </a:r>
            <a:endParaRPr lang="en-US" sz="1100"/>
          </a:p>
        </p:txBody>
      </p:sp>
      <p:pic>
        <p:nvPicPr>
          <p:cNvPr id="6" name="Picture 6"/>
          <p:cNvPicPr>
            <a:picLocks noChangeAspect="1"/>
          </p:cNvPicPr>
          <p:nvPr/>
        </p:nvPicPr>
        <p:blipFill>
          <a:blip r:embed="rId1"/>
          <a:srcRect l="12915" r="12915"/>
          <a:stretch>
            <a:fillRect/>
          </a:stretch>
        </p:blipFill>
        <p:spPr>
          <a:xfrm>
            <a:off x="762000" y="4064000"/>
            <a:ext cx="4826000" cy="2286000"/>
          </a:xfrm>
          <a:prstGeom prst="rect">
            <a:avLst/>
          </a:prstGeom>
          <a:noFill/>
          <a:ln w="25400" cap="flat" cmpd="sng">
            <a:noFill/>
            <a:prstDash val="solid"/>
            <a:round/>
          </a:ln>
        </p:spPr>
      </p:pic>
      <p:sp>
        <p:nvSpPr>
          <p:cNvPr id="7" name="AutoShape 7"/>
          <p:cNvSpPr/>
          <p:nvPr/>
        </p:nvSpPr>
        <p:spPr>
          <a:xfrm>
            <a:off x="6350000" y="1651000"/>
            <a:ext cx="2540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00000">
                <a:alpha val="5000"/>
              </a:srgbClr>
            </a:outerShdw>
          </a:effectLst>
        </p:spPr>
        <p:txBody>
          <a:bodyPr vert="horz" wrap="square" lIns="0" tIns="0" rIns="0" bIns="0" rtlCol="0" anchor="ctr" anchorCtr="0"/>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40500" y="1905000"/>
            <a:ext cx="406400" cy="406400"/>
          </a:xfrm>
          <a:prstGeom prst="rect">
            <a:avLst/>
          </a:prstGeom>
        </p:spPr>
      </p:pic>
      <p:sp>
        <p:nvSpPr>
          <p:cNvPr id="9" name="AutoShape 9"/>
          <p:cNvSpPr/>
          <p:nvPr/>
        </p:nvSpPr>
        <p:spPr>
          <a:xfrm>
            <a:off x="6540500" y="24765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角度项 · 基础控制</a:t>
            </a:r>
            <a:endParaRPr lang="en-US" sz="1100"/>
          </a:p>
          <a:p>
            <a:pPr marL="0"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摆杆倾斜角度越大，小车向该方向运动趋势越强，负责将摆杆拉回竖直位置。</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9144000" y="1651000"/>
            <a:ext cx="2540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00000">
                <a:alpha val="5000"/>
              </a:srgbClr>
            </a:outerShdw>
          </a:effectLst>
        </p:spPr>
        <p:txBody>
          <a:bodyPr vert="horz" wrap="square" lIns="0" tIns="0" rIns="0" bIns="0" rtlCol="0" anchor="ctr" anchorCtr="0"/>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34500" y="1905000"/>
            <a:ext cx="406400" cy="406400"/>
          </a:xfrm>
          <a:prstGeom prst="rect">
            <a:avLst/>
          </a:prstGeom>
        </p:spPr>
      </p:pic>
      <p:sp>
        <p:nvSpPr>
          <p:cNvPr id="12" name="AutoShape 12"/>
          <p:cNvSpPr/>
          <p:nvPr/>
        </p:nvSpPr>
        <p:spPr>
          <a:xfrm>
            <a:off x="9334500" y="24765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角速度项 · 阻尼预测</a:t>
            </a:r>
            <a:endParaRPr lang="en-US" sz="1100"/>
          </a:p>
          <a:p>
            <a:pPr marL="0"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反映摆杆倾倒趋势，提前反向修正以增加系统阻尼、抑制振荡，提升稳定性。</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350000" y="4191000"/>
            <a:ext cx="2540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00000">
                <a:alpha val="5000"/>
              </a:srgbClr>
            </a:outerShdw>
          </a:effectLst>
        </p:spPr>
        <p:txBody>
          <a:bodyPr vert="horz" wrap="square" lIns="0" tIns="0" rIns="0" bIns="0" rtlCol="0" anchor="ctr" anchorCtr="0"/>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4445000"/>
            <a:ext cx="406400" cy="406400"/>
          </a:xfrm>
          <a:prstGeom prst="rect">
            <a:avLst/>
          </a:prstGeom>
        </p:spPr>
      </p:pic>
      <p:sp>
        <p:nvSpPr>
          <p:cNvPr id="15" name="AutoShape 15"/>
          <p:cNvSpPr/>
          <p:nvPr/>
        </p:nvSpPr>
        <p:spPr>
          <a:xfrm>
            <a:off x="6540500" y="50165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速度阻尼项 · 抑制飞车</a:t>
            </a:r>
            <a:endParaRPr lang="en-US" sz="1100"/>
          </a:p>
          <a:p>
            <a:pPr marL="0"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通过反向阻尼防止小车为平衡摆杆“越跑越快”，限制系统整体运动速度。</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9144000" y="4191000"/>
            <a:ext cx="2540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127000" dist="50800" dir="5400000" algn="tl" rotWithShape="0">
              <a:srgbClr val="000000">
                <a:alpha val="5000"/>
              </a:srgbClr>
            </a:outerShdw>
          </a:effectLst>
        </p:spPr>
        <p:txBody>
          <a:bodyPr vert="horz" wrap="square" lIns="0" tIns="0" rIns="0" bIns="0" rtlCol="0" anchor="ctr" anchorCtr="0"/>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34500" y="4445000"/>
            <a:ext cx="406400" cy="406400"/>
          </a:xfrm>
          <a:prstGeom prst="rect">
            <a:avLst/>
          </a:prstGeom>
        </p:spPr>
      </p:pic>
      <p:sp>
        <p:nvSpPr>
          <p:cNvPr id="18" name="AutoShape 18"/>
          <p:cNvSpPr/>
          <p:nvPr/>
        </p:nvSpPr>
        <p:spPr>
          <a:xfrm>
            <a:off x="9334500" y="50165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位置回中项 · 防漂移</a:t>
            </a:r>
            <a:endParaRPr lang="en-US" sz="1100"/>
          </a:p>
          <a:p>
            <a:pPr marL="0"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引入位置偏差反馈，小车偏离初始位置越远回中力越强，防止轨道无限漂移。</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分层</a:t>
            </a:r>
            <a:r>
              <a:rPr lang="zh-CN" altLang="en-US" sz="2600" b="1" i="0" u="none" strike="noStrike">
                <a:solidFill>
                  <a:srgbClr val="0891B2"/>
                </a:solidFill>
                <a:latin typeface="MiSans" charset="-122"/>
                <a:ea typeface="MiSans" charset="-122"/>
                <a:cs typeface="MiSans" charset="-122"/>
                <a:sym typeface="MiSans" charset="-122"/>
              </a:rPr>
              <a:t>开发</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4"/>
          <p:cNvSpPr/>
          <p:nvPr/>
        </p:nvSpPr>
        <p:spPr>
          <a:xfrm>
            <a:off x="786765" y="1338580"/>
            <a:ext cx="898207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a:latin typeface="MiSans" charset="-122"/>
                <a:ea typeface="MiSans" charset="-122"/>
                <a:cs typeface="MiSans" charset="-122"/>
              </a:rPr>
              <a:t>在角位移传感器集成之前，系统处于四轮</a:t>
            </a:r>
            <a:r>
              <a:rPr lang="en-US" altLang="zh-CN" sz="1600">
                <a:latin typeface="MiSans" charset="-122"/>
                <a:ea typeface="MiSans" charset="-122"/>
                <a:cs typeface="MiSans" charset="-122"/>
              </a:rPr>
              <a:t>PI</a:t>
            </a:r>
            <a:r>
              <a:rPr lang="zh-CN" altLang="en-US" sz="1600">
                <a:latin typeface="MiSans" charset="-122"/>
                <a:ea typeface="MiSans" charset="-122"/>
                <a:cs typeface="MiSans" charset="-122"/>
              </a:rPr>
              <a:t>速度闭环控制阶段，尚未涉及任何倒立摆平衡控制。</a:t>
            </a:r>
            <a:endParaRPr lang="zh-CN" altLang="en-US" sz="1600">
              <a:latin typeface="MiSans" charset="-122"/>
              <a:ea typeface="MiSans" charset="-122"/>
              <a:cs typeface="MiSans" charset="-122"/>
            </a:endParaRPr>
          </a:p>
        </p:txBody>
      </p:sp>
      <p:graphicFrame>
        <p:nvGraphicFramePr>
          <p:cNvPr id="19" name="表格 18"/>
          <p:cNvGraphicFramePr/>
          <p:nvPr>
            <p:custDataLst>
              <p:tags r:id="rId1"/>
            </p:custDataLst>
          </p:nvPr>
        </p:nvGraphicFramePr>
        <p:xfrm>
          <a:off x="1073785" y="1915160"/>
          <a:ext cx="9528810" cy="3702050"/>
        </p:xfrm>
        <a:graphic>
          <a:graphicData uri="http://schemas.openxmlformats.org/drawingml/2006/table">
            <a:tbl>
              <a:tblPr firstRow="1">
                <a:tableStyleId>{98FDFF00-9161-4752-985D-9B649F7FD27A}</a:tableStyleId>
              </a:tblPr>
              <a:tblGrid>
                <a:gridCol w="3176270"/>
                <a:gridCol w="3176270"/>
                <a:gridCol w="3176270"/>
              </a:tblGrid>
              <a:tr h="336550">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rPr>
                        <a:t>组件</a:t>
                      </a:r>
                      <a:endParaRPr lang="zh-CN" sz="1200">
                        <a:latin typeface="MiSans Bold" panose="00000800000000000000" charset="-122"/>
                        <a:ea typeface="MiSans Bold" panose="00000800000000000000" charset="-122"/>
                      </a:endParaRPr>
                    </a:p>
                  </a:txBody>
                  <a:tcPr marL="68580" marR="68580" marT="0" marB="0" anchor="ctr" anchorCtr="0"/>
                </a:tc>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cs typeface="MiSans Bold" panose="00000800000000000000" charset="-122"/>
                        </a:rPr>
                        <a:t>型号</a:t>
                      </a:r>
                      <a:r>
                        <a:rPr lang="en-US" altLang="zh-CN" sz="1200">
                          <a:latin typeface="MiSans Bold" panose="00000800000000000000" charset="-122"/>
                          <a:ea typeface="MiSans Bold" panose="00000800000000000000" charset="-122"/>
                          <a:cs typeface="MiSans Bold" panose="00000800000000000000" charset="-122"/>
                        </a:rPr>
                        <a:t>/</a:t>
                      </a:r>
                      <a:r>
                        <a:rPr lang="zh-CN" altLang="en-US" sz="1200">
                          <a:latin typeface="MiSans Bold" panose="00000800000000000000" charset="-122"/>
                          <a:ea typeface="MiSans Bold" panose="00000800000000000000" charset="-122"/>
                          <a:cs typeface="MiSans Bold" panose="00000800000000000000" charset="-122"/>
                        </a:rPr>
                        <a:t>配置</a:t>
                      </a:r>
                      <a:endParaRPr lang="zh-CN" altLang="en-US" sz="1200">
                        <a:latin typeface="MiSans Bold" panose="00000800000000000000" charset="-122"/>
                        <a:ea typeface="MiSans Bold" panose="00000800000000000000" charset="-122"/>
                        <a:cs typeface="MiSans Bold" panose="00000800000000000000" charset="-122"/>
                      </a:endParaRPr>
                    </a:p>
                  </a:txBody>
                  <a:tcPr marL="68580" marR="68580" marT="0" marB="0" anchor="ctr" anchorCtr="0"/>
                </a:tc>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rPr>
                        <a:t>说明</a:t>
                      </a:r>
                      <a:endParaRPr lang="zh-CN" sz="1200">
                        <a:latin typeface="MiSans Bold" panose="00000800000000000000" charset="-122"/>
                        <a:ea typeface="MiSans Bold" panose="00000800000000000000" charset="-122"/>
                      </a:endParaRPr>
                    </a:p>
                  </a:txBody>
                  <a:tcPr marL="68580" marR="68580" marT="0" marB="0" anchor="ctr" anchorCtr="0"/>
                </a:tc>
              </a:tr>
              <a:tr h="336550">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rPr>
                        <a:t>MCU</a:t>
                      </a:r>
                      <a:endParaRPr lang="en-US" altLang="zh-CN" sz="1000">
                        <a:latin typeface="MiSans Normal" panose="00000500000000000000" charset="-122"/>
                        <a:ea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rPr>
                        <a:t>STM32F103RCT6</a:t>
                      </a:r>
                      <a:endParaRPr lang="en-US" altLang="zh-CN" sz="1000">
                        <a:latin typeface="MiSans Normal" panose="00000500000000000000" charset="-122"/>
                        <a:ea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72MHz</a:t>
                      </a:r>
                      <a:r>
                        <a:rPr lang="zh-CN" altLang="en-US" sz="1000">
                          <a:latin typeface="MiSans Normal" panose="00000500000000000000" charset="-122"/>
                          <a:ea typeface="MiSans Normal" panose="00000500000000000000" charset="-122"/>
                          <a:cs typeface="MiSans Normal" panose="00000500000000000000" charset="-122"/>
                        </a:rPr>
                        <a:t>主频，</a:t>
                      </a:r>
                      <a:r>
                        <a:rPr lang="en-US" altLang="zh-CN" sz="1000">
                          <a:latin typeface="MiSans Normal" panose="00000500000000000000" charset="-122"/>
                          <a:ea typeface="MiSans Normal" panose="00000500000000000000" charset="-122"/>
                          <a:cs typeface="MiSans Normal" panose="00000500000000000000" charset="-122"/>
                        </a:rPr>
                        <a:t>256KB Flash</a:t>
                      </a:r>
                      <a:r>
                        <a:rPr lang="zh-CN" altLang="en-US" sz="1000">
                          <a:latin typeface="MiSans Normal" panose="00000500000000000000" charset="-122"/>
                          <a:ea typeface="MiSans Normal" panose="00000500000000000000" charset="-122"/>
                          <a:cs typeface="MiSans Normal" panose="00000500000000000000" charset="-122"/>
                        </a:rPr>
                        <a:t>，</a:t>
                      </a:r>
                      <a:r>
                        <a:rPr lang="en-US" altLang="zh-CN" sz="1000">
                          <a:latin typeface="MiSans Normal" panose="00000500000000000000" charset="-122"/>
                          <a:ea typeface="MiSans Normal" panose="00000500000000000000" charset="-122"/>
                          <a:cs typeface="MiSans Normal" panose="00000500000000000000" charset="-122"/>
                        </a:rPr>
                        <a:t>48KB RAM</a:t>
                      </a:r>
                      <a:r>
                        <a:rPr lang="zh-CN" altLang="en-US" sz="1000">
                          <a:latin typeface="MiSans Normal" panose="00000500000000000000" charset="-122"/>
                          <a:ea typeface="MiSans Normal" panose="00000500000000000000" charset="-122"/>
                          <a:cs typeface="MiSans Normal" panose="00000500000000000000" charset="-122"/>
                        </a:rPr>
                        <a:t>，</a:t>
                      </a:r>
                      <a:r>
                        <a:rPr lang="en-US" altLang="zh-CN" sz="1000">
                          <a:latin typeface="MiSans Normal" panose="00000500000000000000" charset="-122"/>
                          <a:ea typeface="MiSans Normal" panose="00000500000000000000" charset="-122"/>
                          <a:cs typeface="MiSans Normal" panose="00000500000000000000" charset="-122"/>
                        </a:rPr>
                        <a:t>Cortex-M3</a:t>
                      </a:r>
                      <a:endParaRPr lang="en-US" altLang="zh-CN"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r>
              <a:tr h="336550">
                <a:tc>
                  <a:txBody>
                    <a:bodyPr/>
                    <a:p>
                      <a:pPr algn="ctr">
                        <a:lnSpc>
                          <a:spcPct val="114000"/>
                        </a:lnSpc>
                        <a:spcBef>
                          <a:spcPct val="0"/>
                        </a:spcBef>
                        <a:spcAft>
                          <a:spcPct val="0"/>
                        </a:spcAft>
                      </a:pPr>
                      <a:r>
                        <a:rPr lang="zh-CN" sz="1000">
                          <a:latin typeface="MiSans Normal" panose="00000500000000000000" charset="-122"/>
                          <a:ea typeface="MiSans Normal" panose="00000500000000000000" charset="-122"/>
                        </a:rPr>
                        <a:t>电机驱动</a:t>
                      </a:r>
                      <a:endParaRPr lang="zh-CN" sz="1000">
                        <a:latin typeface="MiSans Normal" panose="00000500000000000000" charset="-122"/>
                        <a:ea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TB6612 × 4</a:t>
                      </a:r>
                      <a:r>
                        <a:rPr lang="zh-CN" altLang="en-US" sz="1000">
                          <a:latin typeface="MiSans Normal" panose="00000500000000000000" charset="-122"/>
                          <a:ea typeface="MiSans Normal" panose="00000500000000000000" charset="-122"/>
                          <a:cs typeface="MiSans Normal" panose="00000500000000000000" charset="-122"/>
                        </a:rPr>
                        <a:t>路</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zh-CN" sz="1000">
                          <a:latin typeface="MiSans Normal" panose="00000500000000000000" charset="-122"/>
                          <a:ea typeface="MiSans Normal" panose="00000500000000000000" charset="-122"/>
                          <a:cs typeface="MiSans Normal" panose="00000500000000000000" charset="-122"/>
                        </a:rPr>
                        <a:t>四路独立方向引脚</a:t>
                      </a:r>
                      <a:r>
                        <a:rPr lang="en-US" altLang="zh-CN" sz="1000">
                          <a:latin typeface="MiSans Normal" panose="00000500000000000000" charset="-122"/>
                          <a:ea typeface="MiSans Normal" panose="00000500000000000000" charset="-122"/>
                          <a:cs typeface="MiSans Normal" panose="00000500000000000000" charset="-122"/>
                        </a:rPr>
                        <a:t>+PWM</a:t>
                      </a:r>
                      <a:r>
                        <a:rPr lang="zh-CN" altLang="en-US" sz="1000">
                          <a:latin typeface="MiSans Normal" panose="00000500000000000000" charset="-122"/>
                          <a:ea typeface="MiSans Normal" panose="00000500000000000000" charset="-122"/>
                          <a:cs typeface="MiSans Normal" panose="00000500000000000000" charset="-122"/>
                        </a:rPr>
                        <a:t>控制</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r>
              <a:tr h="336550">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rPr>
                        <a:t>PWM</a:t>
                      </a:r>
                      <a:endParaRPr lang="en-US" altLang="zh-CN" sz="1000">
                        <a:latin typeface="MiSans Normal" panose="00000500000000000000" charset="-122"/>
                        <a:ea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TIM5</a:t>
                      </a:r>
                      <a:r>
                        <a:rPr lang="zh-CN" altLang="en-US" sz="1000">
                          <a:latin typeface="MiSans Normal" panose="00000500000000000000" charset="-122"/>
                          <a:ea typeface="MiSans Normal" panose="00000500000000000000" charset="-122"/>
                          <a:cs typeface="MiSans Normal" panose="00000500000000000000" charset="-122"/>
                        </a:rPr>
                        <a:t>，</a:t>
                      </a:r>
                      <a:r>
                        <a:rPr lang="en-US" altLang="zh-CN" sz="1000">
                          <a:latin typeface="MiSans Normal" panose="00000500000000000000" charset="-122"/>
                          <a:ea typeface="MiSans Normal" panose="00000500000000000000" charset="-122"/>
                          <a:cs typeface="MiSans Normal" panose="00000500000000000000" charset="-122"/>
                        </a:rPr>
                        <a:t>10kHz</a:t>
                      </a:r>
                      <a:endParaRPr lang="en-US" altLang="zh-CN"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zh-CN" sz="1000">
                          <a:latin typeface="MiSans Normal" panose="00000500000000000000" charset="-122"/>
                          <a:ea typeface="MiSans Normal" panose="00000500000000000000" charset="-122"/>
                          <a:cs typeface="MiSans Normal" panose="00000500000000000000" charset="-122"/>
                        </a:rPr>
                        <a:t>占空比范围</a:t>
                      </a:r>
                      <a:r>
                        <a:rPr lang="zh-CN" altLang="en-US" sz="1000">
                          <a:latin typeface="MiSans Normal" panose="00000500000000000000" charset="-122"/>
                          <a:ea typeface="MiSans Normal" panose="00000500000000000000" charset="-122"/>
                          <a:cs typeface="MiSans Normal" panose="00000500000000000000" charset="-122"/>
                        </a:rPr>
                        <a:t> </a:t>
                      </a:r>
                      <a:r>
                        <a:rPr lang="en-US" altLang="zh-CN" sz="1000">
                          <a:latin typeface="MiSans Normal" panose="00000500000000000000" charset="-122"/>
                          <a:ea typeface="MiSans Normal" panose="00000500000000000000" charset="-122"/>
                          <a:cs typeface="MiSans Normal" panose="00000500000000000000" charset="-122"/>
                        </a:rPr>
                        <a:t>0~7200</a:t>
                      </a:r>
                      <a:r>
                        <a:rPr lang="zh-CN" altLang="en-US" sz="1000">
                          <a:latin typeface="MiSans Normal" panose="00000500000000000000" charset="-122"/>
                          <a:ea typeface="MiSans Normal" panose="00000500000000000000" charset="-122"/>
                          <a:cs typeface="MiSans Normal" panose="00000500000000000000" charset="-122"/>
                        </a:rPr>
                        <a:t>，四路同步输出</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r>
              <a:tr h="336550">
                <a:tc>
                  <a:txBody>
                    <a:bodyPr/>
                    <a:p>
                      <a:pPr algn="ctr">
                        <a:lnSpc>
                          <a:spcPct val="114000"/>
                        </a:lnSpc>
                        <a:spcBef>
                          <a:spcPct val="0"/>
                        </a:spcBef>
                        <a:spcAft>
                          <a:spcPct val="0"/>
                        </a:spcAft>
                      </a:pPr>
                      <a:r>
                        <a:rPr lang="zh-CN" sz="1000">
                          <a:latin typeface="MiSans Normal" panose="00000500000000000000" charset="-122"/>
                          <a:ea typeface="MiSans Normal" panose="00000500000000000000" charset="-122"/>
                          <a:cs typeface="MiSans Normal" panose="00000500000000000000" charset="-122"/>
                        </a:rPr>
                        <a:t>编码器</a:t>
                      </a:r>
                      <a:r>
                        <a:rPr lang="en-US" altLang="zh-CN" sz="1000">
                          <a:latin typeface="MiSans Normal" panose="00000500000000000000" charset="-122"/>
                          <a:ea typeface="MiSans Normal" panose="00000500000000000000" charset="-122"/>
                          <a:cs typeface="MiSans Normal" panose="00000500000000000000" charset="-122"/>
                        </a:rPr>
                        <a:t>A</a:t>
                      </a:r>
                      <a:endParaRPr lang="en-US" altLang="zh-CN"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TIM8</a:t>
                      </a:r>
                      <a:r>
                        <a:rPr lang="zh-CN" altLang="en-US" sz="1000">
                          <a:latin typeface="MiSans Normal" panose="00000500000000000000" charset="-122"/>
                          <a:ea typeface="MiSans Normal" panose="00000500000000000000" charset="-122"/>
                          <a:cs typeface="MiSans Normal" panose="00000500000000000000" charset="-122"/>
                        </a:rPr>
                        <a:t>硬件正交解码</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PC6/PC7</a:t>
                      </a:r>
                      <a:r>
                        <a:rPr lang="zh-CN" altLang="en-US" sz="1000">
                          <a:latin typeface="MiSans Normal" panose="00000500000000000000" charset="-122"/>
                          <a:ea typeface="MiSans Normal" panose="00000500000000000000" charset="-122"/>
                          <a:cs typeface="MiSans Normal" panose="00000500000000000000" charset="-122"/>
                        </a:rPr>
                        <a:t>，</a:t>
                      </a:r>
                      <a:r>
                        <a:rPr lang="en-US" altLang="zh-CN" sz="1000">
                          <a:latin typeface="MiSans Normal" panose="00000500000000000000" charset="-122"/>
                          <a:ea typeface="MiSans Normal" panose="00000500000000000000" charset="-122"/>
                          <a:cs typeface="MiSans Normal" panose="00000500000000000000" charset="-122"/>
                        </a:rPr>
                        <a:t>16</a:t>
                      </a:r>
                      <a:r>
                        <a:rPr lang="zh-CN" altLang="en-US" sz="1000">
                          <a:latin typeface="MiSans Normal" panose="00000500000000000000" charset="-122"/>
                          <a:ea typeface="MiSans Normal" panose="00000500000000000000" charset="-122"/>
                          <a:cs typeface="MiSans Normal" panose="00000500000000000000" charset="-122"/>
                        </a:rPr>
                        <a:t>位计数器，自动</a:t>
                      </a:r>
                      <a:r>
                        <a:rPr lang="en-US" altLang="zh-CN" sz="1000">
                          <a:latin typeface="MiSans Normal" panose="00000500000000000000" charset="-122"/>
                          <a:ea typeface="MiSans Normal" panose="00000500000000000000" charset="-122"/>
                          <a:cs typeface="MiSans Normal" panose="00000500000000000000" charset="-122"/>
                        </a:rPr>
                        <a:t>4</a:t>
                      </a:r>
                      <a:r>
                        <a:rPr lang="zh-CN" altLang="en-US" sz="1000">
                          <a:latin typeface="MiSans Normal" panose="00000500000000000000" charset="-122"/>
                          <a:ea typeface="MiSans Normal" panose="00000500000000000000" charset="-122"/>
                          <a:cs typeface="MiSans Normal" panose="00000500000000000000" charset="-122"/>
                        </a:rPr>
                        <a:t>倍频</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r>
              <a:tr h="336550">
                <a:tc>
                  <a:txBody>
                    <a:bodyPr/>
                    <a:p>
                      <a:pPr algn="ctr">
                        <a:lnSpc>
                          <a:spcPct val="114000"/>
                        </a:lnSpc>
                        <a:spcBef>
                          <a:spcPct val="0"/>
                        </a:spcBef>
                        <a:spcAft>
                          <a:spcPct val="0"/>
                        </a:spcAft>
                      </a:pPr>
                      <a:r>
                        <a:rPr lang="zh-CN" sz="1000">
                          <a:latin typeface="MiSans Normal" panose="00000500000000000000" charset="-122"/>
                          <a:ea typeface="MiSans Normal" panose="00000500000000000000" charset="-122"/>
                          <a:cs typeface="MiSans Normal" panose="00000500000000000000" charset="-122"/>
                        </a:rPr>
                        <a:t>编码器</a:t>
                      </a:r>
                      <a:r>
                        <a:rPr lang="en-US" altLang="zh-CN" sz="1000">
                          <a:latin typeface="MiSans Normal" panose="00000500000000000000" charset="-122"/>
                          <a:ea typeface="MiSans Normal" panose="00000500000000000000" charset="-122"/>
                          <a:cs typeface="MiSans Normal" panose="00000500000000000000" charset="-122"/>
                        </a:rPr>
                        <a:t>B</a:t>
                      </a:r>
                      <a:endParaRPr lang="en-US" altLang="zh-CN"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TIM2</a:t>
                      </a:r>
                      <a:r>
                        <a:rPr lang="zh-CN" altLang="en-US" sz="1000">
                          <a:latin typeface="MiSans Normal" panose="00000500000000000000" charset="-122"/>
                          <a:ea typeface="MiSans Normal" panose="00000500000000000000" charset="-122"/>
                          <a:cs typeface="MiSans Normal" panose="00000500000000000000" charset="-122"/>
                        </a:rPr>
                        <a:t>硬件正交解码</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PA15/PB3</a:t>
                      </a:r>
                      <a:r>
                        <a:rPr lang="zh-CN" altLang="en-US" sz="1000">
                          <a:latin typeface="MiSans Normal" panose="00000500000000000000" charset="-122"/>
                          <a:ea typeface="MiSans Normal" panose="00000500000000000000" charset="-122"/>
                          <a:cs typeface="MiSans Normal" panose="00000500000000000000" charset="-122"/>
                        </a:rPr>
                        <a:t>，完全重映射，禁用</a:t>
                      </a:r>
                      <a:r>
                        <a:rPr lang="en-US" altLang="zh-CN" sz="1000">
                          <a:latin typeface="MiSans Normal" panose="00000500000000000000" charset="-122"/>
                          <a:ea typeface="MiSans Normal" panose="00000500000000000000" charset="-122"/>
                          <a:cs typeface="MiSans Normal" panose="00000500000000000000" charset="-122"/>
                        </a:rPr>
                        <a:t>JTAG</a:t>
                      </a:r>
                      <a:r>
                        <a:rPr lang="zh-CN" altLang="en-US" sz="1000">
                          <a:latin typeface="MiSans Normal" panose="00000500000000000000" charset="-122"/>
                          <a:ea typeface="MiSans Normal" panose="00000500000000000000" charset="-122"/>
                          <a:cs typeface="MiSans Normal" panose="00000500000000000000" charset="-122"/>
                        </a:rPr>
                        <a:t>保留</a:t>
                      </a:r>
                      <a:r>
                        <a:rPr lang="en-US" altLang="zh-CN" sz="1000">
                          <a:latin typeface="MiSans Normal" panose="00000500000000000000" charset="-122"/>
                          <a:ea typeface="MiSans Normal" panose="00000500000000000000" charset="-122"/>
                          <a:cs typeface="MiSans Normal" panose="00000500000000000000" charset="-122"/>
                        </a:rPr>
                        <a:t>SWD</a:t>
                      </a:r>
                      <a:endParaRPr lang="en-US" altLang="zh-CN"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r>
              <a:tr h="336550">
                <a:tc>
                  <a:txBody>
                    <a:bodyPr/>
                    <a:p>
                      <a:pPr algn="ctr">
                        <a:lnSpc>
                          <a:spcPct val="114000"/>
                        </a:lnSpc>
                        <a:spcBef>
                          <a:spcPct val="0"/>
                        </a:spcBef>
                        <a:spcAft>
                          <a:spcPct val="0"/>
                        </a:spcAft>
                      </a:pPr>
                      <a:r>
                        <a:rPr lang="zh-CN" sz="1000">
                          <a:latin typeface="MiSans Normal" panose="00000500000000000000" charset="-122"/>
                          <a:ea typeface="MiSans Normal" panose="00000500000000000000" charset="-122"/>
                          <a:cs typeface="MiSans Normal" panose="00000500000000000000" charset="-122"/>
                        </a:rPr>
                        <a:t>编码器</a:t>
                      </a:r>
                      <a:r>
                        <a:rPr lang="en-US" altLang="zh-CN" sz="1000">
                          <a:latin typeface="MiSans Normal" panose="00000500000000000000" charset="-122"/>
                          <a:ea typeface="MiSans Normal" panose="00000500000000000000" charset="-122"/>
                          <a:cs typeface="MiSans Normal" panose="00000500000000000000" charset="-122"/>
                        </a:rPr>
                        <a:t>C</a:t>
                      </a:r>
                      <a:endParaRPr lang="en-US" altLang="zh-CN"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TIM3</a:t>
                      </a:r>
                      <a:r>
                        <a:rPr lang="zh-CN" altLang="en-US" sz="1000">
                          <a:latin typeface="MiSans Normal" panose="00000500000000000000" charset="-122"/>
                          <a:ea typeface="MiSans Normal" panose="00000500000000000000" charset="-122"/>
                          <a:cs typeface="MiSans Normal" panose="00000500000000000000" charset="-122"/>
                        </a:rPr>
                        <a:t>硬件正交解码</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PA6/PA7</a:t>
                      </a:r>
                      <a:r>
                        <a:rPr lang="zh-CN" altLang="en-US" sz="1000">
                          <a:latin typeface="MiSans Normal" panose="00000500000000000000" charset="-122"/>
                          <a:ea typeface="MiSans Normal" panose="00000500000000000000" charset="-122"/>
                          <a:cs typeface="MiSans Normal" panose="00000500000000000000" charset="-122"/>
                        </a:rPr>
                        <a:t>，</a:t>
                      </a:r>
                      <a:r>
                        <a:rPr lang="en-US" altLang="zh-CN" sz="1000">
                          <a:latin typeface="MiSans Normal" panose="00000500000000000000" charset="-122"/>
                          <a:ea typeface="MiSans Normal" panose="00000500000000000000" charset="-122"/>
                          <a:cs typeface="MiSans Normal" panose="00000500000000000000" charset="-122"/>
                        </a:rPr>
                        <a:t>16</a:t>
                      </a:r>
                      <a:r>
                        <a:rPr lang="zh-CN" altLang="en-US" sz="1000">
                          <a:latin typeface="MiSans Normal" panose="00000500000000000000" charset="-122"/>
                          <a:ea typeface="MiSans Normal" panose="00000500000000000000" charset="-122"/>
                          <a:cs typeface="MiSans Normal" panose="00000500000000000000" charset="-122"/>
                        </a:rPr>
                        <a:t>位计数器</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r>
              <a:tr h="336550">
                <a:tc>
                  <a:txBody>
                    <a:bodyPr/>
                    <a:p>
                      <a:pPr algn="ctr">
                        <a:lnSpc>
                          <a:spcPct val="114000"/>
                        </a:lnSpc>
                        <a:spcBef>
                          <a:spcPct val="0"/>
                        </a:spcBef>
                        <a:spcAft>
                          <a:spcPct val="0"/>
                        </a:spcAft>
                      </a:pPr>
                      <a:r>
                        <a:rPr lang="zh-CN" sz="1000">
                          <a:latin typeface="MiSans Normal" panose="00000500000000000000" charset="-122"/>
                          <a:ea typeface="MiSans Normal" panose="00000500000000000000" charset="-122"/>
                          <a:cs typeface="MiSans Normal" panose="00000500000000000000" charset="-122"/>
                        </a:rPr>
                        <a:t>编码器</a:t>
                      </a:r>
                      <a:r>
                        <a:rPr lang="en-US" altLang="zh-CN" sz="1000">
                          <a:latin typeface="MiSans Normal" panose="00000500000000000000" charset="-122"/>
                          <a:ea typeface="MiSans Normal" panose="00000500000000000000" charset="-122"/>
                          <a:cs typeface="MiSans Normal" panose="00000500000000000000" charset="-122"/>
                        </a:rPr>
                        <a:t>D</a:t>
                      </a:r>
                      <a:endParaRPr lang="en-US" altLang="zh-CN"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PA8/PA4</a:t>
                      </a:r>
                      <a:r>
                        <a:rPr lang="zh-CN" altLang="en-US" sz="1000">
                          <a:latin typeface="MiSans Normal" panose="00000500000000000000" charset="-122"/>
                          <a:ea typeface="MiSans Normal" panose="00000500000000000000" charset="-122"/>
                          <a:cs typeface="MiSans Normal" panose="00000500000000000000" charset="-122"/>
                        </a:rPr>
                        <a:t>软件正交解码</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TIM6 50kHz</a:t>
                      </a:r>
                      <a:r>
                        <a:rPr lang="zh-CN" altLang="en-US" sz="1000">
                          <a:latin typeface="MiSans Normal" panose="00000500000000000000" charset="-122"/>
                          <a:ea typeface="MiSans Normal" panose="00000500000000000000" charset="-122"/>
                          <a:cs typeface="MiSans Normal" panose="00000500000000000000" charset="-122"/>
                        </a:rPr>
                        <a:t>中断轮询，正交解码表驱动</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r>
              <a:tr h="336550">
                <a:tc>
                  <a:txBody>
                    <a:bodyPr/>
                    <a:p>
                      <a:pPr algn="ctr">
                        <a:lnSpc>
                          <a:spcPct val="114000"/>
                        </a:lnSpc>
                        <a:spcBef>
                          <a:spcPct val="0"/>
                        </a:spcBef>
                        <a:spcAft>
                          <a:spcPct val="0"/>
                        </a:spcAft>
                      </a:pPr>
                      <a:r>
                        <a:rPr lang="zh-CN" sz="1000">
                          <a:latin typeface="MiSans Normal" panose="00000500000000000000" charset="-122"/>
                          <a:ea typeface="MiSans Normal" panose="00000500000000000000" charset="-122"/>
                        </a:rPr>
                        <a:t>角位移传感器</a:t>
                      </a:r>
                      <a:endParaRPr lang="zh-CN" sz="1000">
                        <a:latin typeface="MiSans Normal" panose="00000500000000000000" charset="-122"/>
                        <a:ea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WDD35D4</a:t>
                      </a:r>
                      <a:r>
                        <a:rPr lang="zh-CN" altLang="en-US" sz="1000">
                          <a:latin typeface="MiSans Normal" panose="00000500000000000000" charset="-122"/>
                          <a:ea typeface="MiSans Normal" panose="00000500000000000000" charset="-122"/>
                          <a:cs typeface="MiSans Normal" panose="00000500000000000000" charset="-122"/>
                        </a:rPr>
                        <a:t>（新增）</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PC4(ADC1_CH14)</a:t>
                      </a:r>
                      <a:r>
                        <a:rPr lang="zh-CN" altLang="en-US" sz="1000">
                          <a:latin typeface="MiSans Normal" panose="00000500000000000000" charset="-122"/>
                          <a:ea typeface="MiSans Normal" panose="00000500000000000000" charset="-122"/>
                          <a:cs typeface="MiSans Normal" panose="00000500000000000000" charset="-122"/>
                        </a:rPr>
                        <a:t>，</a:t>
                      </a:r>
                      <a:r>
                        <a:rPr lang="en-US" altLang="zh-CN" sz="1000">
                          <a:latin typeface="MiSans Normal" panose="00000500000000000000" charset="-122"/>
                          <a:ea typeface="MiSans Normal" panose="00000500000000000000" charset="-122"/>
                          <a:cs typeface="MiSans Normal" panose="00000500000000000000" charset="-122"/>
                        </a:rPr>
                        <a:t>0~340°</a:t>
                      </a:r>
                      <a:r>
                        <a:rPr lang="zh-CN" altLang="en-US" sz="1000">
                          <a:latin typeface="MiSans Normal" panose="00000500000000000000" charset="-122"/>
                          <a:ea typeface="MiSans Normal" panose="00000500000000000000" charset="-122"/>
                          <a:cs typeface="MiSans Normal" panose="00000500000000000000" charset="-122"/>
                        </a:rPr>
                        <a:t>模拟量程</a:t>
                      </a:r>
                      <a:endParaRPr lang="zh-CN" altLang="en-US"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r>
              <a:tr h="336550">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rPr>
                        <a:t>LCD</a:t>
                      </a:r>
                      <a:endParaRPr lang="en-US" altLang="zh-CN" sz="1000">
                        <a:latin typeface="MiSans Normal" panose="00000500000000000000" charset="-122"/>
                        <a:ea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1.44</a:t>
                      </a:r>
                      <a:r>
                        <a:rPr lang="zh-CN" altLang="en-US" sz="1000">
                          <a:latin typeface="MiSans Normal" panose="00000500000000000000" charset="-122"/>
                          <a:ea typeface="MiSans Normal" panose="00000500000000000000" charset="-122"/>
                          <a:cs typeface="MiSans Normal" panose="00000500000000000000" charset="-122"/>
                        </a:rPr>
                        <a:t>寸</a:t>
                      </a:r>
                      <a:r>
                        <a:rPr lang="en-US" altLang="zh-CN" sz="1000">
                          <a:latin typeface="MiSans Normal" panose="00000500000000000000" charset="-122"/>
                          <a:ea typeface="MiSans Normal" panose="00000500000000000000" charset="-122"/>
                          <a:cs typeface="MiSans Normal" panose="00000500000000000000" charset="-122"/>
                        </a:rPr>
                        <a:t>128×128</a:t>
                      </a:r>
                      <a:r>
                        <a:rPr lang="zh-CN" altLang="en-US" sz="1000">
                          <a:latin typeface="MiSans Normal" panose="00000500000000000000" charset="-122"/>
                          <a:ea typeface="MiSans Normal" panose="00000500000000000000" charset="-122"/>
                          <a:cs typeface="MiSans Normal" panose="00000500000000000000" charset="-122"/>
                        </a:rPr>
                        <a:t>彩色</a:t>
                      </a:r>
                      <a:r>
                        <a:rPr lang="en-US" altLang="zh-CN" sz="1000">
                          <a:latin typeface="MiSans Normal" panose="00000500000000000000" charset="-122"/>
                          <a:ea typeface="MiSans Normal" panose="00000500000000000000" charset="-122"/>
                          <a:cs typeface="MiSans Normal" panose="00000500000000000000" charset="-122"/>
                        </a:rPr>
                        <a:t>LCD</a:t>
                      </a:r>
                      <a:endParaRPr lang="en-US" altLang="zh-CN"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cs typeface="MiSans Normal" panose="00000500000000000000" charset="-122"/>
                        </a:rPr>
                        <a:t>SPI</a:t>
                      </a:r>
                      <a:r>
                        <a:rPr lang="zh-CN" altLang="en-US" sz="1000">
                          <a:latin typeface="MiSans Normal" panose="00000500000000000000" charset="-122"/>
                          <a:ea typeface="MiSans Normal" panose="00000500000000000000" charset="-122"/>
                          <a:cs typeface="MiSans Normal" panose="00000500000000000000" charset="-122"/>
                        </a:rPr>
                        <a:t>接口，</a:t>
                      </a:r>
                      <a:r>
                        <a:rPr lang="en-US" altLang="zh-CN" sz="1000">
                          <a:latin typeface="MiSans Normal" panose="00000500000000000000" charset="-122"/>
                          <a:ea typeface="MiSans Normal" panose="00000500000000000000" charset="-122"/>
                          <a:cs typeface="MiSans Normal" panose="00000500000000000000" charset="-122"/>
                        </a:rPr>
                        <a:t>PB4~PB9</a:t>
                      </a:r>
                      <a:endParaRPr lang="en-US" altLang="zh-CN" sz="1000">
                        <a:latin typeface="MiSans Normal" panose="00000500000000000000" charset="-122"/>
                        <a:ea typeface="MiSans Normal" panose="00000500000000000000" charset="-122"/>
                        <a:cs typeface="MiSans Normal" panose="00000500000000000000" charset="-122"/>
                      </a:endParaRPr>
                    </a:p>
                  </a:txBody>
                  <a:tcPr marL="68580" marR="68580" marT="0" marB="0" anchor="ctr" anchorCtr="0"/>
                </a:tc>
              </a:tr>
              <a:tr h="336550">
                <a:tc>
                  <a:txBody>
                    <a:bodyPr/>
                    <a:p>
                      <a:pPr algn="ctr">
                        <a:lnSpc>
                          <a:spcPct val="114000"/>
                        </a:lnSpc>
                        <a:spcBef>
                          <a:spcPct val="0"/>
                        </a:spcBef>
                        <a:spcAft>
                          <a:spcPct val="0"/>
                        </a:spcAft>
                      </a:pPr>
                      <a:r>
                        <a:rPr lang="zh-CN" sz="1000">
                          <a:latin typeface="MiSans Normal" panose="00000500000000000000" charset="-122"/>
                          <a:ea typeface="MiSans Normal" panose="00000500000000000000" charset="-122"/>
                        </a:rPr>
                        <a:t>调试串口</a:t>
                      </a:r>
                      <a:endParaRPr lang="zh-CN" sz="1000">
                        <a:latin typeface="MiSans Normal" panose="00000500000000000000" charset="-122"/>
                        <a:ea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rPr>
                        <a:t>USART1 PA9/PA10</a:t>
                      </a:r>
                      <a:endParaRPr lang="en-US" altLang="zh-CN" sz="1000">
                        <a:latin typeface="MiSans Normal" panose="00000500000000000000" charset="-122"/>
                        <a:ea typeface="MiSans Normal" panose="00000500000000000000"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Normal" panose="00000500000000000000" charset="-122"/>
                          <a:ea typeface="MiSans Normal" panose="00000500000000000000" charset="-122"/>
                        </a:rPr>
                        <a:t>115200bps</a:t>
                      </a:r>
                      <a:endParaRPr lang="en-US" altLang="zh-CN" sz="1000">
                        <a:latin typeface="MiSans Normal" panose="00000500000000000000" charset="-122"/>
                        <a:ea typeface="MiSans Normal" panose="00000500000000000000" charset="-122"/>
                      </a:endParaRPr>
                    </a:p>
                  </a:txBody>
                  <a:tcPr marL="68580" marR="68580" marT="0" marB="0" anchor="ctr" anchorCtr="0"/>
                </a:tc>
              </a:tr>
            </a:tbl>
          </a:graphicData>
        </a:graphic>
      </p:graphicFrame>
      <p:sp>
        <p:nvSpPr>
          <p:cNvPr id="20" name="文本框 19"/>
          <p:cNvSpPr txBox="1"/>
          <p:nvPr/>
        </p:nvSpPr>
        <p:spPr>
          <a:xfrm>
            <a:off x="577215" y="5862320"/>
            <a:ext cx="10852785" cy="651510"/>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defTabSz="266700">
              <a:lnSpc>
                <a:spcPct val="114000"/>
              </a:lnSpc>
              <a:spcAft>
                <a:spcPts val="1000"/>
              </a:spcAft>
            </a:pPr>
            <a:r>
              <a:rPr lang="zh-CN" altLang="en-US" sz="1600">
                <a:latin typeface="MiSans" charset="-122"/>
                <a:ea typeface="MiSans" charset="-122"/>
                <a:cs typeface="MiSans" charset="-122"/>
              </a:rPr>
              <a:t>这套架构有两个致命局限：</a:t>
            </a:r>
            <a:r>
              <a:rPr lang="en-US" altLang="zh-CN" sz="1600">
                <a:latin typeface="MiSans" charset="-122"/>
                <a:ea typeface="MiSans" charset="-122"/>
                <a:cs typeface="MiSans" charset="-122"/>
              </a:rPr>
              <a:t>50ms</a:t>
            </a:r>
            <a:r>
              <a:rPr lang="zh-CN" altLang="en-US" sz="1600">
                <a:latin typeface="MiSans" charset="-122"/>
                <a:ea typeface="MiSans" charset="-122"/>
                <a:cs typeface="MiSans" charset="-122"/>
              </a:rPr>
              <a:t>控制周期远不足以应对倒立摆这种快系统（倒立摆的稳定时间常数在毫秒级）；单轮独立</a:t>
            </a:r>
            <a:r>
              <a:rPr lang="en-US" altLang="zh-CN" sz="1600">
                <a:latin typeface="MiSans" charset="-122"/>
                <a:ea typeface="MiSans" charset="-122"/>
                <a:cs typeface="MiSans" charset="-122"/>
              </a:rPr>
              <a:t>PI</a:t>
            </a:r>
            <a:r>
              <a:rPr lang="zh-CN" altLang="en-US" sz="1600">
                <a:latin typeface="MiSans" charset="-122"/>
                <a:ea typeface="MiSans" charset="-122"/>
                <a:cs typeface="MiSans" charset="-122"/>
              </a:rPr>
              <a:t>只能做速度伺服，完全无法处理姿态控制。</a:t>
            </a:r>
            <a:endParaRPr lang="zh-CN" altLang="en-US" sz="1600">
              <a:latin typeface="MiSans" charset="-122"/>
              <a:ea typeface="MiSans" charset="-122"/>
              <a:cs typeface="MiSans"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分层</a:t>
            </a:r>
            <a:r>
              <a:rPr lang="zh-CN" altLang="en-US" sz="2600" b="1" i="0" u="none" strike="noStrike">
                <a:solidFill>
                  <a:srgbClr val="0891B2"/>
                </a:solidFill>
                <a:latin typeface="MiSans" charset="-122"/>
                <a:ea typeface="MiSans" charset="-122"/>
                <a:cs typeface="MiSans" charset="-122"/>
                <a:sym typeface="MiSans" charset="-122"/>
              </a:rPr>
              <a:t>开发</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6" name="AutoShape 3"/>
          <p:cNvSpPr/>
          <p:nvPr/>
        </p:nvSpPr>
        <p:spPr>
          <a:xfrm>
            <a:off x="762000" y="1492885"/>
            <a:ext cx="50800" cy="381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4"/>
          <p:cNvSpPr/>
          <p:nvPr/>
        </p:nvSpPr>
        <p:spPr>
          <a:xfrm>
            <a:off x="965200" y="1454785"/>
            <a:ext cx="11176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F172A"/>
                </a:solidFill>
                <a:latin typeface="MiSans" charset="-122"/>
                <a:ea typeface="MiSans" charset="-122"/>
                <a:cs typeface="MiSans" charset="-122"/>
                <a:sym typeface="MiSans" charset="-122"/>
              </a:rPr>
              <a:t>关键迭代：D编码器 50ms轮询→50kHz中断</a:t>
            </a:r>
            <a:endParaRPr lang="en-US" sz="1100"/>
          </a:p>
        </p:txBody>
      </p:sp>
      <p:sp>
        <p:nvSpPr>
          <p:cNvPr id="8" name="AutoShape 5"/>
          <p:cNvSpPr/>
          <p:nvPr/>
        </p:nvSpPr>
        <p:spPr>
          <a:xfrm>
            <a:off x="762000" y="2089785"/>
            <a:ext cx="5080000" cy="4318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6"/>
          <p:cNvSpPr/>
          <p:nvPr/>
        </p:nvSpPr>
        <p:spPr>
          <a:xfrm>
            <a:off x="762000" y="2140585"/>
            <a:ext cx="50800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MiSans" charset="-122"/>
                <a:ea typeface="MiSans" charset="-122"/>
                <a:cs typeface="MiSans" charset="-122"/>
                <a:sym typeface="MiSans" charset="-122"/>
              </a:rPr>
              <a:t>BEFORE: 主循环轮询 50ms</a:t>
            </a:r>
            <a:endParaRPr lang="en-US" sz="1100"/>
          </a:p>
        </p:txBody>
      </p:sp>
      <p:sp>
        <p:nvSpPr>
          <p:cNvPr id="10" name="AutoShape 7"/>
          <p:cNvSpPr/>
          <p:nvPr/>
        </p:nvSpPr>
        <p:spPr>
          <a:xfrm>
            <a:off x="762000" y="2661285"/>
            <a:ext cx="5080000" cy="15875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8"/>
          <p:cNvSpPr/>
          <p:nvPr/>
        </p:nvSpPr>
        <p:spPr>
          <a:xfrm>
            <a:off x="762000" y="2661285"/>
            <a:ext cx="38100" cy="15875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9"/>
          <p:cNvSpPr/>
          <p:nvPr/>
        </p:nvSpPr>
        <p:spPr>
          <a:xfrm>
            <a:off x="939800" y="2762885"/>
            <a:ext cx="4724400" cy="14351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MiSans" charset="-122"/>
                <a:ea typeface="MiSans" charset="-122"/>
                <a:cs typeface="MiSans" charset="-122"/>
                <a:sym typeface="MiSans" charset="-122"/>
              </a:rPr>
              <a:t>// main() while(1)中50ms调一次:</a:t>
            </a:r>
            <a:endParaRPr lang="en-US" sz="1100"/>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Encoder_Soft_Poll();</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 全速时每个50ms可能产生上百</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 个脉冲跳变→丢失中间状态</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 →正交解码表无法跟踪</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 →读数0/-1</a:t>
            </a:r>
            <a:endParaRPr lang="en-US" sz="1100" b="0" i="0" u="none" strike="noStrike">
              <a:solidFill>
                <a:srgbClr val="0F172A"/>
              </a:solidFill>
              <a:latin typeface="MiSans" charset="-122"/>
              <a:ea typeface="MiSans" charset="-122"/>
              <a:cs typeface="MiSans" charset="-122"/>
              <a:sym typeface="MiSans" charset="-122"/>
            </a:endParaRPr>
          </a:p>
        </p:txBody>
      </p:sp>
      <p:sp>
        <p:nvSpPr>
          <p:cNvPr id="13" name="AutoShape 10"/>
          <p:cNvSpPr/>
          <p:nvPr/>
        </p:nvSpPr>
        <p:spPr>
          <a:xfrm>
            <a:off x="762000" y="4429125"/>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B91C1C"/>
                </a:solidFill>
                <a:latin typeface="MiSans" charset="-122"/>
                <a:ea typeface="MiSans" charset="-122"/>
                <a:cs typeface="MiSans" charset="-122"/>
                <a:sym typeface="MiSans" charset="-122"/>
              </a:rPr>
              <a:t>D编码器读数: ~300 (其他轮5000+)</a:t>
            </a:r>
            <a:endParaRPr lang="en-US" sz="1100"/>
          </a:p>
        </p:txBody>
      </p:sp>
      <p:sp>
        <p:nvSpPr>
          <p:cNvPr id="14" name="AutoShape 11"/>
          <p:cNvSpPr/>
          <p:nvPr/>
        </p:nvSpPr>
        <p:spPr>
          <a:xfrm>
            <a:off x="762000" y="4683125"/>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B91C1C"/>
                </a:solidFill>
                <a:latin typeface="MiSans" charset="-122"/>
                <a:ea typeface="MiSans" charset="-122"/>
                <a:cs typeface="MiSans" charset="-122"/>
                <a:sym typeface="MiSans" charset="-122"/>
              </a:rPr>
              <a:t>→ 速度估计误差 &gt; 90%</a:t>
            </a:r>
            <a:endParaRPr lang="en-US" sz="1100"/>
          </a:p>
        </p:txBody>
      </p:sp>
      <p:sp>
        <p:nvSpPr>
          <p:cNvPr id="15" name="AutoShape 12"/>
          <p:cNvSpPr/>
          <p:nvPr/>
        </p:nvSpPr>
        <p:spPr>
          <a:xfrm>
            <a:off x="6096000" y="2153285"/>
            <a:ext cx="10668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A56DB"/>
                </a:solidFill>
                <a:latin typeface="MiSans" charset="-122"/>
                <a:ea typeface="MiSans" charset="-122"/>
                <a:cs typeface="MiSans" charset="-122"/>
                <a:sym typeface="MiSans" charset="-122"/>
              </a:rPr>
              <a:t>→ 改进</a:t>
            </a:r>
            <a:endParaRPr lang="en-US" sz="1100"/>
          </a:p>
        </p:txBody>
      </p:sp>
      <p:sp>
        <p:nvSpPr>
          <p:cNvPr id="16" name="AutoShape 13"/>
          <p:cNvSpPr/>
          <p:nvPr/>
        </p:nvSpPr>
        <p:spPr>
          <a:xfrm>
            <a:off x="6350000" y="2089785"/>
            <a:ext cx="5334000" cy="431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4"/>
          <p:cNvSpPr/>
          <p:nvPr/>
        </p:nvSpPr>
        <p:spPr>
          <a:xfrm>
            <a:off x="6350000" y="2140585"/>
            <a:ext cx="53340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MiSans" charset="-122"/>
                <a:ea typeface="MiSans" charset="-122"/>
                <a:cs typeface="MiSans" charset="-122"/>
                <a:sym typeface="MiSans" charset="-122"/>
              </a:rPr>
              <a:t>AFTER: TIM6 50kHz中断轮询</a:t>
            </a:r>
            <a:endParaRPr lang="en-US" sz="1100"/>
          </a:p>
        </p:txBody>
      </p:sp>
      <p:sp>
        <p:nvSpPr>
          <p:cNvPr id="18" name="AutoShape 15"/>
          <p:cNvSpPr/>
          <p:nvPr/>
        </p:nvSpPr>
        <p:spPr>
          <a:xfrm>
            <a:off x="6350000" y="2661285"/>
            <a:ext cx="5334000" cy="1778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16"/>
          <p:cNvSpPr/>
          <p:nvPr/>
        </p:nvSpPr>
        <p:spPr>
          <a:xfrm>
            <a:off x="6350000" y="2661285"/>
            <a:ext cx="38100" cy="1778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17"/>
          <p:cNvSpPr/>
          <p:nvPr/>
        </p:nvSpPr>
        <p:spPr>
          <a:xfrm>
            <a:off x="6527800" y="2762885"/>
            <a:ext cx="4978400" cy="1625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MiSans" charset="-122"/>
                <a:ea typeface="MiSans" charset="-122"/>
                <a:cs typeface="MiSans" charset="-122"/>
                <a:sym typeface="MiSans" charset="-122"/>
              </a:rPr>
              <a:t>// TIM6: 72MHz/72=1MHz, 周期20→50kHz</a:t>
            </a:r>
            <a:endParaRPr lang="en-US" sz="1100"/>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void TIM6_IRQHandler(void) {</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Encoder_Soft_Poll(); // 0.02ms一次</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 正交解码表(16状态)驱动:</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static const int8_t quad_table[16]</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={0,+1,-1,0,-1,0,0,+1,</a:t>
            </a:r>
            <a:endParaRPr lang="en-US" sz="1100" b="0" i="0" u="none" strike="noStrike">
              <a:solidFill>
                <a:srgbClr val="0F172A"/>
              </a:solidFill>
              <a:latin typeface="MiSans" charset="-122"/>
              <a:ea typeface="MiSans" charset="-122"/>
              <a:cs typeface="MiSans" charset="-122"/>
              <a:sym typeface="MiSans" charset="-122"/>
            </a:endParaRPr>
          </a:p>
          <a:p>
            <a:pPr marL="0" indent="0" algn="l">
              <a:lnSpc>
                <a:spcPct val="92000"/>
              </a:lnSpc>
            </a:pPr>
            <a:r>
              <a:rPr lang="en-US" sz="1100" b="0" i="0" u="none" strike="noStrike">
                <a:solidFill>
                  <a:srgbClr val="0F172A"/>
                </a:solidFill>
                <a:latin typeface="MiSans" charset="-122"/>
                <a:ea typeface="MiSans" charset="-122"/>
                <a:cs typeface="MiSans" charset="-122"/>
                <a:sym typeface="MiSans" charset="-122"/>
              </a:rPr>
              <a:t>+1,0,0,-1,0,-1,+1,0};</a:t>
            </a:r>
            <a:endParaRPr lang="en-US" sz="1100" b="0" i="0" u="none" strike="noStrike">
              <a:solidFill>
                <a:srgbClr val="0F172A"/>
              </a:solidFill>
              <a:latin typeface="MiSans" charset="-122"/>
              <a:ea typeface="MiSans" charset="-122"/>
              <a:cs typeface="MiSans" charset="-122"/>
              <a:sym typeface="MiSans" charset="-122"/>
            </a:endParaRPr>
          </a:p>
        </p:txBody>
      </p:sp>
      <p:sp>
        <p:nvSpPr>
          <p:cNvPr id="23" name="AutoShape 18"/>
          <p:cNvSpPr/>
          <p:nvPr/>
        </p:nvSpPr>
        <p:spPr>
          <a:xfrm>
            <a:off x="6388100" y="4578985"/>
            <a:ext cx="533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5803D"/>
                </a:solidFill>
                <a:latin typeface="MiSans" charset="-122"/>
                <a:ea typeface="MiSans" charset="-122"/>
                <a:cs typeface="MiSans" charset="-122"/>
                <a:sym typeface="MiSans" charset="-122"/>
              </a:rPr>
              <a:t>D编码器读数: 3000+ (与其他轮持平)</a:t>
            </a:r>
            <a:endParaRPr lang="en-US" sz="1100"/>
          </a:p>
        </p:txBody>
      </p:sp>
      <p:sp>
        <p:nvSpPr>
          <p:cNvPr id="24" name="AutoShape 19"/>
          <p:cNvSpPr/>
          <p:nvPr/>
        </p:nvSpPr>
        <p:spPr>
          <a:xfrm>
            <a:off x="6388100" y="4832985"/>
            <a:ext cx="533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5803D"/>
                </a:solidFill>
                <a:latin typeface="MiSans" charset="-122"/>
                <a:ea typeface="MiSans" charset="-122"/>
                <a:cs typeface="MiSans" charset="-122"/>
                <a:sym typeface="MiSans" charset="-122"/>
              </a:rPr>
              <a:t>→ 速度估计可靠 → PID控制有效</a:t>
            </a:r>
            <a:endParaRPr lang="en-US" sz="1100"/>
          </a:p>
        </p:txBody>
      </p:sp>
      <p:sp>
        <p:nvSpPr>
          <p:cNvPr id="25" name="AutoShape 20"/>
          <p:cNvSpPr/>
          <p:nvPr/>
        </p:nvSpPr>
        <p:spPr>
          <a:xfrm>
            <a:off x="762000" y="5480685"/>
            <a:ext cx="10922000" cy="8001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0F172A"/>
                </a:solidFill>
                <a:latin typeface="MiSans" charset="-122"/>
                <a:ea typeface="MiSans" charset="-122"/>
                <a:cs typeface="MiSans" charset="-122"/>
                <a:sym typeface="MiSans" charset="-122"/>
              </a:rPr>
              <a:t>提升原理：正交编码器输出两路方波(A/B相)相位差90°。正交解码表需要捕获每次电平跳变。50ms轮询在高速时会漏掉中间跳变，表内状态索引错误→计数丢失。50kHz(0.02ms)轮询保证最高转速下也能捕获每次跳变。</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分层</a:t>
            </a:r>
            <a:r>
              <a:rPr lang="zh-CN" altLang="en-US" sz="2600" b="1" i="0" u="none" strike="noStrike">
                <a:solidFill>
                  <a:srgbClr val="0891B2"/>
                </a:solidFill>
                <a:latin typeface="MiSans" charset="-122"/>
                <a:ea typeface="MiSans" charset="-122"/>
                <a:cs typeface="MiSans" charset="-122"/>
                <a:sym typeface="MiSans" charset="-122"/>
              </a:rPr>
              <a:t>开发</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4"/>
          <p:cNvSpPr/>
          <p:nvPr/>
        </p:nvSpPr>
        <p:spPr>
          <a:xfrm>
            <a:off x="786765" y="1223645"/>
            <a:ext cx="898207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a:latin typeface="MiSans" charset="-122"/>
                <a:ea typeface="MiSans" charset="-122"/>
                <a:cs typeface="MiSans" charset="-122"/>
              </a:rPr>
              <a:t>小车四轮控制测试完毕后</a:t>
            </a:r>
            <a:r>
              <a:rPr lang="zh-CN" altLang="en-US" sz="1600">
                <a:latin typeface="MiSans" charset="-122"/>
                <a:ea typeface="MiSans" charset="-122"/>
                <a:cs typeface="MiSans" charset="-122"/>
              </a:rPr>
              <a:t>开始角位移传感器集成</a:t>
            </a:r>
            <a:endParaRPr lang="zh-CN" altLang="en-US" sz="1600">
              <a:latin typeface="MiSans" charset="-122"/>
              <a:ea typeface="MiSans" charset="-122"/>
              <a:cs typeface="MiSans" charset="-122"/>
            </a:endParaRPr>
          </a:p>
        </p:txBody>
      </p:sp>
      <p:sp>
        <p:nvSpPr>
          <p:cNvPr id="5" name="文本框 4"/>
          <p:cNvSpPr txBox="1"/>
          <p:nvPr/>
        </p:nvSpPr>
        <p:spPr>
          <a:xfrm>
            <a:off x="1012190" y="2170430"/>
            <a:ext cx="10167620" cy="275590"/>
          </a:xfrm>
          <a:prstGeom prst="rect">
            <a:avLst/>
          </a:prstGeom>
        </p:spPr>
        <p:txBody>
          <a:bodyPr wrap="square">
            <a:spAutoFit/>
          </a:bodyPr>
          <a:p>
            <a:pPr defTabSz="266700"/>
            <a:r>
              <a:rPr lang="en-US" altLang="zh-CN" sz="1200">
                <a:latin typeface="MiSans" charset="-122"/>
                <a:ea typeface="MiSans" charset="-122"/>
                <a:cs typeface="MiSans" charset="-122"/>
              </a:rPr>
              <a:t>WDD35D4</a:t>
            </a:r>
            <a:r>
              <a:rPr lang="zh-CN" altLang="en-US" sz="1200">
                <a:latin typeface="MiSans" charset="-122"/>
                <a:ea typeface="MiSans" charset="-122"/>
                <a:cs typeface="MiSans" charset="-122"/>
              </a:rPr>
              <a:t>通过</a:t>
            </a:r>
            <a:r>
              <a:rPr lang="en-US" altLang="zh-CN" sz="1200">
                <a:latin typeface="MiSans" charset="-122"/>
                <a:ea typeface="MiSans" charset="-122"/>
                <a:cs typeface="MiSans" charset="-122"/>
              </a:rPr>
              <a:t>PC4(ADC1_CH14)</a:t>
            </a:r>
            <a:r>
              <a:rPr lang="zh-CN" altLang="en-US" sz="1200">
                <a:latin typeface="MiSans" charset="-122"/>
                <a:ea typeface="MiSans" charset="-122"/>
                <a:cs typeface="MiSans" charset="-122"/>
              </a:rPr>
              <a:t>接入。传感器输出</a:t>
            </a:r>
            <a:r>
              <a:rPr lang="en-US" altLang="zh-CN" sz="1200">
                <a:latin typeface="MiSans" charset="-122"/>
                <a:ea typeface="MiSans" charset="-122"/>
                <a:cs typeface="MiSans" charset="-122"/>
              </a:rPr>
              <a:t>0~3.3V</a:t>
            </a:r>
            <a:r>
              <a:rPr lang="zh-CN" altLang="en-US" sz="1200">
                <a:latin typeface="MiSans" charset="-122"/>
                <a:ea typeface="MiSans" charset="-122"/>
                <a:cs typeface="MiSans" charset="-122"/>
              </a:rPr>
              <a:t>模拟电压，量程约</a:t>
            </a:r>
            <a:r>
              <a:rPr lang="en-US" altLang="zh-CN" sz="1200">
                <a:latin typeface="MiSans" charset="-122"/>
                <a:ea typeface="MiSans" charset="-122"/>
                <a:cs typeface="MiSans" charset="-122"/>
              </a:rPr>
              <a:t>0~340°</a:t>
            </a:r>
            <a:r>
              <a:rPr lang="zh-CN" altLang="en-US" sz="1200">
                <a:latin typeface="MiSans" charset="-122"/>
                <a:ea typeface="MiSans" charset="-122"/>
                <a:cs typeface="MiSans" charset="-122"/>
              </a:rPr>
              <a:t>。采样后通过以下公式换算为百分度（</a:t>
            </a:r>
            <a:r>
              <a:rPr lang="en-US" altLang="zh-CN" sz="1200">
                <a:latin typeface="MiSans" charset="-122"/>
                <a:ea typeface="MiSans" charset="-122"/>
                <a:cs typeface="MiSans" charset="-122"/>
              </a:rPr>
              <a:t>1°=100</a:t>
            </a:r>
            <a:r>
              <a:rPr lang="zh-CN" altLang="en-US" sz="1200">
                <a:latin typeface="MiSans" charset="-122"/>
                <a:ea typeface="MiSans" charset="-122"/>
                <a:cs typeface="MiSans" charset="-122"/>
              </a:rPr>
              <a:t>单位）：</a:t>
            </a:r>
            <a:endParaRPr lang="zh-CN" altLang="en-US" sz="1200">
              <a:latin typeface="MiSans" charset="-122"/>
              <a:ea typeface="MiSans" charset="-122"/>
              <a:cs typeface="MiSans" charset="-122"/>
            </a:endParaRPr>
          </a:p>
        </p:txBody>
      </p:sp>
      <p:sp>
        <p:nvSpPr>
          <p:cNvPr id="6" name="矩形 5"/>
          <p:cNvSpPr/>
          <p:nvPr/>
        </p:nvSpPr>
        <p:spPr>
          <a:xfrm>
            <a:off x="1542415" y="2515235"/>
            <a:ext cx="8399780" cy="788670"/>
          </a:xfrm>
          <a:prstGeom prst="rect">
            <a:avLst/>
          </a:prstGeom>
          <a:solidFill>
            <a:schemeClr val="tx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20000"/>
              </a:lnSpc>
            </a:pPr>
            <a:r>
              <a:rPr lang="en-US" altLang="zh-CN">
                <a:latin typeface="MiSans" charset="-122"/>
                <a:ea typeface="MiSans" charset="-122"/>
                <a:cs typeface="MiSans" charset="-122"/>
              </a:rPr>
              <a:t>angle_adc = Get_adc(ADC_Channel_14);  // 12-bit ADC，0~4095</a:t>
            </a:r>
            <a:endParaRPr lang="en-US" altLang="zh-CN">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angle_x100 = ((int)angle_adc - zero_offset) × 34000 / 4096;</a:t>
            </a:r>
            <a:endParaRPr lang="en-US" altLang="zh-CN">
              <a:latin typeface="MiSans" charset="-122"/>
              <a:ea typeface="MiSans" charset="-122"/>
              <a:cs typeface="MiSans" charset="-122"/>
            </a:endParaRPr>
          </a:p>
        </p:txBody>
      </p:sp>
      <p:sp>
        <p:nvSpPr>
          <p:cNvPr id="7" name="文本框 6"/>
          <p:cNvSpPr txBox="1"/>
          <p:nvPr/>
        </p:nvSpPr>
        <p:spPr>
          <a:xfrm>
            <a:off x="762000" y="1731645"/>
            <a:ext cx="2156460" cy="337185"/>
          </a:xfrm>
          <a:prstGeom prst="rect">
            <a:avLst/>
          </a:prstGeom>
        </p:spPr>
        <p:style>
          <a:lnRef idx="0">
            <a:srgbClr val="FFFFFF"/>
          </a:lnRef>
          <a:fillRef idx="2">
            <a:schemeClr val="accent1"/>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硬件接入与角度换算</a:t>
            </a:r>
            <a:endParaRPr lang="zh-CN" altLang="en-US" sz="1600">
              <a:solidFill>
                <a:srgbClr val="003366"/>
              </a:solidFill>
              <a:latin typeface="MiSans Medium" panose="00000600000000000000" charset="-122"/>
              <a:ea typeface="MiSans Medium" panose="00000600000000000000" charset="-122"/>
            </a:endParaRPr>
          </a:p>
        </p:txBody>
      </p:sp>
      <p:sp>
        <p:nvSpPr>
          <p:cNvPr id="8" name="文本框 7"/>
          <p:cNvSpPr txBox="1"/>
          <p:nvPr/>
        </p:nvSpPr>
        <p:spPr>
          <a:xfrm>
            <a:off x="762000" y="3456305"/>
            <a:ext cx="2156460" cy="337185"/>
          </a:xfrm>
          <a:prstGeom prst="rect">
            <a:avLst/>
          </a:prstGeom>
        </p:spPr>
        <p:style>
          <a:lnRef idx="0">
            <a:srgbClr val="FFFFFF"/>
          </a:lnRef>
          <a:fillRef idx="2">
            <a:schemeClr val="accent1"/>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按键调零</a:t>
            </a:r>
            <a:endParaRPr lang="zh-CN" altLang="en-US" sz="1600">
              <a:solidFill>
                <a:srgbClr val="003366"/>
              </a:solidFill>
              <a:latin typeface="MiSans Medium" panose="00000600000000000000" charset="-122"/>
              <a:ea typeface="MiSans Medium" panose="00000600000000000000" charset="-122"/>
            </a:endParaRPr>
          </a:p>
        </p:txBody>
      </p:sp>
      <p:sp>
        <p:nvSpPr>
          <p:cNvPr id="9" name="文本框 8"/>
          <p:cNvSpPr txBox="1"/>
          <p:nvPr/>
        </p:nvSpPr>
        <p:spPr>
          <a:xfrm>
            <a:off x="1012190" y="3945890"/>
            <a:ext cx="8335010" cy="275590"/>
          </a:xfrm>
          <a:prstGeom prst="rect">
            <a:avLst/>
          </a:prstGeom>
        </p:spPr>
        <p:txBody>
          <a:bodyPr wrap="square">
            <a:spAutoFit/>
          </a:bodyPr>
          <a:p>
            <a:pPr lvl="0" algn="l" defTabSz="266700">
              <a:buSzTx/>
            </a:pPr>
            <a:r>
              <a:rPr lang="en-US" altLang="zh-CN" sz="1200">
                <a:latin typeface="MiSans" charset="-122"/>
                <a:ea typeface="MiSans" charset="-122"/>
                <a:cs typeface="MiSans" charset="-122"/>
                <a:sym typeface="+mn-ea"/>
              </a:rPr>
              <a:t>最早只支持串口发送字符</a:t>
            </a:r>
            <a:r>
              <a:rPr lang="en-US" altLang="zh-CN" sz="1200">
                <a:latin typeface="MiSans" charset="-122"/>
                <a:ea typeface="MiSans" charset="-122"/>
                <a:cs typeface="MiSans" charset="-122"/>
                <a:sym typeface="+mn-ea"/>
              </a:rPr>
              <a:t>z</a:t>
            </a:r>
            <a:r>
              <a:rPr lang="en-US" altLang="zh-CN" sz="1200">
                <a:latin typeface="MiSans" charset="-122"/>
                <a:ea typeface="MiSans" charset="-122"/>
                <a:cs typeface="MiSans" charset="-122"/>
                <a:sym typeface="+mn-ea"/>
              </a:rPr>
              <a:t>调零，实验中极为不便。</a:t>
            </a:r>
            <a:r>
              <a:rPr lang="zh-CN" altLang="en-US" sz="1200">
                <a:latin typeface="MiSans" charset="-122"/>
                <a:ea typeface="MiSans" charset="-122"/>
                <a:cs typeface="MiSans" charset="-122"/>
                <a:sym typeface="+mn-ea"/>
              </a:rPr>
              <a:t>每次杆倒下砸向底面可能导致杆与转轴偏移，因此采取每次</a:t>
            </a:r>
            <a:r>
              <a:rPr lang="zh-CN" altLang="en-US" sz="1200">
                <a:latin typeface="MiSans" charset="-122"/>
                <a:ea typeface="MiSans" charset="-122"/>
                <a:cs typeface="MiSans" charset="-122"/>
                <a:sym typeface="+mn-ea"/>
              </a:rPr>
              <a:t>调零。</a:t>
            </a:r>
            <a:endParaRPr lang="zh-CN" altLang="en-US" sz="1200">
              <a:latin typeface="MiSans" charset="-122"/>
              <a:ea typeface="MiSans" charset="-122"/>
              <a:cs typeface="MiSans" charset="-122"/>
              <a:sym typeface="+mn-ea"/>
            </a:endParaRPr>
          </a:p>
        </p:txBody>
      </p:sp>
      <p:sp>
        <p:nvSpPr>
          <p:cNvPr id="10" name="文本框 9"/>
          <p:cNvSpPr txBox="1"/>
          <p:nvPr/>
        </p:nvSpPr>
        <p:spPr>
          <a:xfrm>
            <a:off x="3045460" y="4373880"/>
            <a:ext cx="6101080" cy="337185"/>
          </a:xfrm>
          <a:prstGeom prst="rect">
            <a:avLst/>
          </a:prstGeom>
        </p:spPr>
        <p:txBody>
          <a:bodyPr wrap="square">
            <a:spAutoFit/>
          </a:bodyPr>
          <a:p>
            <a:pPr defTabSz="266700"/>
            <a:r>
              <a:rPr lang="en-US" altLang="zh-CN" sz="1600">
                <a:solidFill>
                  <a:schemeClr val="accent5"/>
                </a:solidFill>
                <a:latin typeface="MiSans" charset="-122"/>
                <a:ea typeface="MiSans" charset="-122"/>
                <a:cs typeface="MiSans" charset="-122"/>
              </a:rPr>
              <a:t>KEY2=PC8 → </a:t>
            </a:r>
            <a:r>
              <a:rPr lang="zh-CN" altLang="en-US" sz="1600">
                <a:solidFill>
                  <a:schemeClr val="accent5"/>
                </a:solidFill>
                <a:latin typeface="MiSans" charset="-122"/>
                <a:ea typeface="MiSans" charset="-122"/>
                <a:cs typeface="MiSans" charset="-122"/>
              </a:rPr>
              <a:t>调零并启动平衡 </a:t>
            </a:r>
            <a:r>
              <a:rPr lang="en-US" altLang="zh-CN" sz="1600">
                <a:solidFill>
                  <a:schemeClr val="accent5"/>
                </a:solidFill>
                <a:latin typeface="MiSans" charset="-122"/>
                <a:ea typeface="MiSans" charset="-122"/>
                <a:cs typeface="MiSans" charset="-122"/>
              </a:rPr>
              <a:t>  KEY3=PC9 → </a:t>
            </a:r>
            <a:r>
              <a:rPr lang="zh-CN" altLang="en-US" sz="1600">
                <a:solidFill>
                  <a:schemeClr val="accent5"/>
                </a:solidFill>
                <a:latin typeface="MiSans" charset="-122"/>
                <a:ea typeface="MiSans" charset="-122"/>
                <a:cs typeface="MiSans" charset="-122"/>
              </a:rPr>
              <a:t>停止平衡输出</a:t>
            </a:r>
            <a:endParaRPr lang="zh-CN" altLang="en-US" sz="1600">
              <a:solidFill>
                <a:schemeClr val="accent5"/>
              </a:solidFill>
              <a:latin typeface="MiSans" charset="-122"/>
              <a:ea typeface="MiSans" charset="-122"/>
              <a:cs typeface="MiSans" charset="-122"/>
            </a:endParaRPr>
          </a:p>
        </p:txBody>
      </p:sp>
      <p:sp>
        <p:nvSpPr>
          <p:cNvPr id="11" name="文本框 10"/>
          <p:cNvSpPr txBox="1"/>
          <p:nvPr/>
        </p:nvSpPr>
        <p:spPr>
          <a:xfrm>
            <a:off x="762000" y="4863465"/>
            <a:ext cx="2156460" cy="337185"/>
          </a:xfrm>
          <a:prstGeom prst="rect">
            <a:avLst/>
          </a:prstGeom>
        </p:spPr>
        <p:style>
          <a:lnRef idx="0">
            <a:srgbClr val="FFFFFF"/>
          </a:lnRef>
          <a:fillRef idx="2">
            <a:schemeClr val="accent1"/>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滤波方案</a:t>
            </a:r>
            <a:endParaRPr lang="zh-CN" altLang="en-US" sz="1600">
              <a:solidFill>
                <a:srgbClr val="003366"/>
              </a:solidFill>
              <a:latin typeface="MiSans Medium" panose="00000600000000000000" charset="-122"/>
              <a:ea typeface="MiSans Medium" panose="00000600000000000000" charset="-122"/>
            </a:endParaRPr>
          </a:p>
        </p:txBody>
      </p:sp>
      <p:sp>
        <p:nvSpPr>
          <p:cNvPr id="12" name="文本框 11"/>
          <p:cNvSpPr txBox="1"/>
          <p:nvPr/>
        </p:nvSpPr>
        <p:spPr>
          <a:xfrm>
            <a:off x="1012190" y="5422900"/>
            <a:ext cx="9045575" cy="645160"/>
          </a:xfrm>
          <a:prstGeom prst="rect">
            <a:avLst/>
          </a:prstGeom>
        </p:spPr>
        <p:txBody>
          <a:bodyPr wrap="square">
            <a:spAutoFit/>
          </a:bodyPr>
          <a:p>
            <a:pPr lvl="0" algn="l" defTabSz="266700">
              <a:buSzTx/>
            </a:pPr>
            <a:r>
              <a:rPr lang="zh-CN" altLang="en-US" sz="1200">
                <a:latin typeface="MiSans" charset="-122"/>
                <a:ea typeface="MiSans" charset="-122"/>
                <a:cs typeface="MiSans" charset="-122"/>
                <a:sym typeface="+mn-ea"/>
              </a:rPr>
              <a:t>引入了</a:t>
            </a:r>
            <a:r>
              <a:rPr lang="en-US" altLang="zh-CN" sz="1200">
                <a:latin typeface="MiSans" charset="-122"/>
                <a:ea typeface="MiSans" charset="-122"/>
                <a:cs typeface="MiSans" charset="-122"/>
                <a:sym typeface="+mn-ea"/>
              </a:rPr>
              <a:t>卡尔曼滤波器和一阶互补滤波器（</a:t>
            </a:r>
            <a:r>
              <a:rPr lang="en-US" altLang="zh-CN" sz="1200">
                <a:latin typeface="MiSans" charset="-122"/>
                <a:ea typeface="MiSans" charset="-122"/>
                <a:cs typeface="MiSans" charset="-122"/>
                <a:sym typeface="+mn-ea"/>
              </a:rPr>
              <a:t>HAREWER/FILTER/filter.c</a:t>
            </a:r>
            <a:r>
              <a:rPr lang="en-US" altLang="zh-CN" sz="1200">
                <a:latin typeface="MiSans" charset="-122"/>
                <a:ea typeface="MiSans" charset="-122"/>
                <a:cs typeface="MiSans" charset="-122"/>
                <a:sym typeface="+mn-ea"/>
              </a:rPr>
              <a:t>）。</a:t>
            </a:r>
            <a:endParaRPr lang="en-US" altLang="zh-CN" sz="1200">
              <a:latin typeface="MiSans" charset="-122"/>
              <a:ea typeface="MiSans" charset="-122"/>
              <a:cs typeface="MiSans" charset="-122"/>
              <a:sym typeface="+mn-ea"/>
            </a:endParaRPr>
          </a:p>
          <a:p>
            <a:pPr lvl="0" algn="l" defTabSz="266700">
              <a:buSzTx/>
            </a:pPr>
            <a:r>
              <a:rPr lang="en-US" altLang="zh-CN" sz="1200">
                <a:latin typeface="MiSans" charset="-122"/>
                <a:ea typeface="MiSans" charset="-122"/>
                <a:cs typeface="MiSans" charset="-122"/>
                <a:sym typeface="+mn-ea"/>
              </a:rPr>
              <a:t>但在实际平衡控制中并未直接使用</a:t>
            </a:r>
            <a:r>
              <a:rPr lang="en-US" altLang="zh-CN" sz="1200">
                <a:latin typeface="MiSans" charset="-122"/>
                <a:ea typeface="MiSans" charset="-122"/>
                <a:cs typeface="MiSans" charset="-122"/>
                <a:sym typeface="+mn-ea"/>
              </a:rPr>
              <a:t>——</a:t>
            </a:r>
            <a:r>
              <a:rPr lang="en-US" altLang="zh-CN" sz="1200">
                <a:latin typeface="MiSans" charset="-122"/>
                <a:ea typeface="MiSans" charset="-122"/>
                <a:cs typeface="MiSans" charset="-122"/>
                <a:sym typeface="+mn-ea"/>
              </a:rPr>
              <a:t>因为卡尔曼滤波的相位延迟在</a:t>
            </a:r>
            <a:r>
              <a:rPr lang="en-US" altLang="zh-CN" sz="1200">
                <a:latin typeface="MiSans" charset="-122"/>
                <a:ea typeface="MiSans" charset="-122"/>
                <a:cs typeface="MiSans" charset="-122"/>
                <a:sym typeface="+mn-ea"/>
              </a:rPr>
              <a:t>2ms</a:t>
            </a:r>
            <a:r>
              <a:rPr lang="en-US" altLang="zh-CN" sz="1200">
                <a:latin typeface="MiSans" charset="-122"/>
                <a:ea typeface="MiSans" charset="-122"/>
                <a:cs typeface="MiSans" charset="-122"/>
                <a:sym typeface="+mn-ea"/>
              </a:rPr>
              <a:t>级别的快速闭环中会引入额外控制滞后。</a:t>
            </a:r>
            <a:endParaRPr lang="en-US" altLang="zh-CN" sz="1200">
              <a:latin typeface="MiSans" charset="-122"/>
              <a:ea typeface="MiSans" charset="-122"/>
              <a:cs typeface="MiSans" charset="-122"/>
              <a:sym typeface="+mn-ea"/>
            </a:endParaRPr>
          </a:p>
          <a:p>
            <a:pPr lvl="0" algn="l" defTabSz="266700">
              <a:buSzTx/>
            </a:pPr>
            <a:r>
              <a:rPr lang="en-US" altLang="zh-CN" sz="1200">
                <a:latin typeface="MiSans" charset="-122"/>
                <a:ea typeface="MiSans" charset="-122"/>
                <a:cs typeface="MiSans" charset="-122"/>
                <a:sym typeface="+mn-ea"/>
              </a:rPr>
              <a:t>实际采用了两种更轻量的处理：速度滤波（</a:t>
            </a:r>
            <a:r>
              <a:rPr lang="en-US" altLang="zh-CN" sz="1200">
                <a:latin typeface="MiSans" charset="-122"/>
                <a:ea typeface="MiSans" charset="-122"/>
                <a:cs typeface="MiSans" charset="-122"/>
                <a:sym typeface="+mn-ea"/>
              </a:rPr>
              <a:t>(</a:t>
            </a:r>
            <a:r>
              <a:rPr lang="en-US" altLang="zh-CN" sz="1200">
                <a:latin typeface="MiSans" charset="-122"/>
                <a:ea typeface="MiSans" charset="-122"/>
                <a:cs typeface="MiSans" charset="-122"/>
                <a:sym typeface="+mn-ea"/>
              </a:rPr>
              <a:t>旧</a:t>
            </a:r>
            <a:r>
              <a:rPr lang="en-US" altLang="zh-CN" sz="1200">
                <a:latin typeface="MiSans" charset="-122"/>
                <a:ea typeface="MiSans" charset="-122"/>
                <a:cs typeface="MiSans" charset="-122"/>
                <a:sym typeface="+mn-ea"/>
              </a:rPr>
              <a:t>+</a:t>
            </a:r>
            <a:r>
              <a:rPr lang="en-US" altLang="zh-CN" sz="1200">
                <a:latin typeface="MiSans" charset="-122"/>
                <a:ea typeface="MiSans" charset="-122"/>
                <a:cs typeface="MiSans" charset="-122"/>
                <a:sym typeface="+mn-ea"/>
              </a:rPr>
              <a:t>新</a:t>
            </a:r>
            <a:r>
              <a:rPr lang="en-US" altLang="zh-CN" sz="1200">
                <a:latin typeface="MiSans" charset="-122"/>
                <a:ea typeface="MiSans" charset="-122"/>
                <a:cs typeface="MiSans" charset="-122"/>
                <a:sym typeface="+mn-ea"/>
              </a:rPr>
              <a:t>)/2</a:t>
            </a:r>
            <a:r>
              <a:rPr lang="en-US" altLang="zh-CN" sz="1200">
                <a:latin typeface="MiSans" charset="-122"/>
                <a:ea typeface="MiSans" charset="-122"/>
                <a:cs typeface="MiSans" charset="-122"/>
                <a:sym typeface="+mn-ea"/>
              </a:rPr>
              <a:t>一阶平滑）和差分角速度（</a:t>
            </a:r>
            <a:r>
              <a:rPr lang="en-US" altLang="zh-CN" sz="1200">
                <a:latin typeface="MiSans" charset="-122"/>
                <a:ea typeface="MiSans" charset="-122"/>
                <a:cs typeface="MiSans" charset="-122"/>
                <a:sym typeface="+mn-ea"/>
              </a:rPr>
              <a:t>(</a:t>
            </a:r>
            <a:r>
              <a:rPr lang="en-US" altLang="zh-CN" sz="1200">
                <a:latin typeface="MiSans" charset="-122"/>
                <a:ea typeface="MiSans" charset="-122"/>
                <a:cs typeface="MiSans" charset="-122"/>
                <a:sym typeface="+mn-ea"/>
              </a:rPr>
              <a:t>当前</a:t>
            </a:r>
            <a:r>
              <a:rPr lang="en-US" altLang="zh-CN" sz="1200">
                <a:latin typeface="MiSans" charset="-122"/>
                <a:ea typeface="MiSans" charset="-122"/>
                <a:cs typeface="MiSans" charset="-122"/>
                <a:sym typeface="+mn-ea"/>
              </a:rPr>
              <a:t>-</a:t>
            </a:r>
            <a:r>
              <a:rPr lang="en-US" altLang="zh-CN" sz="1200">
                <a:latin typeface="MiSans" charset="-122"/>
                <a:ea typeface="MiSans" charset="-122"/>
                <a:cs typeface="MiSans" charset="-122"/>
                <a:sym typeface="+mn-ea"/>
              </a:rPr>
              <a:t>上次</a:t>
            </a:r>
            <a:r>
              <a:rPr lang="en-US" altLang="zh-CN" sz="1200">
                <a:latin typeface="MiSans" charset="-122"/>
                <a:ea typeface="MiSans" charset="-122"/>
                <a:cs typeface="MiSans" charset="-122"/>
                <a:sym typeface="+mn-ea"/>
              </a:rPr>
              <a:t>)/dt</a:t>
            </a:r>
            <a:r>
              <a:rPr lang="en-US" altLang="zh-CN" sz="1200">
                <a:latin typeface="MiSans" charset="-122"/>
                <a:ea typeface="MiSans" charset="-122"/>
                <a:cs typeface="MiSans" charset="-122"/>
                <a:sym typeface="+mn-ea"/>
              </a:rPr>
              <a:t>，严格依赖定时中断的精确节拍）。</a:t>
            </a:r>
            <a:endParaRPr lang="en-US" altLang="zh-CN" sz="1200">
              <a:latin typeface="MiSans" charset="-122"/>
              <a:ea typeface="MiSans" charset="-122"/>
              <a:cs typeface="MiSans"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控制程序</a:t>
            </a:r>
            <a:r>
              <a:rPr lang="zh-CN" altLang="en-US" sz="2600" b="1" i="0" u="none" strike="noStrike">
                <a:solidFill>
                  <a:srgbClr val="0891B2"/>
                </a:solidFill>
                <a:latin typeface="MiSans" charset="-122"/>
                <a:ea typeface="MiSans" charset="-122"/>
                <a:cs typeface="MiSans" charset="-122"/>
                <a:sym typeface="MiSans" charset="-122"/>
              </a:rPr>
              <a:t>迭代</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4"/>
          <p:cNvSpPr/>
          <p:nvPr/>
        </p:nvSpPr>
        <p:spPr>
          <a:xfrm>
            <a:off x="762000" y="1689735"/>
            <a:ext cx="1024699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a:latin typeface="MiSans" charset="-122"/>
                <a:ea typeface="MiSans" charset="-122"/>
                <a:cs typeface="MiSans" charset="-122"/>
              </a:rPr>
              <a:t>采用了</a:t>
            </a:r>
            <a:r>
              <a:rPr lang="en-US" altLang="zh-CN" sz="1600">
                <a:latin typeface="MiSans" charset="-122"/>
                <a:ea typeface="MiSans" charset="-122"/>
                <a:cs typeface="MiSans" charset="-122"/>
              </a:rPr>
              <a:t>5ms</a:t>
            </a:r>
            <a:r>
              <a:rPr lang="zh-CN" altLang="en-US" sz="1600">
                <a:latin typeface="MiSans" charset="-122"/>
                <a:ea typeface="MiSans" charset="-122"/>
                <a:cs typeface="MiSans" charset="-122"/>
              </a:rPr>
              <a:t>控制节拍和角度</a:t>
            </a:r>
            <a:r>
              <a:rPr lang="en-US" altLang="zh-CN" sz="1600">
                <a:latin typeface="MiSans" charset="-122"/>
                <a:ea typeface="MiSans" charset="-122"/>
                <a:cs typeface="MiSans" charset="-122"/>
              </a:rPr>
              <a:t>PD+</a:t>
            </a:r>
            <a:r>
              <a:rPr lang="zh-CN" altLang="en-US" sz="1600">
                <a:latin typeface="MiSans" charset="-122"/>
                <a:ea typeface="MiSans" charset="-122"/>
                <a:cs typeface="MiSans" charset="-122"/>
              </a:rPr>
              <a:t>速度/位置反馈思路，但针对四轮小车做了简化——四轮同步输出同一平衡</a:t>
            </a:r>
            <a:r>
              <a:rPr lang="en-US" altLang="zh-CN" sz="1600">
                <a:latin typeface="MiSans" charset="-122"/>
                <a:ea typeface="MiSans" charset="-122"/>
                <a:cs typeface="MiSans" charset="-122"/>
              </a:rPr>
              <a:t>PWM，</a:t>
            </a:r>
            <a:r>
              <a:rPr lang="zh-CN" altLang="en-US" sz="1600">
                <a:latin typeface="MiSans" charset="-122"/>
                <a:ea typeface="MiSans" charset="-122"/>
                <a:cs typeface="MiSans" charset="-122"/>
              </a:rPr>
              <a:t>不做差速转向</a:t>
            </a:r>
            <a:endParaRPr lang="zh-CN" altLang="en-US" sz="1600">
              <a:latin typeface="MiSans" charset="-122"/>
              <a:ea typeface="MiSans" charset="-122"/>
              <a:cs typeface="MiSans" charset="-122"/>
            </a:endParaRPr>
          </a:p>
        </p:txBody>
      </p:sp>
      <p:sp>
        <p:nvSpPr>
          <p:cNvPr id="6" name="矩形 5"/>
          <p:cNvSpPr/>
          <p:nvPr/>
        </p:nvSpPr>
        <p:spPr>
          <a:xfrm>
            <a:off x="5828030" y="2294890"/>
            <a:ext cx="6072505" cy="3461385"/>
          </a:xfrm>
          <a:prstGeom prst="rect">
            <a:avLst/>
          </a:prstGeom>
          <a:solidFill>
            <a:schemeClr val="tx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20000"/>
              </a:lnSpc>
            </a:pPr>
            <a:r>
              <a:rPr lang="zh-CN" altLang="en-US">
                <a:latin typeface="MiSans" charset="-122"/>
                <a:ea typeface="MiSans" charset="-122"/>
                <a:cs typeface="MiSans" charset="-122"/>
              </a:rPr>
              <a:t>// === 四轮平均速度 → 位置积分 ===</a:t>
            </a:r>
            <a:endParaRPr lang="zh-CN" altLang="en-US">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speed = (encA + encB + encC + encD) / 4;</a:t>
            </a:r>
            <a:endParaRPr lang="en-US" altLang="zh-CN">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Position += speed;                              // </a:t>
            </a:r>
            <a:r>
              <a:rPr lang="zh-CN" altLang="en-US">
                <a:latin typeface="MiSans" charset="-122"/>
                <a:ea typeface="MiSans" charset="-122"/>
                <a:cs typeface="MiSans" charset="-122"/>
              </a:rPr>
              <a:t>离散积分</a:t>
            </a:r>
            <a:endParaRPr lang="zh-CN" altLang="en-US">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Speed_Filter = </a:t>
            </a:r>
            <a:r>
              <a:rPr lang="zh-CN" altLang="en-US">
                <a:latin typeface="MiSans" charset="-122"/>
                <a:ea typeface="MiSans" charset="-122"/>
                <a:cs typeface="MiSans" charset="-122"/>
              </a:rPr>
              <a:t>旧值×0.7 + 新值×0.3;              // 一阶低通(偏保守)</a:t>
            </a:r>
            <a:endParaRPr lang="zh-CN" altLang="en-US">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Angle_Rate = angle_x100 - last_angle_x100;       // </a:t>
            </a:r>
            <a:r>
              <a:rPr lang="zh-CN" altLang="en-US">
                <a:latin typeface="MiSans" charset="-122"/>
                <a:ea typeface="MiSans" charset="-122"/>
                <a:cs typeface="MiSans" charset="-122"/>
              </a:rPr>
              <a:t>差分近似角速度</a:t>
            </a:r>
            <a:endParaRPr lang="zh-CN" altLang="en-US">
              <a:latin typeface="MiSans" charset="-122"/>
              <a:ea typeface="MiSans" charset="-122"/>
              <a:cs typeface="MiSans" charset="-122"/>
            </a:endParaRPr>
          </a:p>
          <a:p>
            <a:pPr algn="l">
              <a:lnSpc>
                <a:spcPct val="120000"/>
              </a:lnSpc>
            </a:pPr>
            <a:endParaRPr lang="en-US" altLang="zh-CN">
              <a:latin typeface="MiSans" charset="-122"/>
              <a:ea typeface="MiSans" charset="-122"/>
              <a:cs typeface="MiSans" charset="-122"/>
            </a:endParaRPr>
          </a:p>
          <a:p>
            <a:pPr algn="l">
              <a:lnSpc>
                <a:spcPct val="120000"/>
              </a:lnSpc>
            </a:pPr>
            <a:r>
              <a:rPr lang="zh-CN" altLang="en-US">
                <a:latin typeface="MiSans" charset="-122"/>
                <a:ea typeface="MiSans" charset="-122"/>
                <a:cs typeface="MiSans" charset="-122"/>
              </a:rPr>
              <a:t>// === 合成输出 ===</a:t>
            </a:r>
            <a:endParaRPr lang="zh-CN" altLang="en-US">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angle_pwm  = 5.0×angle + 18.0×rate;     // </a:t>
            </a:r>
            <a:r>
              <a:rPr lang="zh-CN" altLang="en-US">
                <a:latin typeface="MiSans" charset="-122"/>
                <a:ea typeface="MiSans" charset="-122"/>
                <a:cs typeface="MiSans" charset="-122"/>
              </a:rPr>
              <a:t>角度</a:t>
            </a:r>
            <a:r>
              <a:rPr lang="en-US" altLang="zh-CN">
                <a:latin typeface="MiSans" charset="-122"/>
                <a:ea typeface="MiSans" charset="-122"/>
                <a:cs typeface="MiSans" charset="-122"/>
              </a:rPr>
              <a:t>PD</a:t>
            </a:r>
            <a:endParaRPr lang="en-US" altLang="zh-CN">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speed_pwm = 0.35×speed_filter;           // </a:t>
            </a:r>
            <a:r>
              <a:rPr lang="zh-CN" altLang="en-US">
                <a:latin typeface="MiSans" charset="-122"/>
                <a:ea typeface="MiSans" charset="-122"/>
                <a:cs typeface="MiSans" charset="-122"/>
              </a:rPr>
              <a:t>速度阻尼</a:t>
            </a:r>
            <a:endParaRPr lang="zh-CN" altLang="en-US">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position_pwm = 0.002×position;           // </a:t>
            </a:r>
            <a:r>
              <a:rPr lang="zh-CN" altLang="en-US">
                <a:latin typeface="MiSans" charset="-122"/>
                <a:ea typeface="MiSans" charset="-122"/>
                <a:cs typeface="MiSans" charset="-122"/>
              </a:rPr>
              <a:t>位置回中</a:t>
            </a:r>
            <a:endParaRPr lang="zh-CN" altLang="en-US">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output = (angle_pwm - speed_pwm - position_pwm) × OUTPUT_SIGN;</a:t>
            </a:r>
            <a:endParaRPr lang="en-US" altLang="zh-CN">
              <a:latin typeface="MiSans" charset="-122"/>
              <a:ea typeface="MiSans" charset="-122"/>
              <a:cs typeface="MiSans" charset="-122"/>
            </a:endParaRPr>
          </a:p>
          <a:p>
            <a:pPr algn="l">
              <a:lnSpc>
                <a:spcPct val="120000"/>
              </a:lnSpc>
            </a:pPr>
            <a:r>
              <a:rPr lang="en-US" altLang="zh-CN">
                <a:latin typeface="MiSans" charset="-122"/>
                <a:ea typeface="MiSans" charset="-122"/>
                <a:cs typeface="MiSans" charset="-122"/>
              </a:rPr>
              <a:t>output = clamp(output, ±6500);</a:t>
            </a:r>
            <a:endParaRPr lang="en-US" altLang="zh-CN">
              <a:latin typeface="MiSans" charset="-122"/>
              <a:ea typeface="MiSans" charset="-122"/>
              <a:cs typeface="MiSans" charset="-122"/>
            </a:endParaRPr>
          </a:p>
        </p:txBody>
      </p:sp>
      <p:sp>
        <p:nvSpPr>
          <p:cNvPr id="7" name="文本框 6"/>
          <p:cNvSpPr txBox="1"/>
          <p:nvPr/>
        </p:nvSpPr>
        <p:spPr>
          <a:xfrm>
            <a:off x="762000" y="1191260"/>
            <a:ext cx="2156460" cy="337185"/>
          </a:xfrm>
          <a:prstGeom prst="rect">
            <a:avLst/>
          </a:prstGeom>
        </p:spPr>
        <p:style>
          <a:lnRef idx="0">
            <a:srgbClr val="FFFFFF"/>
          </a:lnRef>
          <a:fillRef idx="3">
            <a:schemeClr val="accent5"/>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第一版平衡控制</a:t>
            </a:r>
            <a:r>
              <a:rPr lang="zh-CN" altLang="en-US" sz="1600">
                <a:solidFill>
                  <a:srgbClr val="003366"/>
                </a:solidFill>
                <a:latin typeface="MiSans Medium" panose="00000600000000000000" charset="-122"/>
                <a:ea typeface="MiSans Medium" panose="00000600000000000000" charset="-122"/>
              </a:rPr>
              <a:t>算法</a:t>
            </a:r>
            <a:endParaRPr lang="zh-CN" altLang="en-US" sz="1600">
              <a:solidFill>
                <a:srgbClr val="003366"/>
              </a:solidFill>
              <a:latin typeface="MiSans Medium" panose="00000600000000000000" charset="-122"/>
              <a:ea typeface="MiSans Medium" panose="00000600000000000000" charset="-122"/>
            </a:endParaRPr>
          </a:p>
        </p:txBody>
      </p:sp>
      <p:sp>
        <p:nvSpPr>
          <p:cNvPr id="8" name="文本框 7"/>
          <p:cNvSpPr txBox="1"/>
          <p:nvPr/>
        </p:nvSpPr>
        <p:spPr>
          <a:xfrm>
            <a:off x="762000" y="2359025"/>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参数</a:t>
            </a:r>
            <a:r>
              <a:rPr lang="zh-CN" altLang="en-US" sz="1600">
                <a:solidFill>
                  <a:srgbClr val="003366"/>
                </a:solidFill>
                <a:latin typeface="MiSans Medium" panose="00000600000000000000" charset="-122"/>
                <a:ea typeface="MiSans Medium" panose="00000600000000000000" charset="-122"/>
              </a:rPr>
              <a:t>设置</a:t>
            </a:r>
            <a:endParaRPr lang="zh-CN" altLang="en-US" sz="1600">
              <a:solidFill>
                <a:srgbClr val="003366"/>
              </a:solidFill>
              <a:latin typeface="MiSans Medium" panose="00000600000000000000" charset="-122"/>
              <a:ea typeface="MiSans Medium" panose="00000600000000000000" charset="-122"/>
            </a:endParaRPr>
          </a:p>
        </p:txBody>
      </p:sp>
      <p:sp>
        <p:nvSpPr>
          <p:cNvPr id="11" name="文本框 10"/>
          <p:cNvSpPr txBox="1"/>
          <p:nvPr/>
        </p:nvSpPr>
        <p:spPr>
          <a:xfrm>
            <a:off x="762000" y="4782185"/>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spAutoFit/>
          </a:bodyPr>
          <a:p>
            <a:pPr lvl="0" algn="ctr" defTabSz="266700">
              <a:buSzTx/>
            </a:pPr>
            <a:r>
              <a:rPr lang="zh-CN" altLang="en-US" sz="1600">
                <a:solidFill>
                  <a:srgbClr val="003366"/>
                </a:solidFill>
                <a:latin typeface="MiSans Medium" panose="00000600000000000000" charset="-122"/>
                <a:ea typeface="MiSans Medium" panose="00000600000000000000" charset="-122"/>
                <a:sym typeface="+mn-ea"/>
              </a:rPr>
              <a:t>参数</a:t>
            </a:r>
            <a:r>
              <a:rPr lang="zh-CN" altLang="en-US" sz="1600">
                <a:solidFill>
                  <a:srgbClr val="003366"/>
                </a:solidFill>
                <a:latin typeface="MiSans Medium" panose="00000600000000000000" charset="-122"/>
                <a:ea typeface="MiSans Medium" panose="00000600000000000000" charset="-122"/>
                <a:sym typeface="+mn-ea"/>
              </a:rPr>
              <a:t>调试</a:t>
            </a:r>
            <a:endParaRPr lang="zh-CN" altLang="en-US" sz="1600">
              <a:solidFill>
                <a:srgbClr val="003366"/>
              </a:solidFill>
              <a:latin typeface="MiSans Medium" panose="00000600000000000000" charset="-122"/>
              <a:ea typeface="MiSans Medium" panose="00000600000000000000" charset="-122"/>
              <a:sym typeface="+mn-ea"/>
            </a:endParaRPr>
          </a:p>
        </p:txBody>
      </p:sp>
      <p:graphicFrame>
        <p:nvGraphicFramePr>
          <p:cNvPr id="13" name="表格 12"/>
          <p:cNvGraphicFramePr/>
          <p:nvPr>
            <p:custDataLst>
              <p:tags r:id="rId1"/>
            </p:custDataLst>
          </p:nvPr>
        </p:nvGraphicFramePr>
        <p:xfrm>
          <a:off x="629920" y="2826385"/>
          <a:ext cx="4872990" cy="1906905"/>
        </p:xfrm>
        <a:graphic>
          <a:graphicData uri="http://schemas.openxmlformats.org/drawingml/2006/table">
            <a:tbl>
              <a:tblPr firstRow="1" bandRow="1">
                <a:tableStyleId>{6E560EE8-C04B-4DBB-A23E-6B21578234B7}</a:tableStyleId>
              </a:tblPr>
              <a:tblGrid>
                <a:gridCol w="1624330"/>
                <a:gridCol w="1624330"/>
                <a:gridCol w="1624330"/>
              </a:tblGrid>
              <a:tr h="0">
                <a:tc>
                  <a:txBody>
                    <a:bodyPr/>
                    <a:p>
                      <a:pPr algn="ctr">
                        <a:lnSpc>
                          <a:spcPct val="114000"/>
                        </a:lnSpc>
                        <a:spcBef>
                          <a:spcPct val="0"/>
                        </a:spcBef>
                        <a:spcAft>
                          <a:spcPct val="0"/>
                        </a:spcAft>
                      </a:pPr>
                      <a:r>
                        <a:rPr lang="zh-CN" sz="1000"/>
                        <a:t>参数</a:t>
                      </a:r>
                      <a:endParaRPr lang="zh-CN" sz="1000"/>
                    </a:p>
                  </a:txBody>
                  <a:tcPr marL="68580" marR="68580" marT="0" marB="0" anchor="ctr" anchorCtr="0"/>
                </a:tc>
                <a:tc>
                  <a:txBody>
                    <a:bodyPr/>
                    <a:p>
                      <a:pPr algn="ctr">
                        <a:lnSpc>
                          <a:spcPct val="114000"/>
                        </a:lnSpc>
                        <a:spcBef>
                          <a:spcPct val="0"/>
                        </a:spcBef>
                        <a:spcAft>
                          <a:spcPct val="0"/>
                        </a:spcAft>
                      </a:pPr>
                      <a:r>
                        <a:rPr lang="en-US" altLang="zh-CN" sz="1000"/>
                        <a:t>V1</a:t>
                      </a:r>
                      <a:r>
                        <a:rPr lang="zh-CN" altLang="en-US" sz="1000"/>
                        <a:t>值</a:t>
                      </a:r>
                      <a:endParaRPr lang="zh-CN" altLang="en-US" sz="1000"/>
                    </a:p>
                  </a:txBody>
                  <a:tcPr marL="68580" marR="68580" marT="0" marB="0" anchor="ctr" anchorCtr="0"/>
                </a:tc>
                <a:tc>
                  <a:txBody>
                    <a:bodyPr/>
                    <a:p>
                      <a:pPr algn="ctr">
                        <a:lnSpc>
                          <a:spcPct val="114000"/>
                        </a:lnSpc>
                        <a:spcBef>
                          <a:spcPct val="0"/>
                        </a:spcBef>
                        <a:spcAft>
                          <a:spcPct val="0"/>
                        </a:spcAft>
                      </a:pPr>
                      <a:r>
                        <a:rPr lang="zh-CN" sz="1000"/>
                        <a:t>物理意义</a:t>
                      </a:r>
                      <a:endParaRPr lang="zh-CN" sz="1000"/>
                    </a:p>
                  </a:txBody>
                  <a:tcPr marL="68580" marR="68580" marT="0" marB="0" anchor="ctr" anchorCtr="0"/>
                </a:tc>
              </a:tr>
              <a:tr h="0">
                <a:tc>
                  <a:txBody>
                    <a:bodyPr/>
                    <a:p>
                      <a:pPr algn="ctr">
                        <a:lnSpc>
                          <a:spcPct val="114000"/>
                        </a:lnSpc>
                        <a:spcBef>
                          <a:spcPct val="0"/>
                        </a:spcBef>
                        <a:spcAft>
                          <a:spcPct val="0"/>
                        </a:spcAft>
                      </a:pPr>
                      <a:r>
                        <a:rPr lang="en-US" altLang="zh-CN" sz="1000"/>
                        <a:t>Angle_Kp</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5.0</a:t>
                      </a:r>
                      <a:endParaRPr lang="en-US" altLang="zh-CN" sz="1000"/>
                    </a:p>
                  </a:txBody>
                  <a:tcPr marL="68580" marR="68580" marT="0" marB="0" anchor="ctr" anchorCtr="0"/>
                </a:tc>
                <a:tc>
                  <a:txBody>
                    <a:bodyPr/>
                    <a:p>
                      <a:pPr algn="ctr">
                        <a:lnSpc>
                          <a:spcPct val="114000"/>
                        </a:lnSpc>
                        <a:spcBef>
                          <a:spcPct val="0"/>
                        </a:spcBef>
                        <a:spcAft>
                          <a:spcPct val="0"/>
                        </a:spcAft>
                      </a:pPr>
                      <a:r>
                        <a:rPr lang="zh-CN" sz="1000"/>
                        <a:t>角度比例增益：</a:t>
                      </a:r>
                      <a:r>
                        <a:rPr lang="en-US" altLang="zh-CN" sz="1000"/>
                        <a:t>1°</a:t>
                      </a:r>
                      <a:r>
                        <a:rPr lang="zh-CN" altLang="en-US" sz="1000"/>
                        <a:t>偏差</a:t>
                      </a:r>
                      <a:r>
                        <a:rPr lang="en-US" altLang="zh-CN" sz="1000"/>
                        <a:t>→500</a:t>
                      </a:r>
                      <a:r>
                        <a:rPr lang="zh-CN" altLang="en-US" sz="1000"/>
                        <a:t>单位</a:t>
                      </a:r>
                      <a:r>
                        <a:rPr lang="en-US" altLang="zh-CN" sz="1000"/>
                        <a:t>PWM</a:t>
                      </a:r>
                      <a:endParaRPr lang="en-US" altLang="zh-CN" sz="1000"/>
                    </a:p>
                  </a:txBody>
                  <a:tcPr marL="68580" marR="68580" marT="0" marB="0" anchor="ctr" anchorCtr="0"/>
                </a:tc>
              </a:tr>
              <a:tr h="0">
                <a:tc>
                  <a:txBody>
                    <a:bodyPr/>
                    <a:p>
                      <a:pPr algn="ctr">
                        <a:lnSpc>
                          <a:spcPct val="114000"/>
                        </a:lnSpc>
                        <a:spcBef>
                          <a:spcPct val="0"/>
                        </a:spcBef>
                        <a:spcAft>
                          <a:spcPct val="0"/>
                        </a:spcAft>
                      </a:pPr>
                      <a:r>
                        <a:rPr lang="en-US" altLang="zh-CN" sz="1000"/>
                        <a:t>Angle_Kd</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18.0</a:t>
                      </a:r>
                      <a:endParaRPr lang="en-US" altLang="zh-CN" sz="1000"/>
                    </a:p>
                  </a:txBody>
                  <a:tcPr marL="68580" marR="68580" marT="0" marB="0" anchor="ctr" anchorCtr="0"/>
                </a:tc>
                <a:tc>
                  <a:txBody>
                    <a:bodyPr/>
                    <a:p>
                      <a:pPr algn="ctr">
                        <a:lnSpc>
                          <a:spcPct val="114000"/>
                        </a:lnSpc>
                        <a:spcBef>
                          <a:spcPct val="0"/>
                        </a:spcBef>
                        <a:spcAft>
                          <a:spcPct val="0"/>
                        </a:spcAft>
                      </a:pPr>
                      <a:r>
                        <a:rPr lang="zh-CN" sz="1000"/>
                        <a:t>角速度微分增益：对抗快速倒杆趋势</a:t>
                      </a:r>
                      <a:endParaRPr lang="zh-CN" sz="1000"/>
                    </a:p>
                  </a:txBody>
                  <a:tcPr marL="68580" marR="68580" marT="0" marB="0" anchor="ctr" anchorCtr="0"/>
                </a:tc>
              </a:tr>
              <a:tr h="0">
                <a:tc>
                  <a:txBody>
                    <a:bodyPr/>
                    <a:p>
                      <a:pPr algn="ctr">
                        <a:lnSpc>
                          <a:spcPct val="114000"/>
                        </a:lnSpc>
                        <a:spcBef>
                          <a:spcPct val="0"/>
                        </a:spcBef>
                        <a:spcAft>
                          <a:spcPct val="0"/>
                        </a:spcAft>
                      </a:pPr>
                      <a:r>
                        <a:rPr lang="en-US" altLang="zh-CN" sz="1000"/>
                        <a:t>Speed_Kp</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0.35</a:t>
                      </a:r>
                      <a:endParaRPr lang="en-US" altLang="zh-CN" sz="1000"/>
                    </a:p>
                  </a:txBody>
                  <a:tcPr marL="68580" marR="68580" marT="0" marB="0" anchor="ctr" anchorCtr="0"/>
                </a:tc>
                <a:tc>
                  <a:txBody>
                    <a:bodyPr/>
                    <a:p>
                      <a:pPr algn="ctr">
                        <a:lnSpc>
                          <a:spcPct val="114000"/>
                        </a:lnSpc>
                        <a:spcBef>
                          <a:spcPct val="0"/>
                        </a:spcBef>
                        <a:spcAft>
                          <a:spcPct val="0"/>
                        </a:spcAft>
                      </a:pPr>
                      <a:r>
                        <a:rPr lang="zh-CN" sz="1000"/>
                        <a:t>速度阻尼：车速越大抵消输出越多</a:t>
                      </a:r>
                      <a:endParaRPr lang="zh-CN" sz="1000"/>
                    </a:p>
                  </a:txBody>
                  <a:tcPr marL="68580" marR="68580" marT="0" marB="0" anchor="ctr" anchorCtr="0"/>
                </a:tc>
              </a:tr>
              <a:tr h="0">
                <a:tc>
                  <a:txBody>
                    <a:bodyPr/>
                    <a:p>
                      <a:pPr algn="ctr">
                        <a:lnSpc>
                          <a:spcPct val="114000"/>
                        </a:lnSpc>
                        <a:spcBef>
                          <a:spcPct val="0"/>
                        </a:spcBef>
                        <a:spcAft>
                          <a:spcPct val="0"/>
                        </a:spcAft>
                      </a:pPr>
                      <a:r>
                        <a:rPr lang="en-US" altLang="zh-CN" sz="1000"/>
                        <a:t>Position_Kp</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0.002</a:t>
                      </a:r>
                      <a:endParaRPr lang="en-US" altLang="zh-CN" sz="1000"/>
                    </a:p>
                  </a:txBody>
                  <a:tcPr marL="68580" marR="68580" marT="0" marB="0" anchor="ctr" anchorCtr="0"/>
                </a:tc>
                <a:tc>
                  <a:txBody>
                    <a:bodyPr/>
                    <a:p>
                      <a:pPr algn="ctr">
                        <a:lnSpc>
                          <a:spcPct val="114000"/>
                        </a:lnSpc>
                        <a:spcBef>
                          <a:spcPct val="0"/>
                        </a:spcBef>
                        <a:spcAft>
                          <a:spcPct val="0"/>
                        </a:spcAft>
                      </a:pPr>
                      <a:r>
                        <a:rPr lang="zh-CN" sz="1000"/>
                        <a:t>位置回中：偏离起点越远回拉力越大</a:t>
                      </a:r>
                      <a:endParaRPr lang="zh-CN" sz="1000"/>
                    </a:p>
                  </a:txBody>
                  <a:tcPr marL="68580" marR="68580" marT="0" marB="0" anchor="ctr" anchorCtr="0"/>
                </a:tc>
              </a:tr>
              <a:tr h="0">
                <a:tc>
                  <a:txBody>
                    <a:bodyPr/>
                    <a:p>
                      <a:pPr algn="ctr">
                        <a:lnSpc>
                          <a:spcPct val="114000"/>
                        </a:lnSpc>
                        <a:spcBef>
                          <a:spcPct val="0"/>
                        </a:spcBef>
                        <a:spcAft>
                          <a:spcPct val="0"/>
                        </a:spcAft>
                      </a:pPr>
                      <a:r>
                        <a:rPr lang="en-US" altLang="zh-CN" sz="1000"/>
                        <a:t>PWM_LIMIT</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6500</a:t>
                      </a:r>
                      <a:endParaRPr lang="en-US" altLang="zh-CN" sz="1000"/>
                    </a:p>
                  </a:txBody>
                  <a:tcPr marL="68580" marR="68580" marT="0" marB="0" anchor="ctr" anchorCtr="0"/>
                </a:tc>
                <a:tc>
                  <a:txBody>
                    <a:bodyPr/>
                    <a:p>
                      <a:pPr algn="ctr">
                        <a:lnSpc>
                          <a:spcPct val="114000"/>
                        </a:lnSpc>
                        <a:spcBef>
                          <a:spcPct val="0"/>
                        </a:spcBef>
                        <a:spcAft>
                          <a:spcPct val="0"/>
                        </a:spcAft>
                      </a:pPr>
                      <a:r>
                        <a:rPr lang="zh-CN" sz="1000"/>
                        <a:t>最大输出限幅</a:t>
                      </a:r>
                      <a:endParaRPr lang="zh-CN" sz="1000"/>
                    </a:p>
                  </a:txBody>
                  <a:tcPr marL="68580" marR="68580" marT="0" marB="0" anchor="ctr" anchorCtr="0"/>
                </a:tc>
              </a:tr>
              <a:tr h="0">
                <a:tc>
                  <a:txBody>
                    <a:bodyPr/>
                    <a:p>
                      <a:pPr algn="ctr">
                        <a:lnSpc>
                          <a:spcPct val="114000"/>
                        </a:lnSpc>
                        <a:spcBef>
                          <a:spcPct val="0"/>
                        </a:spcBef>
                        <a:spcAft>
                          <a:spcPct val="0"/>
                        </a:spcAft>
                      </a:pPr>
                      <a:r>
                        <a:rPr lang="en-US" altLang="zh-CN" sz="1000"/>
                        <a:t>SAFE_ANGLE</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±15°</a:t>
                      </a:r>
                      <a:endParaRPr lang="en-US" altLang="zh-CN" sz="1000"/>
                    </a:p>
                  </a:txBody>
                  <a:tcPr marL="68580" marR="68580" marT="0" marB="0" anchor="ctr" anchorCtr="0"/>
                </a:tc>
                <a:tc>
                  <a:txBody>
                    <a:bodyPr/>
                    <a:p>
                      <a:pPr algn="ctr">
                        <a:lnSpc>
                          <a:spcPct val="114000"/>
                        </a:lnSpc>
                        <a:spcBef>
                          <a:spcPct val="0"/>
                        </a:spcBef>
                        <a:spcAft>
                          <a:spcPct val="0"/>
                        </a:spcAft>
                      </a:pPr>
                      <a:r>
                        <a:rPr lang="zh-CN" sz="1000"/>
                        <a:t>超限自动停机保护</a:t>
                      </a:r>
                      <a:endParaRPr lang="zh-CN" sz="1000"/>
                    </a:p>
                  </a:txBody>
                  <a:tcPr marL="68580" marR="68580" marT="0" marB="0" anchor="ctr" anchorCtr="0"/>
                </a:tc>
              </a:tr>
            </a:tbl>
          </a:graphicData>
        </a:graphic>
      </p:graphicFrame>
      <p:graphicFrame>
        <p:nvGraphicFramePr>
          <p:cNvPr id="14" name="表格 13"/>
          <p:cNvGraphicFramePr/>
          <p:nvPr>
            <p:custDataLst>
              <p:tags r:id="rId2"/>
            </p:custDataLst>
          </p:nvPr>
        </p:nvGraphicFramePr>
        <p:xfrm>
          <a:off x="629920" y="5168265"/>
          <a:ext cx="4872990" cy="1466850"/>
        </p:xfrm>
        <a:graphic>
          <a:graphicData uri="http://schemas.openxmlformats.org/drawingml/2006/table">
            <a:tbl>
              <a:tblPr firstRow="1" bandRow="1">
                <a:tableStyleId>{D47C45C6-B7E7-46C0-8195-336C3F98D871}</a:tableStyleId>
              </a:tblPr>
              <a:tblGrid>
                <a:gridCol w="470535"/>
                <a:gridCol w="488315"/>
                <a:gridCol w="535305"/>
                <a:gridCol w="719455"/>
                <a:gridCol w="927100"/>
                <a:gridCol w="1732280"/>
              </a:tblGrid>
              <a:tr h="173355">
                <a:tc>
                  <a:txBody>
                    <a:bodyPr/>
                    <a:p>
                      <a:pPr algn="ctr">
                        <a:lnSpc>
                          <a:spcPct val="114000"/>
                        </a:lnSpc>
                        <a:spcBef>
                          <a:spcPct val="0"/>
                        </a:spcBef>
                        <a:spcAft>
                          <a:spcPct val="0"/>
                        </a:spcAft>
                      </a:pPr>
                      <a:r>
                        <a:rPr lang="zh-CN" sz="1000"/>
                        <a:t>版本</a:t>
                      </a:r>
                      <a:endParaRPr lang="zh-CN" sz="1000"/>
                    </a:p>
                  </a:txBody>
                  <a:tcPr marL="68580" marR="68580" marT="0" marB="0" anchor="ctr" anchorCtr="0"/>
                </a:tc>
                <a:tc>
                  <a:txBody>
                    <a:bodyPr/>
                    <a:p>
                      <a:pPr algn="ctr">
                        <a:lnSpc>
                          <a:spcPct val="114000"/>
                        </a:lnSpc>
                        <a:spcBef>
                          <a:spcPct val="0"/>
                        </a:spcBef>
                        <a:spcAft>
                          <a:spcPct val="0"/>
                        </a:spcAft>
                      </a:pPr>
                      <a:r>
                        <a:rPr lang="en-US" altLang="zh-CN" sz="1000"/>
                        <a:t>Kp</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Kd</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Speed_Kp</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PWM_LIMIT</a:t>
                      </a:r>
                      <a:endParaRPr lang="en-US" altLang="zh-CN" sz="1000"/>
                    </a:p>
                  </a:txBody>
                  <a:tcPr marL="68580" marR="68580" marT="0" marB="0" anchor="ctr" anchorCtr="0"/>
                </a:tc>
                <a:tc>
                  <a:txBody>
                    <a:bodyPr/>
                    <a:p>
                      <a:pPr algn="ctr">
                        <a:lnSpc>
                          <a:spcPct val="114000"/>
                        </a:lnSpc>
                        <a:spcBef>
                          <a:spcPct val="0"/>
                        </a:spcBef>
                        <a:spcAft>
                          <a:spcPct val="0"/>
                        </a:spcAft>
                      </a:pPr>
                      <a:r>
                        <a:rPr lang="zh-CN" sz="1000"/>
                        <a:t>用户反馈</a:t>
                      </a:r>
                      <a:endParaRPr lang="zh-CN" sz="1000"/>
                    </a:p>
                  </a:txBody>
                  <a:tcPr marL="68580" marR="68580" marT="0" marB="0" anchor="ctr" anchorCtr="0"/>
                </a:tc>
              </a:tr>
              <a:tr h="235585">
                <a:tc>
                  <a:txBody>
                    <a:bodyPr/>
                    <a:p>
                      <a:pPr algn="ctr">
                        <a:lnSpc>
                          <a:spcPct val="114000"/>
                        </a:lnSpc>
                        <a:spcBef>
                          <a:spcPct val="0"/>
                        </a:spcBef>
                        <a:spcAft>
                          <a:spcPct val="0"/>
                        </a:spcAft>
                      </a:pPr>
                      <a:r>
                        <a:rPr lang="en-US" altLang="zh-CN" sz="1000"/>
                        <a:t>V1</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5.0</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18.0</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0.35</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6500</a:t>
                      </a:r>
                      <a:endParaRPr lang="en-US" altLang="zh-CN" sz="1000"/>
                    </a:p>
                  </a:txBody>
                  <a:tcPr marL="68580" marR="68580" marT="0" marB="0" anchor="ctr" anchorCtr="0"/>
                </a:tc>
                <a:tc>
                  <a:txBody>
                    <a:bodyPr/>
                    <a:p>
                      <a:pPr algn="ctr">
                        <a:lnSpc>
                          <a:spcPct val="114000"/>
                        </a:lnSpc>
                        <a:spcBef>
                          <a:spcPct val="0"/>
                        </a:spcBef>
                        <a:spcAft>
                          <a:spcPct val="0"/>
                        </a:spcAft>
                      </a:pPr>
                      <a:r>
                        <a:rPr lang="zh-CN" sz="1000"/>
                        <a:t>方向反</a:t>
                      </a:r>
                      <a:r>
                        <a:rPr lang="en-US" altLang="zh-CN" sz="1000"/>
                        <a:t>+</a:t>
                      </a:r>
                      <a:r>
                        <a:rPr lang="zh-CN" altLang="en-US" sz="1000"/>
                        <a:t>冲太快</a:t>
                      </a:r>
                      <a:endParaRPr lang="zh-CN" altLang="en-US" sz="1000"/>
                    </a:p>
                  </a:txBody>
                  <a:tcPr marL="68580" marR="68580" marT="0" marB="0" anchor="ctr" anchorCtr="0"/>
                </a:tc>
              </a:tr>
              <a:tr h="234950">
                <a:tc>
                  <a:txBody>
                    <a:bodyPr/>
                    <a:p>
                      <a:pPr algn="ctr">
                        <a:lnSpc>
                          <a:spcPct val="114000"/>
                        </a:lnSpc>
                        <a:spcBef>
                          <a:spcPct val="0"/>
                        </a:spcBef>
                        <a:spcAft>
                          <a:spcPct val="0"/>
                        </a:spcAft>
                      </a:pPr>
                      <a:r>
                        <a:rPr lang="en-US" altLang="zh-CN" sz="1000"/>
                        <a:t>V2</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5.0</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18.0</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0.35</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6500</a:t>
                      </a:r>
                      <a:endParaRPr lang="en-US" altLang="zh-CN" sz="1000"/>
                    </a:p>
                  </a:txBody>
                  <a:tcPr marL="68580" marR="68580" marT="0" marB="0" anchor="ctr" anchorCtr="0"/>
                </a:tc>
                <a:tc>
                  <a:txBody>
                    <a:bodyPr/>
                    <a:p>
                      <a:pPr algn="ctr">
                        <a:lnSpc>
                          <a:spcPct val="114000"/>
                        </a:lnSpc>
                        <a:spcBef>
                          <a:spcPct val="0"/>
                        </a:spcBef>
                        <a:spcAft>
                          <a:spcPct val="0"/>
                        </a:spcAft>
                      </a:pPr>
                      <a:r>
                        <a:rPr lang="zh-CN" sz="1000"/>
                        <a:t>方向修正</a:t>
                      </a:r>
                      <a:r>
                        <a:rPr lang="en-US" altLang="zh-CN" sz="1000"/>
                        <a:t>(-1)</a:t>
                      </a:r>
                      <a:endParaRPr lang="en-US" altLang="zh-CN" sz="1000"/>
                    </a:p>
                  </a:txBody>
                  <a:tcPr marL="68580" marR="68580" marT="0" marB="0" anchor="ctr" anchorCtr="0"/>
                </a:tc>
              </a:tr>
              <a:tr h="352425">
                <a:tc>
                  <a:txBody>
                    <a:bodyPr/>
                    <a:p>
                      <a:pPr algn="ctr">
                        <a:lnSpc>
                          <a:spcPct val="114000"/>
                        </a:lnSpc>
                        <a:spcBef>
                          <a:spcPct val="0"/>
                        </a:spcBef>
                        <a:spcAft>
                          <a:spcPct val="0"/>
                        </a:spcAft>
                      </a:pPr>
                      <a:r>
                        <a:rPr lang="en-US" altLang="zh-CN" sz="1000"/>
                        <a:t>V3</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1.8</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7.0</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0.55</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2500</a:t>
                      </a:r>
                      <a:endParaRPr lang="en-US" altLang="zh-CN" sz="1000"/>
                    </a:p>
                  </a:txBody>
                  <a:tcPr marL="68580" marR="68580" marT="0" marB="0" anchor="ctr" anchorCtr="0"/>
                </a:tc>
                <a:tc>
                  <a:txBody>
                    <a:bodyPr/>
                    <a:p>
                      <a:pPr algn="ctr">
                        <a:lnSpc>
                          <a:spcPct val="114000"/>
                        </a:lnSpc>
                        <a:spcBef>
                          <a:spcPct val="0"/>
                        </a:spcBef>
                        <a:spcAft>
                          <a:spcPct val="0"/>
                        </a:spcAft>
                      </a:pPr>
                      <a:r>
                        <a:rPr lang="zh-CN" sz="1000"/>
                        <a:t>方向又反，冲太柔变慢了</a:t>
                      </a:r>
                      <a:endParaRPr lang="zh-CN" sz="1000"/>
                    </a:p>
                  </a:txBody>
                  <a:tcPr marL="68580" marR="68580" marT="0" marB="0" anchor="ctr" anchorCtr="0"/>
                </a:tc>
              </a:tr>
              <a:tr h="235585">
                <a:tc>
                  <a:txBody>
                    <a:bodyPr/>
                    <a:p>
                      <a:pPr algn="ctr">
                        <a:lnSpc>
                          <a:spcPct val="114000"/>
                        </a:lnSpc>
                        <a:spcBef>
                          <a:spcPct val="0"/>
                        </a:spcBef>
                        <a:spcAft>
                          <a:spcPct val="0"/>
                        </a:spcAft>
                      </a:pPr>
                      <a:r>
                        <a:rPr lang="en-US" altLang="zh-CN" sz="1000"/>
                        <a:t>V4</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3.4</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13.0</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0.55</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4200</a:t>
                      </a:r>
                      <a:endParaRPr lang="en-US" altLang="zh-CN" sz="1000"/>
                    </a:p>
                  </a:txBody>
                  <a:tcPr marL="68580" marR="68580" marT="0" marB="0" anchor="ctr" anchorCtr="0"/>
                </a:tc>
                <a:tc>
                  <a:txBody>
                    <a:bodyPr/>
                    <a:p>
                      <a:pPr algn="ctr">
                        <a:lnSpc>
                          <a:spcPct val="114000"/>
                        </a:lnSpc>
                        <a:spcBef>
                          <a:spcPct val="0"/>
                        </a:spcBef>
                        <a:spcAft>
                          <a:spcPct val="0"/>
                        </a:spcAft>
                      </a:pPr>
                      <a:r>
                        <a:rPr lang="zh-CN" sz="1000"/>
                        <a:t>方向正确，速度仍慢</a:t>
                      </a:r>
                      <a:endParaRPr lang="zh-CN" sz="1000"/>
                    </a:p>
                  </a:txBody>
                  <a:tcPr marL="68580" marR="68580" marT="0" marB="0" anchor="ctr" anchorCtr="0"/>
                </a:tc>
              </a:tr>
              <a:tr h="234950">
                <a:tc>
                  <a:txBody>
                    <a:bodyPr/>
                    <a:p>
                      <a:pPr algn="ctr">
                        <a:lnSpc>
                          <a:spcPct val="114000"/>
                        </a:lnSpc>
                        <a:spcBef>
                          <a:spcPct val="0"/>
                        </a:spcBef>
                        <a:spcAft>
                          <a:spcPct val="0"/>
                        </a:spcAft>
                      </a:pPr>
                      <a:r>
                        <a:rPr lang="en-US" altLang="zh-CN" sz="1000"/>
                        <a:t>V4+</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3.4</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13.0</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0.55</a:t>
                      </a:r>
                      <a:endParaRPr lang="en-US" altLang="zh-CN" sz="1000"/>
                    </a:p>
                  </a:txBody>
                  <a:tcPr marL="68580" marR="68580" marT="0" marB="0" anchor="ctr" anchorCtr="0"/>
                </a:tc>
                <a:tc>
                  <a:txBody>
                    <a:bodyPr/>
                    <a:p>
                      <a:pPr algn="ctr">
                        <a:lnSpc>
                          <a:spcPct val="114000"/>
                        </a:lnSpc>
                        <a:spcBef>
                          <a:spcPct val="0"/>
                        </a:spcBef>
                        <a:spcAft>
                          <a:spcPct val="0"/>
                        </a:spcAft>
                      </a:pPr>
                      <a:r>
                        <a:rPr lang="en-US" altLang="zh-CN" sz="1000"/>
                        <a:t>4200→4200</a:t>
                      </a:r>
                      <a:endParaRPr lang="en-US" altLang="zh-CN" sz="1000"/>
                    </a:p>
                  </a:txBody>
                  <a:tcPr marL="68580" marR="68580" marT="0" marB="0" anchor="ctr" anchorCtr="0"/>
                </a:tc>
                <a:tc>
                  <a:txBody>
                    <a:bodyPr/>
                    <a:p>
                      <a:pPr algn="ctr">
                        <a:lnSpc>
                          <a:spcPct val="114000"/>
                        </a:lnSpc>
                        <a:spcBef>
                          <a:spcPct val="0"/>
                        </a:spcBef>
                        <a:spcAft>
                          <a:spcPct val="0"/>
                        </a:spcAft>
                      </a:pPr>
                      <a:r>
                        <a:rPr lang="zh-CN" sz="1000"/>
                        <a:t>速度还是慢，上调</a:t>
                      </a:r>
                      <a:endParaRPr lang="zh-CN" sz="1000"/>
                    </a:p>
                  </a:txBody>
                  <a:tcPr marL="68580" marR="68580" marT="0" marB="0" anchor="ctr" anchorCtr="0"/>
                </a:tc>
              </a:tr>
            </a:tbl>
          </a:graphicData>
        </a:graphic>
      </p:graphicFrame>
      <p:sp>
        <p:nvSpPr>
          <p:cNvPr id="20" name="文本框 19"/>
          <p:cNvSpPr txBox="1"/>
          <p:nvPr/>
        </p:nvSpPr>
        <p:spPr>
          <a:xfrm>
            <a:off x="5960745" y="6079490"/>
            <a:ext cx="5648960" cy="37147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defTabSz="266700">
              <a:lnSpc>
                <a:spcPct val="114000"/>
              </a:lnSpc>
              <a:spcAft>
                <a:spcPts val="1000"/>
              </a:spcAft>
            </a:pPr>
            <a:r>
              <a:rPr lang="zh-CN" altLang="en-US" sz="1600">
                <a:latin typeface="MiSans" charset="-122"/>
                <a:ea typeface="MiSans" charset="-122"/>
                <a:cs typeface="MiSans" charset="-122"/>
              </a:rPr>
              <a:t>这一版本的控制始终无法使倒立摆杆立起</a:t>
            </a:r>
            <a:endParaRPr lang="en-US" altLang="zh-CN" sz="1600">
              <a:latin typeface="MiSans" charset="-122"/>
              <a:ea typeface="MiSans" charset="-122"/>
              <a:cs typeface="MiSans"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控制程序</a:t>
            </a:r>
            <a:r>
              <a:rPr lang="zh-CN" altLang="en-US" sz="2600" b="1" i="0" u="none" strike="noStrike">
                <a:solidFill>
                  <a:srgbClr val="0891B2"/>
                </a:solidFill>
                <a:latin typeface="MiSans" charset="-122"/>
                <a:ea typeface="MiSans" charset="-122"/>
                <a:cs typeface="MiSans" charset="-122"/>
                <a:sym typeface="MiSans" charset="-122"/>
              </a:rPr>
              <a:t>迭代</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4"/>
          <p:cNvSpPr/>
          <p:nvPr/>
        </p:nvSpPr>
        <p:spPr>
          <a:xfrm>
            <a:off x="734695" y="1610995"/>
            <a:ext cx="1024699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a:latin typeface="MiSans" charset="-122"/>
                <a:ea typeface="MiSans" charset="-122"/>
                <a:cs typeface="MiSans" charset="-122"/>
              </a:rPr>
              <a:t>编写了非线性救杆补偿算法</a:t>
            </a:r>
            <a:r>
              <a:rPr lang="zh-CN" altLang="en-US" sz="1600">
                <a:latin typeface="MiSans" charset="-122"/>
                <a:ea typeface="MiSans" charset="-122"/>
                <a:cs typeface="MiSans" charset="-122"/>
              </a:rPr>
              <a:t>以及大小角度分离控制的机制</a:t>
            </a:r>
            <a:endParaRPr lang="zh-CN" altLang="en-US" sz="1600">
              <a:latin typeface="MiSans" charset="-122"/>
              <a:ea typeface="MiSans" charset="-122"/>
              <a:cs typeface="MiSans" charset="-122"/>
            </a:endParaRPr>
          </a:p>
        </p:txBody>
      </p:sp>
      <p:sp>
        <p:nvSpPr>
          <p:cNvPr id="6" name="矩形 5"/>
          <p:cNvSpPr/>
          <p:nvPr/>
        </p:nvSpPr>
        <p:spPr>
          <a:xfrm>
            <a:off x="280035" y="2453640"/>
            <a:ext cx="5680710" cy="2036445"/>
          </a:xfrm>
          <a:prstGeom prst="rect">
            <a:avLst/>
          </a:prstGeom>
          <a:solidFill>
            <a:schemeClr val="tx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20000"/>
              </a:lnSpc>
            </a:pPr>
            <a:r>
              <a:rPr lang="zh-CN" altLang="en-US" sz="1000">
                <a:latin typeface="MiSans" charset="-122"/>
                <a:ea typeface="MiSans" charset="-122"/>
                <a:cs typeface="MiSans" charset="-122"/>
              </a:rPr>
              <a:t>// 新增参数</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Balance_Rescue_Kp = 1.6;  // </a:t>
            </a:r>
            <a:r>
              <a:rPr lang="zh-CN" altLang="en-US" sz="1000">
                <a:latin typeface="MiSans" charset="-122"/>
                <a:ea typeface="MiSans" charset="-122"/>
                <a:cs typeface="MiSans" charset="-122"/>
              </a:rPr>
              <a:t>救杆区额外比例增益</a:t>
            </a:r>
            <a:endParaRPr lang="zh-CN" altLang="en-US" sz="1000">
              <a:latin typeface="MiSans" charset="-122"/>
              <a:ea typeface="MiSans" charset="-122"/>
              <a:cs typeface="MiSans" charset="-122"/>
            </a:endParaRPr>
          </a:p>
          <a:p>
            <a:pPr algn="l">
              <a:lnSpc>
                <a:spcPct val="120000"/>
              </a:lnSpc>
            </a:pPr>
            <a:endParaRPr lang="en-US" altLang="zh-CN" sz="1000">
              <a:latin typeface="MiSans" charset="-122"/>
              <a:ea typeface="MiSans" charset="-122"/>
              <a:cs typeface="MiSans" charset="-122"/>
            </a:endParaRPr>
          </a:p>
          <a:p>
            <a:pPr algn="l">
              <a:lnSpc>
                <a:spcPct val="120000"/>
              </a:lnSpc>
            </a:pPr>
            <a:r>
              <a:rPr lang="zh-CN" altLang="en-US" sz="1000">
                <a:latin typeface="MiSans" charset="-122"/>
                <a:ea typeface="MiSans" charset="-122"/>
                <a:cs typeface="MiSans" charset="-122"/>
              </a:rPr>
              <a:t>// 核心逻辑：超过阈值后线性叠加额外补偿</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abs_angle = |angle_x100|;</a:t>
            </a:r>
            <a:endParaRPr lang="en-US" altLang="zh-CN"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if (abs_angle &gt; 800)  // </a:t>
            </a:r>
            <a:r>
              <a:rPr lang="zh-CN" altLang="en-US" sz="1000">
                <a:latin typeface="MiSans" charset="-122"/>
                <a:ea typeface="MiSans" charset="-122"/>
                <a:cs typeface="MiSans" charset="-122"/>
              </a:rPr>
              <a:t>超过约8°触发</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    rescue_pwm = 1.6 × (abs_angle - 800) × sign(angle);</a:t>
            </a:r>
            <a:endParaRPr lang="en-US" altLang="zh-CN" sz="1000">
              <a:latin typeface="MiSans" charset="-122"/>
              <a:ea typeface="MiSans" charset="-122"/>
              <a:cs typeface="MiSans" charset="-122"/>
            </a:endParaRPr>
          </a:p>
          <a:p>
            <a:pPr algn="l">
              <a:lnSpc>
                <a:spcPct val="120000"/>
              </a:lnSpc>
            </a:pPr>
            <a:endParaRPr lang="en-US" altLang="zh-CN" sz="1000">
              <a:latin typeface="MiSans" charset="-122"/>
              <a:ea typeface="MiSans" charset="-122"/>
              <a:cs typeface="MiSans" charset="-122"/>
            </a:endParaRPr>
          </a:p>
          <a:p>
            <a:pPr algn="l">
              <a:lnSpc>
                <a:spcPct val="120000"/>
              </a:lnSpc>
            </a:pPr>
            <a:r>
              <a:rPr lang="zh-CN" altLang="en-US" sz="1000">
                <a:latin typeface="MiSans" charset="-122"/>
                <a:ea typeface="MiSans" charset="-122"/>
                <a:cs typeface="MiSans" charset="-122"/>
              </a:rPr>
              <a:t>// 最终输出</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output = angle_pd + rescue_pwm - speed_damping - position;</a:t>
            </a:r>
            <a:endParaRPr lang="en-US" altLang="zh-CN" sz="1000">
              <a:latin typeface="MiSans" charset="-122"/>
              <a:ea typeface="MiSans" charset="-122"/>
              <a:cs typeface="MiSans" charset="-122"/>
            </a:endParaRPr>
          </a:p>
        </p:txBody>
      </p:sp>
      <p:sp>
        <p:nvSpPr>
          <p:cNvPr id="7" name="文本框 6"/>
          <p:cNvSpPr txBox="1"/>
          <p:nvPr/>
        </p:nvSpPr>
        <p:spPr>
          <a:xfrm>
            <a:off x="762000" y="1191260"/>
            <a:ext cx="2156460" cy="337185"/>
          </a:xfrm>
          <a:prstGeom prst="rect">
            <a:avLst/>
          </a:prstGeom>
        </p:spPr>
        <p:style>
          <a:lnRef idx="0">
            <a:srgbClr val="FFFFFF"/>
          </a:lnRef>
          <a:fillRef idx="3">
            <a:schemeClr val="accent5"/>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第</a:t>
            </a:r>
            <a:r>
              <a:rPr lang="zh-CN" altLang="en-US" sz="1600">
                <a:solidFill>
                  <a:srgbClr val="003366"/>
                </a:solidFill>
                <a:latin typeface="MiSans Medium" panose="00000600000000000000" charset="-122"/>
                <a:ea typeface="MiSans Medium" panose="00000600000000000000" charset="-122"/>
              </a:rPr>
              <a:t>二版平衡控制</a:t>
            </a:r>
            <a:r>
              <a:rPr lang="zh-CN" altLang="en-US" sz="1600">
                <a:solidFill>
                  <a:srgbClr val="003366"/>
                </a:solidFill>
                <a:latin typeface="MiSans Medium" panose="00000600000000000000" charset="-122"/>
                <a:ea typeface="MiSans Medium" panose="00000600000000000000" charset="-122"/>
              </a:rPr>
              <a:t>算法</a:t>
            </a:r>
            <a:endParaRPr lang="zh-CN" altLang="en-US" sz="1600">
              <a:solidFill>
                <a:srgbClr val="003366"/>
              </a:solidFill>
              <a:latin typeface="MiSans Medium" panose="00000600000000000000" charset="-122"/>
              <a:ea typeface="MiSans Medium" panose="00000600000000000000" charset="-122"/>
            </a:endParaRPr>
          </a:p>
        </p:txBody>
      </p:sp>
      <p:sp>
        <p:nvSpPr>
          <p:cNvPr id="8" name="文本框 7"/>
          <p:cNvSpPr txBox="1"/>
          <p:nvPr/>
        </p:nvSpPr>
        <p:spPr>
          <a:xfrm>
            <a:off x="762000" y="2082165"/>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非线性救杆</a:t>
            </a:r>
            <a:r>
              <a:rPr lang="zh-CN" altLang="en-US" sz="1600">
                <a:solidFill>
                  <a:srgbClr val="003366"/>
                </a:solidFill>
                <a:latin typeface="MiSans Medium" panose="00000600000000000000" charset="-122"/>
                <a:ea typeface="MiSans Medium" panose="00000600000000000000" charset="-122"/>
              </a:rPr>
              <a:t>补偿</a:t>
            </a:r>
            <a:endParaRPr lang="zh-CN" altLang="en-US" sz="1600">
              <a:solidFill>
                <a:srgbClr val="003366"/>
              </a:solidFill>
              <a:latin typeface="MiSans Medium" panose="00000600000000000000" charset="-122"/>
              <a:ea typeface="MiSans Medium" panose="00000600000000000000" charset="-122"/>
            </a:endParaRPr>
          </a:p>
        </p:txBody>
      </p:sp>
      <p:sp>
        <p:nvSpPr>
          <p:cNvPr id="11" name="文本框 10"/>
          <p:cNvSpPr txBox="1"/>
          <p:nvPr/>
        </p:nvSpPr>
        <p:spPr>
          <a:xfrm>
            <a:off x="762000" y="4602480"/>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spAutoFit/>
          </a:bodyPr>
          <a:p>
            <a:pPr lvl="0" algn="ctr" defTabSz="266700">
              <a:buSzTx/>
            </a:pPr>
            <a:r>
              <a:rPr lang="zh-CN" altLang="en-US" sz="1600">
                <a:solidFill>
                  <a:srgbClr val="003366"/>
                </a:solidFill>
                <a:latin typeface="MiSans Medium" panose="00000600000000000000" charset="-122"/>
                <a:ea typeface="MiSans Medium" panose="00000600000000000000" charset="-122"/>
                <a:sym typeface="+mn-ea"/>
              </a:rPr>
              <a:t>小角度软控制区</a:t>
            </a:r>
            <a:endParaRPr lang="zh-CN" altLang="en-US" sz="1600">
              <a:solidFill>
                <a:srgbClr val="003366"/>
              </a:solidFill>
              <a:latin typeface="MiSans Medium" panose="00000600000000000000" charset="-122"/>
              <a:ea typeface="MiSans Medium" panose="00000600000000000000" charset="-122"/>
              <a:sym typeface="+mn-ea"/>
            </a:endParaRPr>
          </a:p>
        </p:txBody>
      </p:sp>
      <p:sp>
        <p:nvSpPr>
          <p:cNvPr id="20" name="文本框 19"/>
          <p:cNvSpPr txBox="1"/>
          <p:nvPr/>
        </p:nvSpPr>
        <p:spPr>
          <a:xfrm>
            <a:off x="6238240" y="2962910"/>
            <a:ext cx="5648960" cy="93154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defTabSz="266700">
              <a:lnSpc>
                <a:spcPct val="114000"/>
              </a:lnSpc>
              <a:spcAft>
                <a:spcPts val="1000"/>
              </a:spcAft>
            </a:pPr>
            <a:r>
              <a:rPr lang="zh-CN" altLang="en-US" sz="1600">
                <a:latin typeface="MiSans" charset="-122"/>
                <a:ea typeface="MiSans" charset="-122"/>
                <a:cs typeface="MiSans" charset="-122"/>
              </a:rPr>
              <a:t>如果最开始向一个方向偏移的比较慢时能救回来，但是会救得太多了快速倒向另一边，还有如果本身就往一个方向倾斜就会救不回来（一直往一个方向加速但是救不回来）</a:t>
            </a:r>
            <a:endParaRPr lang="zh-CN" altLang="en-US" sz="1600">
              <a:latin typeface="MiSans" charset="-122"/>
              <a:ea typeface="MiSans" charset="-122"/>
              <a:cs typeface="MiSans" charset="-122"/>
            </a:endParaRPr>
          </a:p>
        </p:txBody>
      </p:sp>
      <p:sp>
        <p:nvSpPr>
          <p:cNvPr id="5" name="矩形 4"/>
          <p:cNvSpPr/>
          <p:nvPr/>
        </p:nvSpPr>
        <p:spPr>
          <a:xfrm>
            <a:off x="280035" y="5052060"/>
            <a:ext cx="4083050" cy="1234440"/>
          </a:xfrm>
          <a:prstGeom prst="rect">
            <a:avLst/>
          </a:prstGeom>
          <a:solidFill>
            <a:schemeClr val="tx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20000"/>
              </a:lnSpc>
            </a:pPr>
            <a:r>
              <a:rPr lang="zh-CN" altLang="en-US" sz="1000">
                <a:latin typeface="MiSans" charset="-122"/>
                <a:ea typeface="MiSans" charset="-122"/>
                <a:cs typeface="MiSans" charset="-122"/>
              </a:rPr>
              <a:t>// 新增小角度软区参数</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Balance_Soft_Angle_Kp = 2.2;    // </a:t>
            </a:r>
            <a:r>
              <a:rPr lang="zh-CN" altLang="en-US" sz="1000">
                <a:latin typeface="MiSans" charset="-122"/>
                <a:ea typeface="MiSans" charset="-122"/>
                <a:cs typeface="MiSans" charset="-122"/>
              </a:rPr>
              <a:t>正常区是4.0，软区约55%</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Balance_Soft_Angle_Kd = 20.0;   // </a:t>
            </a:r>
            <a:r>
              <a:rPr lang="zh-CN" altLang="en-US" sz="1000">
                <a:latin typeface="MiSans" charset="-122"/>
                <a:ea typeface="MiSans" charset="-122"/>
                <a:cs typeface="MiSans" charset="-122"/>
              </a:rPr>
              <a:t>正常区是32.0，软区约63%</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BALANCE_SOFT_ANGLE_X100 = 600;  // ±6°</a:t>
            </a:r>
            <a:r>
              <a:rPr lang="zh-CN" altLang="en-US" sz="1000">
                <a:latin typeface="MiSans" charset="-122"/>
                <a:ea typeface="MiSans" charset="-122"/>
                <a:cs typeface="MiSans" charset="-122"/>
              </a:rPr>
              <a:t>为分界线</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BALANCE_RESCUE_ANGLE_X100 = 1000; // </a:t>
            </a:r>
            <a:r>
              <a:rPr lang="zh-CN" altLang="en-US" sz="1000">
                <a:latin typeface="MiSans" charset="-122"/>
                <a:ea typeface="MiSans" charset="-122"/>
                <a:cs typeface="MiSans" charset="-122"/>
              </a:rPr>
              <a:t>救杆阈值提到10°</a:t>
            </a:r>
            <a:endParaRPr lang="zh-CN" altLang="en-US" sz="1000">
              <a:latin typeface="MiSans" charset="-122"/>
              <a:ea typeface="MiSans" charset="-122"/>
              <a:cs typeface="MiSans" charset="-122"/>
            </a:endParaRPr>
          </a:p>
        </p:txBody>
      </p:sp>
      <p:sp>
        <p:nvSpPr>
          <p:cNvPr id="9" name="文本框 8"/>
          <p:cNvSpPr txBox="1"/>
          <p:nvPr/>
        </p:nvSpPr>
        <p:spPr>
          <a:xfrm>
            <a:off x="5347335" y="6118225"/>
            <a:ext cx="5080000" cy="739775"/>
          </a:xfrm>
          <a:prstGeom prst="rect">
            <a:avLst/>
          </a:prstGeom>
        </p:spPr>
        <p:txBody>
          <a:bodyPr wrap="square">
            <a:noAutofit/>
          </a:bodyPr>
          <a:p>
            <a:pPr lvl="0" algn="l" defTabSz="266700">
              <a:buSzTx/>
            </a:pPr>
            <a:r>
              <a:rPr lang="en-US" altLang="zh-CN" sz="1200">
                <a:latin typeface="MiSans" charset="-122"/>
                <a:ea typeface="MiSans" charset="-122"/>
                <a:cs typeface="MiSans" charset="-122"/>
                <a:sym typeface="+mn-ea"/>
              </a:rPr>
              <a:t> 0° ~ ±6°  : </a:t>
            </a:r>
            <a:r>
              <a:rPr lang="en-US" altLang="zh-CN" sz="1200">
                <a:latin typeface="MiSans" charset="-122"/>
                <a:ea typeface="MiSans" charset="-122"/>
                <a:cs typeface="MiSans" charset="-122"/>
                <a:sym typeface="+mn-ea"/>
              </a:rPr>
              <a:t>软</a:t>
            </a:r>
            <a:r>
              <a:rPr lang="en-US" altLang="zh-CN" sz="1200">
                <a:latin typeface="MiSans" charset="-122"/>
                <a:ea typeface="MiSans" charset="-122"/>
                <a:cs typeface="MiSans" charset="-122"/>
                <a:sym typeface="+mn-ea"/>
              </a:rPr>
              <a:t>PD (Kp=2.2, Kd=20.0)    ← </a:t>
            </a:r>
            <a:r>
              <a:rPr lang="en-US" altLang="zh-CN" sz="1200">
                <a:latin typeface="MiSans" charset="-122"/>
                <a:ea typeface="MiSans" charset="-122"/>
                <a:cs typeface="MiSans" charset="-122"/>
                <a:sym typeface="+mn-ea"/>
              </a:rPr>
              <a:t>防过冲，像羽毛拂过</a:t>
            </a:r>
            <a:endParaRPr lang="en-US" altLang="zh-CN" sz="1200">
              <a:latin typeface="MiSans" charset="-122"/>
              <a:ea typeface="MiSans" charset="-122"/>
              <a:cs typeface="MiSans" charset="-122"/>
              <a:sym typeface="+mn-ea"/>
            </a:endParaRPr>
          </a:p>
          <a:p>
            <a:pPr lvl="0" algn="l" defTabSz="266700">
              <a:buSzTx/>
            </a:pPr>
            <a:r>
              <a:rPr lang="en-US" altLang="zh-CN" sz="1200">
                <a:latin typeface="MiSans" charset="-122"/>
                <a:ea typeface="MiSans" charset="-122"/>
                <a:cs typeface="MiSans" charset="-122"/>
                <a:sym typeface="+mn-ea"/>
              </a:rPr>
              <a:t> ±6° ~ ±10°: </a:t>
            </a:r>
            <a:r>
              <a:rPr lang="en-US" altLang="zh-CN" sz="1200">
                <a:latin typeface="MiSans" charset="-122"/>
                <a:ea typeface="MiSans" charset="-122"/>
                <a:cs typeface="MiSans" charset="-122"/>
                <a:sym typeface="+mn-ea"/>
              </a:rPr>
              <a:t>正常</a:t>
            </a:r>
            <a:r>
              <a:rPr lang="en-US" altLang="zh-CN" sz="1200">
                <a:latin typeface="MiSans" charset="-122"/>
                <a:ea typeface="MiSans" charset="-122"/>
                <a:cs typeface="MiSans" charset="-122"/>
                <a:sym typeface="+mn-ea"/>
              </a:rPr>
              <a:t>PD (Kp=4.0, Kd=32.0)  ← </a:t>
            </a:r>
            <a:r>
              <a:rPr lang="en-US" altLang="zh-CN" sz="1200">
                <a:latin typeface="MiSans" charset="-122"/>
                <a:ea typeface="MiSans" charset="-122"/>
                <a:cs typeface="MiSans" charset="-122"/>
                <a:sym typeface="+mn-ea"/>
              </a:rPr>
              <a:t>有力追杆</a:t>
            </a:r>
            <a:endParaRPr lang="en-US" altLang="zh-CN" sz="1200">
              <a:latin typeface="MiSans" charset="-122"/>
              <a:ea typeface="MiSans" charset="-122"/>
              <a:cs typeface="MiSans" charset="-122"/>
              <a:sym typeface="+mn-ea"/>
            </a:endParaRPr>
          </a:p>
          <a:p>
            <a:pPr lvl="0" algn="l" defTabSz="266700">
              <a:buSzTx/>
            </a:pPr>
            <a:r>
              <a:rPr lang="en-US" altLang="zh-CN" sz="1200">
                <a:latin typeface="MiSans" charset="-122"/>
                <a:ea typeface="MiSans" charset="-122"/>
                <a:cs typeface="MiSans" charset="-122"/>
                <a:sym typeface="+mn-ea"/>
              </a:rPr>
              <a:t> &gt; ±10°    : </a:t>
            </a:r>
            <a:r>
              <a:rPr lang="en-US" altLang="zh-CN" sz="1200">
                <a:latin typeface="MiSans" charset="-122"/>
                <a:ea typeface="MiSans" charset="-122"/>
                <a:cs typeface="MiSans" charset="-122"/>
                <a:sym typeface="+mn-ea"/>
              </a:rPr>
              <a:t>正常</a:t>
            </a:r>
            <a:r>
              <a:rPr lang="en-US" altLang="zh-CN" sz="1200">
                <a:latin typeface="MiSans" charset="-122"/>
                <a:ea typeface="MiSans" charset="-122"/>
                <a:cs typeface="MiSans" charset="-122"/>
                <a:sym typeface="+mn-ea"/>
              </a:rPr>
              <a:t>PD + </a:t>
            </a:r>
            <a:r>
              <a:rPr lang="en-US" altLang="zh-CN" sz="1200">
                <a:latin typeface="MiSans" charset="-122"/>
                <a:ea typeface="MiSans" charset="-122"/>
                <a:cs typeface="MiSans" charset="-122"/>
                <a:sym typeface="+mn-ea"/>
              </a:rPr>
              <a:t>救杆补偿</a:t>
            </a:r>
            <a:r>
              <a:rPr lang="en-US" altLang="zh-CN" sz="1200">
                <a:latin typeface="MiSans" charset="-122"/>
                <a:ea typeface="MiSans" charset="-122"/>
                <a:cs typeface="MiSans" charset="-122"/>
                <a:sym typeface="+mn-ea"/>
              </a:rPr>
              <a:t>(Kp=1.6) ← </a:t>
            </a:r>
            <a:r>
              <a:rPr lang="en-US" altLang="zh-CN" sz="1200">
                <a:latin typeface="MiSans" charset="-122"/>
                <a:ea typeface="MiSans" charset="-122"/>
                <a:cs typeface="MiSans" charset="-122"/>
                <a:sym typeface="+mn-ea"/>
              </a:rPr>
              <a:t>叠加非线性增强</a:t>
            </a:r>
            <a:endParaRPr lang="en-US" altLang="zh-CN" sz="1200">
              <a:latin typeface="MiSans" charset="-122"/>
              <a:ea typeface="MiSans" charset="-122"/>
              <a:cs typeface="MiSans" charset="-122"/>
              <a:sym typeface="+mn-ea"/>
            </a:endParaRPr>
          </a:p>
        </p:txBody>
      </p:sp>
      <p:sp>
        <p:nvSpPr>
          <p:cNvPr id="10" name="文本框 9"/>
          <p:cNvSpPr txBox="1"/>
          <p:nvPr/>
        </p:nvSpPr>
        <p:spPr>
          <a:xfrm>
            <a:off x="5469255" y="5226050"/>
            <a:ext cx="5648960" cy="651510"/>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defTabSz="266700">
              <a:lnSpc>
                <a:spcPct val="114000"/>
              </a:lnSpc>
              <a:spcAft>
                <a:spcPts val="1000"/>
              </a:spcAft>
            </a:pPr>
            <a:r>
              <a:rPr lang="zh-CN" altLang="en-US" sz="1600">
                <a:latin typeface="MiSans" charset="-122"/>
                <a:ea typeface="MiSans" charset="-122"/>
                <a:cs typeface="MiSans" charset="-122"/>
              </a:rPr>
              <a:t>问题是现在轻微角度的修正太大了，会导致修正过度而朝反方向运动</a:t>
            </a:r>
            <a:endParaRPr lang="zh-CN" altLang="en-US" sz="1600">
              <a:latin typeface="MiSans" charset="-122"/>
              <a:ea typeface="MiSans" charset="-122"/>
              <a:cs typeface="MiSans"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控制程序</a:t>
            </a:r>
            <a:r>
              <a:rPr lang="zh-CN" altLang="en-US" sz="2600" b="1" i="0" u="none" strike="noStrike">
                <a:solidFill>
                  <a:srgbClr val="0891B2"/>
                </a:solidFill>
                <a:latin typeface="MiSans" charset="-122"/>
                <a:ea typeface="MiSans" charset="-122"/>
                <a:cs typeface="MiSans" charset="-122"/>
                <a:sym typeface="MiSans" charset="-122"/>
              </a:rPr>
              <a:t>迭代</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4"/>
          <p:cNvSpPr/>
          <p:nvPr/>
        </p:nvSpPr>
        <p:spPr>
          <a:xfrm>
            <a:off x="734695" y="1610995"/>
            <a:ext cx="1024699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a:latin typeface="MiSans" charset="-122"/>
                <a:ea typeface="MiSans" charset="-122"/>
                <a:cs typeface="MiSans" charset="-122"/>
              </a:rPr>
              <a:t>编写了非线性救杆补偿算法</a:t>
            </a:r>
            <a:r>
              <a:rPr lang="zh-CN" altLang="en-US" sz="1600">
                <a:latin typeface="MiSans" charset="-122"/>
                <a:ea typeface="MiSans" charset="-122"/>
                <a:cs typeface="MiSans" charset="-122"/>
              </a:rPr>
              <a:t>以及大小角度分离控制的机制</a:t>
            </a:r>
            <a:endParaRPr lang="zh-CN" altLang="en-US" sz="1600">
              <a:latin typeface="MiSans" charset="-122"/>
              <a:ea typeface="MiSans" charset="-122"/>
              <a:cs typeface="MiSans" charset="-122"/>
            </a:endParaRPr>
          </a:p>
        </p:txBody>
      </p:sp>
      <p:sp>
        <p:nvSpPr>
          <p:cNvPr id="6" name="矩形 5"/>
          <p:cNvSpPr/>
          <p:nvPr/>
        </p:nvSpPr>
        <p:spPr>
          <a:xfrm>
            <a:off x="280035" y="2453640"/>
            <a:ext cx="5680710" cy="2036445"/>
          </a:xfrm>
          <a:prstGeom prst="rect">
            <a:avLst/>
          </a:prstGeom>
          <a:solidFill>
            <a:schemeClr val="tx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20000"/>
              </a:lnSpc>
            </a:pPr>
            <a:r>
              <a:rPr lang="zh-CN" altLang="en-US" sz="1000">
                <a:latin typeface="MiSans" charset="-122"/>
                <a:ea typeface="MiSans" charset="-122"/>
                <a:cs typeface="MiSans" charset="-122"/>
              </a:rPr>
              <a:t>// 新增参数</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Balance_Rescue_Kp = 1.6;  // </a:t>
            </a:r>
            <a:r>
              <a:rPr lang="zh-CN" altLang="en-US" sz="1000">
                <a:latin typeface="MiSans" charset="-122"/>
                <a:ea typeface="MiSans" charset="-122"/>
                <a:cs typeface="MiSans" charset="-122"/>
              </a:rPr>
              <a:t>救杆区额外比例增益</a:t>
            </a:r>
            <a:endParaRPr lang="zh-CN" altLang="en-US" sz="1000">
              <a:latin typeface="MiSans" charset="-122"/>
              <a:ea typeface="MiSans" charset="-122"/>
              <a:cs typeface="MiSans" charset="-122"/>
            </a:endParaRPr>
          </a:p>
          <a:p>
            <a:pPr algn="l">
              <a:lnSpc>
                <a:spcPct val="120000"/>
              </a:lnSpc>
            </a:pPr>
            <a:endParaRPr lang="en-US" altLang="zh-CN" sz="1000">
              <a:latin typeface="MiSans" charset="-122"/>
              <a:ea typeface="MiSans" charset="-122"/>
              <a:cs typeface="MiSans" charset="-122"/>
            </a:endParaRPr>
          </a:p>
          <a:p>
            <a:pPr algn="l">
              <a:lnSpc>
                <a:spcPct val="120000"/>
              </a:lnSpc>
            </a:pPr>
            <a:r>
              <a:rPr lang="zh-CN" altLang="en-US" sz="1000">
                <a:latin typeface="MiSans" charset="-122"/>
                <a:ea typeface="MiSans" charset="-122"/>
                <a:cs typeface="MiSans" charset="-122"/>
              </a:rPr>
              <a:t>// 核心逻辑：超过阈值后线性叠加额外补偿</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abs_angle = |angle_x100|;</a:t>
            </a:r>
            <a:endParaRPr lang="en-US" altLang="zh-CN"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if (abs_angle &gt; 800)  // </a:t>
            </a:r>
            <a:r>
              <a:rPr lang="zh-CN" altLang="en-US" sz="1000">
                <a:latin typeface="MiSans" charset="-122"/>
                <a:ea typeface="MiSans" charset="-122"/>
                <a:cs typeface="MiSans" charset="-122"/>
              </a:rPr>
              <a:t>超过约8°触发</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    rescue_pwm = 1.6 × (abs_angle - 800) × sign(angle);</a:t>
            </a:r>
            <a:endParaRPr lang="en-US" altLang="zh-CN" sz="1000">
              <a:latin typeface="MiSans" charset="-122"/>
              <a:ea typeface="MiSans" charset="-122"/>
              <a:cs typeface="MiSans" charset="-122"/>
            </a:endParaRPr>
          </a:p>
          <a:p>
            <a:pPr algn="l">
              <a:lnSpc>
                <a:spcPct val="120000"/>
              </a:lnSpc>
            </a:pPr>
            <a:endParaRPr lang="en-US" altLang="zh-CN" sz="1000">
              <a:latin typeface="MiSans" charset="-122"/>
              <a:ea typeface="MiSans" charset="-122"/>
              <a:cs typeface="MiSans" charset="-122"/>
            </a:endParaRPr>
          </a:p>
          <a:p>
            <a:pPr algn="l">
              <a:lnSpc>
                <a:spcPct val="120000"/>
              </a:lnSpc>
            </a:pPr>
            <a:r>
              <a:rPr lang="zh-CN" altLang="en-US" sz="1000">
                <a:latin typeface="MiSans" charset="-122"/>
                <a:ea typeface="MiSans" charset="-122"/>
                <a:cs typeface="MiSans" charset="-122"/>
              </a:rPr>
              <a:t>// 最终输出</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output = angle_pd + rescue_pwm - speed_damping - position;</a:t>
            </a:r>
            <a:endParaRPr lang="en-US" altLang="zh-CN" sz="1000">
              <a:latin typeface="MiSans" charset="-122"/>
              <a:ea typeface="MiSans" charset="-122"/>
              <a:cs typeface="MiSans" charset="-122"/>
            </a:endParaRPr>
          </a:p>
        </p:txBody>
      </p:sp>
      <p:sp>
        <p:nvSpPr>
          <p:cNvPr id="7" name="文本框 6"/>
          <p:cNvSpPr txBox="1"/>
          <p:nvPr/>
        </p:nvSpPr>
        <p:spPr>
          <a:xfrm>
            <a:off x="762000" y="1191260"/>
            <a:ext cx="2156460" cy="337185"/>
          </a:xfrm>
          <a:prstGeom prst="rect">
            <a:avLst/>
          </a:prstGeom>
        </p:spPr>
        <p:style>
          <a:lnRef idx="0">
            <a:srgbClr val="FFFFFF"/>
          </a:lnRef>
          <a:fillRef idx="3">
            <a:schemeClr val="accent5"/>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第</a:t>
            </a:r>
            <a:r>
              <a:rPr lang="zh-CN" altLang="en-US" sz="1600">
                <a:solidFill>
                  <a:srgbClr val="003366"/>
                </a:solidFill>
                <a:latin typeface="MiSans Medium" panose="00000600000000000000" charset="-122"/>
                <a:ea typeface="MiSans Medium" panose="00000600000000000000" charset="-122"/>
              </a:rPr>
              <a:t>二版平衡控制</a:t>
            </a:r>
            <a:r>
              <a:rPr lang="zh-CN" altLang="en-US" sz="1600">
                <a:solidFill>
                  <a:srgbClr val="003366"/>
                </a:solidFill>
                <a:latin typeface="MiSans Medium" panose="00000600000000000000" charset="-122"/>
                <a:ea typeface="MiSans Medium" panose="00000600000000000000" charset="-122"/>
              </a:rPr>
              <a:t>算法</a:t>
            </a:r>
            <a:endParaRPr lang="zh-CN" altLang="en-US" sz="1600">
              <a:solidFill>
                <a:srgbClr val="003366"/>
              </a:solidFill>
              <a:latin typeface="MiSans Medium" panose="00000600000000000000" charset="-122"/>
              <a:ea typeface="MiSans Medium" panose="00000600000000000000" charset="-122"/>
            </a:endParaRPr>
          </a:p>
        </p:txBody>
      </p:sp>
      <p:sp>
        <p:nvSpPr>
          <p:cNvPr id="8" name="文本框 7"/>
          <p:cNvSpPr txBox="1"/>
          <p:nvPr/>
        </p:nvSpPr>
        <p:spPr>
          <a:xfrm>
            <a:off x="762000" y="2082165"/>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非线性救杆</a:t>
            </a:r>
            <a:r>
              <a:rPr lang="zh-CN" altLang="en-US" sz="1600">
                <a:solidFill>
                  <a:srgbClr val="003366"/>
                </a:solidFill>
                <a:latin typeface="MiSans Medium" panose="00000600000000000000" charset="-122"/>
                <a:ea typeface="MiSans Medium" panose="00000600000000000000" charset="-122"/>
              </a:rPr>
              <a:t>补偿</a:t>
            </a:r>
            <a:endParaRPr lang="zh-CN" altLang="en-US" sz="1600">
              <a:solidFill>
                <a:srgbClr val="003366"/>
              </a:solidFill>
              <a:latin typeface="MiSans Medium" panose="00000600000000000000" charset="-122"/>
              <a:ea typeface="MiSans Medium" panose="00000600000000000000" charset="-122"/>
            </a:endParaRPr>
          </a:p>
        </p:txBody>
      </p:sp>
      <p:sp>
        <p:nvSpPr>
          <p:cNvPr id="11" name="文本框 10"/>
          <p:cNvSpPr txBox="1"/>
          <p:nvPr/>
        </p:nvSpPr>
        <p:spPr>
          <a:xfrm>
            <a:off x="762000" y="4602480"/>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spAutoFit/>
          </a:bodyPr>
          <a:p>
            <a:pPr lvl="0" algn="ctr" defTabSz="266700">
              <a:buSzTx/>
            </a:pPr>
            <a:r>
              <a:rPr lang="zh-CN" altLang="en-US" sz="1600">
                <a:solidFill>
                  <a:srgbClr val="003366"/>
                </a:solidFill>
                <a:latin typeface="MiSans Medium" panose="00000600000000000000" charset="-122"/>
                <a:ea typeface="MiSans Medium" panose="00000600000000000000" charset="-122"/>
                <a:sym typeface="+mn-ea"/>
              </a:rPr>
              <a:t>小角度软控制区</a:t>
            </a:r>
            <a:endParaRPr lang="zh-CN" altLang="en-US" sz="1600">
              <a:solidFill>
                <a:srgbClr val="003366"/>
              </a:solidFill>
              <a:latin typeface="MiSans Medium" panose="00000600000000000000" charset="-122"/>
              <a:ea typeface="MiSans Medium" panose="00000600000000000000" charset="-122"/>
              <a:sym typeface="+mn-ea"/>
            </a:endParaRPr>
          </a:p>
        </p:txBody>
      </p:sp>
      <p:sp>
        <p:nvSpPr>
          <p:cNvPr id="20" name="文本框 19"/>
          <p:cNvSpPr txBox="1"/>
          <p:nvPr/>
        </p:nvSpPr>
        <p:spPr>
          <a:xfrm>
            <a:off x="6238240" y="2962910"/>
            <a:ext cx="5648960" cy="93154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defTabSz="266700">
              <a:lnSpc>
                <a:spcPct val="114000"/>
              </a:lnSpc>
              <a:spcAft>
                <a:spcPts val="1000"/>
              </a:spcAft>
            </a:pPr>
            <a:r>
              <a:rPr lang="zh-CN" altLang="en-US" sz="1600">
                <a:latin typeface="MiSans" charset="-122"/>
                <a:ea typeface="MiSans" charset="-122"/>
                <a:cs typeface="MiSans" charset="-122"/>
              </a:rPr>
              <a:t>如果最开始向一个方向偏移的比较慢时能救回来，但是会救得太多了快速倒向另一边，还有如果本身就往一个方向倾斜就会救不回来（一直往一个方向加速但是救不回来）</a:t>
            </a:r>
            <a:endParaRPr lang="zh-CN" altLang="en-US" sz="1600">
              <a:latin typeface="MiSans" charset="-122"/>
              <a:ea typeface="MiSans" charset="-122"/>
              <a:cs typeface="MiSans" charset="-122"/>
            </a:endParaRPr>
          </a:p>
        </p:txBody>
      </p:sp>
      <p:sp>
        <p:nvSpPr>
          <p:cNvPr id="5" name="矩形 4"/>
          <p:cNvSpPr/>
          <p:nvPr/>
        </p:nvSpPr>
        <p:spPr>
          <a:xfrm>
            <a:off x="280035" y="5052060"/>
            <a:ext cx="4083050" cy="1234440"/>
          </a:xfrm>
          <a:prstGeom prst="rect">
            <a:avLst/>
          </a:prstGeom>
          <a:solidFill>
            <a:schemeClr val="tx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20000"/>
              </a:lnSpc>
            </a:pPr>
            <a:r>
              <a:rPr lang="zh-CN" altLang="en-US" sz="1000">
                <a:latin typeface="MiSans" charset="-122"/>
                <a:ea typeface="MiSans" charset="-122"/>
                <a:cs typeface="MiSans" charset="-122"/>
              </a:rPr>
              <a:t>// 新增小角度软区参数</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Balance_Soft_Angle_Kp = 2.2;    // </a:t>
            </a:r>
            <a:r>
              <a:rPr lang="zh-CN" altLang="en-US" sz="1000">
                <a:latin typeface="MiSans" charset="-122"/>
                <a:ea typeface="MiSans" charset="-122"/>
                <a:cs typeface="MiSans" charset="-122"/>
              </a:rPr>
              <a:t>正常区是4.0，软区约55%</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Balance_Soft_Angle_Kd = 20.0;   // </a:t>
            </a:r>
            <a:r>
              <a:rPr lang="zh-CN" altLang="en-US" sz="1000">
                <a:latin typeface="MiSans" charset="-122"/>
                <a:ea typeface="MiSans" charset="-122"/>
                <a:cs typeface="MiSans" charset="-122"/>
              </a:rPr>
              <a:t>正常区是32.0，软区约63%</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BALANCE_SOFT_ANGLE_X100 = 600;  // ±6°</a:t>
            </a:r>
            <a:r>
              <a:rPr lang="zh-CN" altLang="en-US" sz="1000">
                <a:latin typeface="MiSans" charset="-122"/>
                <a:ea typeface="MiSans" charset="-122"/>
                <a:cs typeface="MiSans" charset="-122"/>
              </a:rPr>
              <a:t>为分界线</a:t>
            </a:r>
            <a:endParaRPr lang="zh-CN" altLang="en-US" sz="1000">
              <a:latin typeface="MiSans" charset="-122"/>
              <a:ea typeface="MiSans" charset="-122"/>
              <a:cs typeface="MiSans" charset="-122"/>
            </a:endParaRPr>
          </a:p>
          <a:p>
            <a:pPr algn="l">
              <a:lnSpc>
                <a:spcPct val="120000"/>
              </a:lnSpc>
            </a:pPr>
            <a:r>
              <a:rPr lang="en-US" altLang="zh-CN" sz="1000">
                <a:latin typeface="MiSans" charset="-122"/>
                <a:ea typeface="MiSans" charset="-122"/>
                <a:cs typeface="MiSans" charset="-122"/>
              </a:rPr>
              <a:t>BALANCE_RESCUE_ANGLE_X100 = 1000; // </a:t>
            </a:r>
            <a:r>
              <a:rPr lang="zh-CN" altLang="en-US" sz="1000">
                <a:latin typeface="MiSans" charset="-122"/>
                <a:ea typeface="MiSans" charset="-122"/>
                <a:cs typeface="MiSans" charset="-122"/>
              </a:rPr>
              <a:t>救杆阈值提到10°</a:t>
            </a:r>
            <a:endParaRPr lang="zh-CN" altLang="en-US" sz="1000">
              <a:latin typeface="MiSans" charset="-122"/>
              <a:ea typeface="MiSans" charset="-122"/>
              <a:cs typeface="MiSans" charset="-122"/>
            </a:endParaRPr>
          </a:p>
        </p:txBody>
      </p:sp>
      <p:sp>
        <p:nvSpPr>
          <p:cNvPr id="9" name="文本框 8"/>
          <p:cNvSpPr txBox="1"/>
          <p:nvPr/>
        </p:nvSpPr>
        <p:spPr>
          <a:xfrm>
            <a:off x="5347335" y="6118225"/>
            <a:ext cx="5080000" cy="739775"/>
          </a:xfrm>
          <a:prstGeom prst="rect">
            <a:avLst/>
          </a:prstGeom>
        </p:spPr>
        <p:txBody>
          <a:bodyPr wrap="square">
            <a:noAutofit/>
          </a:bodyPr>
          <a:p>
            <a:pPr lvl="0" algn="l" defTabSz="266700">
              <a:buSzTx/>
            </a:pPr>
            <a:r>
              <a:rPr lang="en-US" altLang="zh-CN" sz="1200">
                <a:latin typeface="MiSans" charset="-122"/>
                <a:ea typeface="MiSans" charset="-122"/>
                <a:cs typeface="MiSans" charset="-122"/>
                <a:sym typeface="+mn-ea"/>
              </a:rPr>
              <a:t> 0° ~ ±6°  : </a:t>
            </a:r>
            <a:r>
              <a:rPr lang="en-US" altLang="zh-CN" sz="1200">
                <a:latin typeface="MiSans" charset="-122"/>
                <a:ea typeface="MiSans" charset="-122"/>
                <a:cs typeface="MiSans" charset="-122"/>
                <a:sym typeface="+mn-ea"/>
              </a:rPr>
              <a:t>软</a:t>
            </a:r>
            <a:r>
              <a:rPr lang="en-US" altLang="zh-CN" sz="1200">
                <a:latin typeface="MiSans" charset="-122"/>
                <a:ea typeface="MiSans" charset="-122"/>
                <a:cs typeface="MiSans" charset="-122"/>
                <a:sym typeface="+mn-ea"/>
              </a:rPr>
              <a:t>PD (Kp=2.2, Kd=20.0)    ← </a:t>
            </a:r>
            <a:r>
              <a:rPr lang="en-US" altLang="zh-CN" sz="1200">
                <a:latin typeface="MiSans" charset="-122"/>
                <a:ea typeface="MiSans" charset="-122"/>
                <a:cs typeface="MiSans" charset="-122"/>
                <a:sym typeface="+mn-ea"/>
              </a:rPr>
              <a:t>防过冲，像羽毛拂过</a:t>
            </a:r>
            <a:endParaRPr lang="en-US" altLang="zh-CN" sz="1200">
              <a:latin typeface="MiSans" charset="-122"/>
              <a:ea typeface="MiSans" charset="-122"/>
              <a:cs typeface="MiSans" charset="-122"/>
              <a:sym typeface="+mn-ea"/>
            </a:endParaRPr>
          </a:p>
          <a:p>
            <a:pPr lvl="0" algn="l" defTabSz="266700">
              <a:buSzTx/>
            </a:pPr>
            <a:r>
              <a:rPr lang="en-US" altLang="zh-CN" sz="1200">
                <a:latin typeface="MiSans" charset="-122"/>
                <a:ea typeface="MiSans" charset="-122"/>
                <a:cs typeface="MiSans" charset="-122"/>
                <a:sym typeface="+mn-ea"/>
              </a:rPr>
              <a:t> ±6° ~ ±10°: </a:t>
            </a:r>
            <a:r>
              <a:rPr lang="en-US" altLang="zh-CN" sz="1200">
                <a:latin typeface="MiSans" charset="-122"/>
                <a:ea typeface="MiSans" charset="-122"/>
                <a:cs typeface="MiSans" charset="-122"/>
                <a:sym typeface="+mn-ea"/>
              </a:rPr>
              <a:t>正常</a:t>
            </a:r>
            <a:r>
              <a:rPr lang="en-US" altLang="zh-CN" sz="1200">
                <a:latin typeface="MiSans" charset="-122"/>
                <a:ea typeface="MiSans" charset="-122"/>
                <a:cs typeface="MiSans" charset="-122"/>
                <a:sym typeface="+mn-ea"/>
              </a:rPr>
              <a:t>PD (Kp=4.0, Kd=32.0)  ← </a:t>
            </a:r>
            <a:r>
              <a:rPr lang="en-US" altLang="zh-CN" sz="1200">
                <a:latin typeface="MiSans" charset="-122"/>
                <a:ea typeface="MiSans" charset="-122"/>
                <a:cs typeface="MiSans" charset="-122"/>
                <a:sym typeface="+mn-ea"/>
              </a:rPr>
              <a:t>有力追杆</a:t>
            </a:r>
            <a:endParaRPr lang="en-US" altLang="zh-CN" sz="1200">
              <a:latin typeface="MiSans" charset="-122"/>
              <a:ea typeface="MiSans" charset="-122"/>
              <a:cs typeface="MiSans" charset="-122"/>
              <a:sym typeface="+mn-ea"/>
            </a:endParaRPr>
          </a:p>
          <a:p>
            <a:pPr lvl="0" algn="l" defTabSz="266700">
              <a:buSzTx/>
            </a:pPr>
            <a:r>
              <a:rPr lang="en-US" altLang="zh-CN" sz="1200">
                <a:latin typeface="MiSans" charset="-122"/>
                <a:ea typeface="MiSans" charset="-122"/>
                <a:cs typeface="MiSans" charset="-122"/>
                <a:sym typeface="+mn-ea"/>
              </a:rPr>
              <a:t> &gt; ±10°    : </a:t>
            </a:r>
            <a:r>
              <a:rPr lang="en-US" altLang="zh-CN" sz="1200">
                <a:latin typeface="MiSans" charset="-122"/>
                <a:ea typeface="MiSans" charset="-122"/>
                <a:cs typeface="MiSans" charset="-122"/>
                <a:sym typeface="+mn-ea"/>
              </a:rPr>
              <a:t>正常</a:t>
            </a:r>
            <a:r>
              <a:rPr lang="en-US" altLang="zh-CN" sz="1200">
                <a:latin typeface="MiSans" charset="-122"/>
                <a:ea typeface="MiSans" charset="-122"/>
                <a:cs typeface="MiSans" charset="-122"/>
                <a:sym typeface="+mn-ea"/>
              </a:rPr>
              <a:t>PD + </a:t>
            </a:r>
            <a:r>
              <a:rPr lang="en-US" altLang="zh-CN" sz="1200">
                <a:latin typeface="MiSans" charset="-122"/>
                <a:ea typeface="MiSans" charset="-122"/>
                <a:cs typeface="MiSans" charset="-122"/>
                <a:sym typeface="+mn-ea"/>
              </a:rPr>
              <a:t>救杆补偿</a:t>
            </a:r>
            <a:r>
              <a:rPr lang="en-US" altLang="zh-CN" sz="1200">
                <a:latin typeface="MiSans" charset="-122"/>
                <a:ea typeface="MiSans" charset="-122"/>
                <a:cs typeface="MiSans" charset="-122"/>
                <a:sym typeface="+mn-ea"/>
              </a:rPr>
              <a:t>(Kp=1.6) ← </a:t>
            </a:r>
            <a:r>
              <a:rPr lang="en-US" altLang="zh-CN" sz="1200">
                <a:latin typeface="MiSans" charset="-122"/>
                <a:ea typeface="MiSans" charset="-122"/>
                <a:cs typeface="MiSans" charset="-122"/>
                <a:sym typeface="+mn-ea"/>
              </a:rPr>
              <a:t>叠加非线性增强</a:t>
            </a:r>
            <a:endParaRPr lang="en-US" altLang="zh-CN" sz="1200">
              <a:latin typeface="MiSans" charset="-122"/>
              <a:ea typeface="MiSans" charset="-122"/>
              <a:cs typeface="MiSans" charset="-122"/>
              <a:sym typeface="+mn-ea"/>
            </a:endParaRPr>
          </a:p>
        </p:txBody>
      </p:sp>
      <p:sp>
        <p:nvSpPr>
          <p:cNvPr id="10" name="文本框 9"/>
          <p:cNvSpPr txBox="1"/>
          <p:nvPr/>
        </p:nvSpPr>
        <p:spPr>
          <a:xfrm>
            <a:off x="5469255" y="5226050"/>
            <a:ext cx="5648960" cy="651510"/>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defTabSz="266700">
              <a:lnSpc>
                <a:spcPct val="114000"/>
              </a:lnSpc>
              <a:spcAft>
                <a:spcPts val="1000"/>
              </a:spcAft>
            </a:pPr>
            <a:r>
              <a:rPr lang="zh-CN" altLang="en-US" sz="1600">
                <a:latin typeface="MiSans" charset="-122"/>
                <a:ea typeface="MiSans" charset="-122"/>
                <a:cs typeface="MiSans" charset="-122"/>
              </a:rPr>
              <a:t>问题是现在轻微角度的修正太大了，会导致修正过度而朝反方向运动</a:t>
            </a:r>
            <a:endParaRPr lang="zh-CN" altLang="en-US" sz="1600">
              <a:latin typeface="MiSans" charset="-122"/>
              <a:ea typeface="MiSans" charset="-122"/>
              <a:cs typeface="MiSans"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控制程序</a:t>
            </a:r>
            <a:r>
              <a:rPr lang="zh-CN" altLang="en-US" sz="2600" b="1" i="0" u="none" strike="noStrike">
                <a:solidFill>
                  <a:srgbClr val="0891B2"/>
                </a:solidFill>
                <a:latin typeface="MiSans" charset="-122"/>
                <a:ea typeface="MiSans" charset="-122"/>
                <a:cs typeface="MiSans" charset="-122"/>
                <a:sym typeface="MiSans" charset="-122"/>
              </a:rPr>
              <a:t>迭代</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4"/>
          <p:cNvSpPr/>
          <p:nvPr/>
        </p:nvSpPr>
        <p:spPr>
          <a:xfrm>
            <a:off x="734695" y="1610995"/>
            <a:ext cx="1024699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a:latin typeface="MiSans" charset="-122"/>
                <a:ea typeface="MiSans" charset="-122"/>
                <a:cs typeface="MiSans" charset="-122"/>
              </a:rPr>
              <a:t>解决"计算上有输出，物理上车不动"这一根本矛盾</a:t>
            </a:r>
            <a:endParaRPr lang="zh-CN" altLang="en-US" sz="1600">
              <a:latin typeface="MiSans" charset="-122"/>
              <a:ea typeface="MiSans" charset="-122"/>
              <a:cs typeface="MiSans" charset="-122"/>
            </a:endParaRPr>
          </a:p>
        </p:txBody>
      </p:sp>
      <p:sp>
        <p:nvSpPr>
          <p:cNvPr id="6" name="矩形 5"/>
          <p:cNvSpPr/>
          <p:nvPr/>
        </p:nvSpPr>
        <p:spPr>
          <a:xfrm>
            <a:off x="734695" y="2799715"/>
            <a:ext cx="6354445" cy="1976120"/>
          </a:xfrm>
          <a:prstGeom prst="rect">
            <a:avLst/>
          </a:prstGeom>
          <a:solidFill>
            <a:schemeClr val="tx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20000"/>
              </a:lnSpc>
            </a:pPr>
            <a:r>
              <a:rPr lang="zh-CN" altLang="en-US" sz="1200">
                <a:latin typeface="MiSans" charset="-122"/>
                <a:ea typeface="MiSans" charset="-122"/>
                <a:cs typeface="MiSans" charset="-122"/>
              </a:rPr>
              <a:t>// 新增阈值</a:t>
            </a:r>
            <a:endParaRPr lang="zh-CN" altLang="en-US"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BALANCE_START_ANGLE_X100 = 150;  // 1.5°</a:t>
            </a:r>
            <a:r>
              <a:rPr lang="zh-CN" altLang="en-US" sz="1200">
                <a:latin typeface="MiSans" charset="-122"/>
                <a:ea typeface="MiSans" charset="-122"/>
                <a:cs typeface="MiSans" charset="-122"/>
              </a:rPr>
              <a:t>后才触发</a:t>
            </a:r>
            <a:endParaRPr lang="zh-CN" altLang="en-US"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BALANCE_MIN_OUTPUT = 650;        // </a:t>
            </a:r>
            <a:r>
              <a:rPr lang="zh-CN" altLang="en-US" sz="1200">
                <a:latin typeface="MiSans" charset="-122"/>
                <a:ea typeface="MiSans" charset="-122"/>
                <a:cs typeface="MiSans" charset="-122"/>
              </a:rPr>
              <a:t>最小保底</a:t>
            </a:r>
            <a:r>
              <a:rPr lang="en-US" altLang="zh-CN" sz="1200">
                <a:latin typeface="MiSans" charset="-122"/>
                <a:ea typeface="MiSans" charset="-122"/>
                <a:cs typeface="MiSans" charset="-122"/>
              </a:rPr>
              <a:t>PWM</a:t>
            </a:r>
            <a:endParaRPr lang="en-US" altLang="zh-CN" sz="1200">
              <a:latin typeface="MiSans" charset="-122"/>
              <a:ea typeface="MiSans" charset="-122"/>
              <a:cs typeface="MiSans" charset="-122"/>
            </a:endParaRPr>
          </a:p>
          <a:p>
            <a:pPr algn="l">
              <a:lnSpc>
                <a:spcPct val="120000"/>
              </a:lnSpc>
            </a:pPr>
            <a:endParaRPr lang="en-US" altLang="zh-CN" sz="1200">
              <a:latin typeface="MiSans" charset="-122"/>
              <a:ea typeface="MiSans" charset="-122"/>
              <a:cs typeface="MiSans" charset="-122"/>
            </a:endParaRPr>
          </a:p>
          <a:p>
            <a:pPr algn="l">
              <a:lnSpc>
                <a:spcPct val="120000"/>
              </a:lnSpc>
            </a:pPr>
            <a:r>
              <a:rPr lang="zh-CN" altLang="en-US" sz="1200">
                <a:latin typeface="MiSans" charset="-122"/>
                <a:ea typeface="MiSans" charset="-122"/>
                <a:cs typeface="MiSans" charset="-122"/>
              </a:rPr>
              <a:t>// 核心逻辑</a:t>
            </a:r>
            <a:endParaRPr lang="zh-CN" altLang="en-US"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if (abs_angle &gt; 150 &amp;&amp; |output| &lt; 650 &amp;&amp; output != 0)</a:t>
            </a:r>
            <a:endParaRPr lang="en-US" altLang="zh-CN"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    output = 650 × sign(output);  // </a:t>
            </a:r>
            <a:r>
              <a:rPr lang="zh-CN" altLang="en-US" sz="1200">
                <a:latin typeface="MiSans" charset="-122"/>
                <a:ea typeface="MiSans" charset="-122"/>
                <a:cs typeface="MiSans" charset="-122"/>
              </a:rPr>
              <a:t>强制拉到最小可动作水平</a:t>
            </a:r>
            <a:endParaRPr lang="zh-CN" altLang="en-US" sz="1200">
              <a:latin typeface="MiSans" charset="-122"/>
              <a:ea typeface="MiSans" charset="-122"/>
              <a:cs typeface="MiSans" charset="-122"/>
            </a:endParaRPr>
          </a:p>
        </p:txBody>
      </p:sp>
      <p:sp>
        <p:nvSpPr>
          <p:cNvPr id="7" name="文本框 6"/>
          <p:cNvSpPr txBox="1"/>
          <p:nvPr/>
        </p:nvSpPr>
        <p:spPr>
          <a:xfrm>
            <a:off x="762000" y="1191260"/>
            <a:ext cx="2156460" cy="337185"/>
          </a:xfrm>
          <a:prstGeom prst="rect">
            <a:avLst/>
          </a:prstGeom>
        </p:spPr>
        <p:style>
          <a:lnRef idx="0">
            <a:srgbClr val="FFFFFF"/>
          </a:lnRef>
          <a:fillRef idx="3">
            <a:schemeClr val="accent5"/>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第</a:t>
            </a:r>
            <a:r>
              <a:rPr lang="zh-CN" altLang="en-US" sz="1600">
                <a:solidFill>
                  <a:srgbClr val="003366"/>
                </a:solidFill>
                <a:latin typeface="MiSans Medium" panose="00000600000000000000" charset="-122"/>
                <a:ea typeface="MiSans Medium" panose="00000600000000000000" charset="-122"/>
              </a:rPr>
              <a:t>三版平衡控制</a:t>
            </a:r>
            <a:r>
              <a:rPr lang="zh-CN" altLang="en-US" sz="1600">
                <a:solidFill>
                  <a:srgbClr val="003366"/>
                </a:solidFill>
                <a:latin typeface="MiSans Medium" panose="00000600000000000000" charset="-122"/>
                <a:ea typeface="MiSans Medium" panose="00000600000000000000" charset="-122"/>
              </a:rPr>
              <a:t>算法</a:t>
            </a:r>
            <a:endParaRPr lang="zh-CN" altLang="en-US" sz="1600">
              <a:solidFill>
                <a:srgbClr val="003366"/>
              </a:solidFill>
              <a:latin typeface="MiSans Medium" panose="00000600000000000000" charset="-122"/>
              <a:ea typeface="MiSans Medium" panose="00000600000000000000" charset="-122"/>
            </a:endParaRPr>
          </a:p>
        </p:txBody>
      </p:sp>
      <p:sp>
        <p:nvSpPr>
          <p:cNvPr id="8" name="文本框 7"/>
          <p:cNvSpPr txBox="1"/>
          <p:nvPr/>
        </p:nvSpPr>
        <p:spPr>
          <a:xfrm>
            <a:off x="762000" y="2201545"/>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最小输出补偿</a:t>
            </a:r>
            <a:endParaRPr lang="zh-CN" altLang="en-US" sz="1600">
              <a:solidFill>
                <a:srgbClr val="003366"/>
              </a:solidFill>
              <a:latin typeface="MiSans Medium" panose="00000600000000000000" charset="-122"/>
              <a:ea typeface="MiSans Medium" panose="00000600000000000000" charset="-122"/>
            </a:endParaRPr>
          </a:p>
        </p:txBody>
      </p:sp>
      <p:sp>
        <p:nvSpPr>
          <p:cNvPr id="12" name="文本框 11"/>
          <p:cNvSpPr txBox="1"/>
          <p:nvPr/>
        </p:nvSpPr>
        <p:spPr>
          <a:xfrm>
            <a:off x="6044565" y="1610995"/>
            <a:ext cx="5648960" cy="37147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defTabSz="266700">
              <a:lnSpc>
                <a:spcPct val="114000"/>
              </a:lnSpc>
              <a:spcAft>
                <a:spcPts val="1000"/>
              </a:spcAft>
            </a:pPr>
            <a:r>
              <a:rPr lang="zh-CN" altLang="en-US" sz="1600">
                <a:latin typeface="MiSans" charset="-122"/>
                <a:ea typeface="MiSans" charset="-122"/>
                <a:cs typeface="MiSans" charset="-122"/>
              </a:rPr>
              <a:t>起步响应又太慢了，导致轻微转动的时候基本上没有</a:t>
            </a:r>
            <a:r>
              <a:rPr lang="zh-CN" altLang="en-US" sz="1600">
                <a:latin typeface="MiSans" charset="-122"/>
                <a:ea typeface="MiSans" charset="-122"/>
                <a:cs typeface="MiSans" charset="-122"/>
              </a:rPr>
              <a:t>微调</a:t>
            </a:r>
            <a:endParaRPr lang="zh-CN" altLang="en-US" sz="1600">
              <a:latin typeface="MiSans" charset="-122"/>
              <a:ea typeface="MiSans" charset="-122"/>
              <a:cs typeface="MiSans" charset="-122"/>
            </a:endParaRPr>
          </a:p>
        </p:txBody>
      </p:sp>
      <p:sp>
        <p:nvSpPr>
          <p:cNvPr id="13" name="文本框 12"/>
          <p:cNvSpPr txBox="1"/>
          <p:nvPr/>
        </p:nvSpPr>
        <p:spPr>
          <a:xfrm>
            <a:off x="707390" y="5318760"/>
            <a:ext cx="11069955" cy="739775"/>
          </a:xfrm>
          <a:prstGeom prst="rect">
            <a:avLst/>
          </a:prstGeom>
        </p:spPr>
        <p:txBody>
          <a:bodyPr wrap="square">
            <a:noAutofit/>
          </a:bodyPr>
          <a:p>
            <a:pPr lvl="0" algn="l" defTabSz="266700">
              <a:lnSpc>
                <a:spcPct val="120000"/>
              </a:lnSpc>
              <a:buSzTx/>
            </a:pPr>
            <a:r>
              <a:rPr lang="zh-CN" altLang="en-US" sz="1600">
                <a:latin typeface="MiSans" charset="-122"/>
                <a:ea typeface="MiSans" charset="-122"/>
                <a:cs typeface="MiSans" charset="-122"/>
                <a:sym typeface="+mn-ea"/>
              </a:rPr>
              <a:t>只在超过1.5°且输出太小时才补偿，零点附近（0~1.5°）不触发。这避免了"调零后无角度时电机持续抖动"。物理本质是克服</a:t>
            </a:r>
            <a:r>
              <a:rPr lang="en-US" altLang="zh-CN" sz="1600">
                <a:latin typeface="MiSans" charset="-122"/>
                <a:ea typeface="MiSans" charset="-122"/>
                <a:cs typeface="MiSans" charset="-122"/>
                <a:sym typeface="+mn-ea"/>
              </a:rPr>
              <a:t>Stribeck</a:t>
            </a:r>
            <a:r>
              <a:rPr lang="zh-CN" altLang="en-US" sz="1600">
                <a:latin typeface="MiSans" charset="-122"/>
                <a:ea typeface="MiSans" charset="-122"/>
                <a:cs typeface="MiSans" charset="-122"/>
                <a:sym typeface="+mn-ea"/>
              </a:rPr>
              <a:t>效应——从静摩擦到动摩擦的过渡需要足够的初始力矩。</a:t>
            </a:r>
            <a:endParaRPr lang="zh-CN" altLang="en-US" sz="1600">
              <a:latin typeface="MiSans" charset="-122"/>
              <a:ea typeface="MiSans" charset="-122"/>
              <a:cs typeface="MiSans"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控制程序</a:t>
            </a:r>
            <a:r>
              <a:rPr lang="zh-CN" altLang="en-US" sz="2600" b="1" i="0" u="none" strike="noStrike">
                <a:solidFill>
                  <a:srgbClr val="0891B2"/>
                </a:solidFill>
                <a:latin typeface="MiSans" charset="-122"/>
                <a:ea typeface="MiSans" charset="-122"/>
                <a:cs typeface="MiSans" charset="-122"/>
                <a:sym typeface="MiSans" charset="-122"/>
              </a:rPr>
              <a:t>迭代</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4"/>
          <p:cNvSpPr/>
          <p:nvPr/>
        </p:nvSpPr>
        <p:spPr>
          <a:xfrm>
            <a:off x="762000" y="1610995"/>
            <a:ext cx="1024699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a:latin typeface="MiSans" charset="-122"/>
                <a:ea typeface="MiSans" charset="-122"/>
                <a:cs typeface="MiSans" charset="-122"/>
              </a:rPr>
              <a:t>在</a:t>
            </a:r>
            <a:r>
              <a:rPr lang="en-US" altLang="zh-CN" sz="1600">
                <a:latin typeface="MiSans" charset="-122"/>
                <a:ea typeface="MiSans" charset="-122"/>
                <a:cs typeface="MiSans" charset="-122"/>
              </a:rPr>
              <a:t>V12</a:t>
            </a:r>
            <a:r>
              <a:rPr lang="zh-CN" altLang="en-US" sz="1600">
                <a:latin typeface="MiSans" charset="-122"/>
                <a:ea typeface="MiSans" charset="-122"/>
                <a:cs typeface="MiSans" charset="-122"/>
              </a:rPr>
              <a:t>之前的所有调参都是在</a:t>
            </a:r>
            <a:r>
              <a:rPr lang="en-US" altLang="zh-CN" sz="1600">
                <a:latin typeface="MiSans" charset="-122"/>
                <a:ea typeface="MiSans" charset="-122"/>
                <a:cs typeface="MiSans" charset="-122"/>
              </a:rPr>
              <a:t>while(1)+delay_ms()</a:t>
            </a:r>
            <a:r>
              <a:rPr lang="zh-CN" altLang="en-US" sz="1600">
                <a:latin typeface="MiSans" charset="-122"/>
                <a:ea typeface="MiSans" charset="-122"/>
                <a:cs typeface="MiSans" charset="-122"/>
              </a:rPr>
              <a:t>的架构下进行的，其中还夹杂着还夹着</a:t>
            </a:r>
            <a:r>
              <a:rPr lang="en-US" altLang="zh-CN" sz="1600">
                <a:latin typeface="MiSans" charset="-122"/>
                <a:ea typeface="MiSans" charset="-122"/>
                <a:cs typeface="MiSans" charset="-122"/>
              </a:rPr>
              <a:t>ADC、</a:t>
            </a:r>
            <a:r>
              <a:rPr lang="zh-CN" altLang="en-US" sz="1600">
                <a:latin typeface="MiSans" charset="-122"/>
                <a:ea typeface="MiSans" charset="-122"/>
                <a:cs typeface="MiSans" charset="-122"/>
              </a:rPr>
              <a:t>按键、串口、</a:t>
            </a:r>
            <a:r>
              <a:rPr lang="en-US" altLang="zh-CN" sz="1600">
                <a:latin typeface="MiSans" charset="-122"/>
                <a:ea typeface="MiSans" charset="-122"/>
                <a:cs typeface="MiSans" charset="-122"/>
              </a:rPr>
              <a:t>LCD</a:t>
            </a:r>
            <a:r>
              <a:rPr lang="zh-CN" altLang="en-US" sz="1600">
                <a:latin typeface="MiSans" charset="-122"/>
                <a:ea typeface="MiSans" charset="-122"/>
                <a:cs typeface="MiSans" charset="-122"/>
              </a:rPr>
              <a:t>，导致实时性</a:t>
            </a:r>
            <a:r>
              <a:rPr lang="zh-CN" altLang="en-US" sz="1600">
                <a:latin typeface="MiSans" charset="-122"/>
                <a:ea typeface="MiSans" charset="-122"/>
                <a:cs typeface="MiSans" charset="-122"/>
              </a:rPr>
              <a:t>不够</a:t>
            </a:r>
            <a:endParaRPr lang="zh-CN" altLang="en-US" sz="1600">
              <a:latin typeface="MiSans" charset="-122"/>
              <a:ea typeface="MiSans" charset="-122"/>
              <a:cs typeface="MiSans" charset="-122"/>
            </a:endParaRPr>
          </a:p>
        </p:txBody>
      </p:sp>
      <p:sp>
        <p:nvSpPr>
          <p:cNvPr id="6" name="矩形 5"/>
          <p:cNvSpPr/>
          <p:nvPr/>
        </p:nvSpPr>
        <p:spPr>
          <a:xfrm>
            <a:off x="6554470" y="2344420"/>
            <a:ext cx="5194935" cy="3534410"/>
          </a:xfrm>
          <a:prstGeom prst="rect">
            <a:avLst/>
          </a:prstGeom>
          <a:solidFill>
            <a:schemeClr val="tx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20000"/>
              </a:lnSpc>
            </a:pPr>
            <a:r>
              <a:rPr lang="en-US" altLang="zh-CN" sz="1200">
                <a:latin typeface="MiSans" charset="-122"/>
                <a:ea typeface="MiSans" charset="-122"/>
                <a:cs typeface="MiSans" charset="-122"/>
              </a:rPr>
              <a:t>// TIM1</a:t>
            </a:r>
            <a:r>
              <a:rPr lang="zh-CN" altLang="en-US" sz="1200">
                <a:latin typeface="MiSans" charset="-122"/>
                <a:ea typeface="MiSans" charset="-122"/>
                <a:cs typeface="MiSans" charset="-122"/>
              </a:rPr>
              <a:t>中断：每2</a:t>
            </a:r>
            <a:r>
              <a:rPr lang="en-US" altLang="zh-CN" sz="1200">
                <a:latin typeface="MiSans" charset="-122"/>
                <a:ea typeface="MiSans" charset="-122"/>
                <a:cs typeface="MiSans" charset="-122"/>
              </a:rPr>
              <a:t>ms</a:t>
            </a:r>
            <a:r>
              <a:rPr lang="zh-CN" altLang="en-US" sz="1200">
                <a:latin typeface="MiSans" charset="-122"/>
                <a:ea typeface="MiSans" charset="-122"/>
                <a:cs typeface="MiSans" charset="-122"/>
              </a:rPr>
              <a:t>严格定时执行实时闭环</a:t>
            </a:r>
            <a:endParaRPr lang="zh-CN" altLang="en-US"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void TIM1_UP_IRQHandler(void) {</a:t>
            </a:r>
            <a:endParaRPr lang="en-US" altLang="zh-CN"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    angle_adc = Get_adc(ADC_Channel_14);</a:t>
            </a:r>
            <a:endParaRPr lang="en-US" altLang="zh-CN"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    angle_x100 = (angle_adc - zero_offset) × 34000 / 4096;</a:t>
            </a:r>
            <a:endParaRPr lang="en-US" altLang="zh-CN"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    encoder[0..3] = Read_Encoder(8,2,3,4);</a:t>
            </a:r>
            <a:endParaRPr lang="en-US" altLang="zh-CN"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    balance_pwm = Balance_Update(angle_x100, encoder);</a:t>
            </a:r>
            <a:endParaRPr lang="en-US" altLang="zh-CN" sz="1200">
              <a:latin typeface="MiSans" charset="-122"/>
              <a:ea typeface="MiSans" charset="-122"/>
              <a:cs typeface="MiSans" charset="-122"/>
            </a:endParaRPr>
          </a:p>
          <a:p>
            <a:pPr algn="l">
              <a:lnSpc>
                <a:spcPct val="120000"/>
              </a:lnSpc>
            </a:pPr>
            <a:r>
              <a:rPr lang="zh-CN" altLang="en-US" sz="1200">
                <a:latin typeface="MiSans" charset="-122"/>
                <a:ea typeface="MiSans" charset="-122"/>
                <a:cs typeface="MiSans" charset="-122"/>
              </a:rPr>
              <a:t>    四轮</a:t>
            </a:r>
            <a:r>
              <a:rPr lang="en-US" altLang="zh-CN" sz="1200">
                <a:latin typeface="MiSans" charset="-122"/>
                <a:ea typeface="MiSans" charset="-122"/>
                <a:cs typeface="MiSans" charset="-122"/>
              </a:rPr>
              <a:t>Set_PWM(balance_pwm);</a:t>
            </a:r>
            <a:endParaRPr lang="en-US" altLang="zh-CN" sz="1200">
              <a:latin typeface="MiSans" charset="-122"/>
              <a:ea typeface="MiSans" charset="-122"/>
              <a:cs typeface="MiSans" charset="-122"/>
            </a:endParaRPr>
          </a:p>
          <a:p>
            <a:pPr algn="l">
              <a:lnSpc>
                <a:spcPct val="120000"/>
              </a:lnSpc>
            </a:pPr>
            <a:r>
              <a:rPr lang="zh-CN" altLang="en-US" sz="1200">
                <a:latin typeface="MiSans" charset="-122"/>
                <a:ea typeface="MiSans" charset="-122"/>
                <a:cs typeface="MiSans" charset="-122"/>
              </a:rPr>
              <a:t>    // 低频计数器触发串口(10次=20</a:t>
            </a:r>
            <a:r>
              <a:rPr lang="en-US" altLang="zh-CN" sz="1200">
                <a:latin typeface="MiSans" charset="-122"/>
                <a:ea typeface="MiSans" charset="-122"/>
                <a:cs typeface="MiSans" charset="-122"/>
              </a:rPr>
              <a:t>ms)</a:t>
            </a:r>
            <a:r>
              <a:rPr lang="zh-CN" altLang="en-US" sz="1200">
                <a:latin typeface="MiSans" charset="-122"/>
                <a:ea typeface="MiSans" charset="-122"/>
                <a:cs typeface="MiSans" charset="-122"/>
              </a:rPr>
              <a:t>和</a:t>
            </a:r>
            <a:r>
              <a:rPr lang="en-US" altLang="zh-CN" sz="1200">
                <a:latin typeface="MiSans" charset="-122"/>
                <a:ea typeface="MiSans" charset="-122"/>
                <a:cs typeface="MiSans" charset="-122"/>
              </a:rPr>
              <a:t>LCD(50</a:t>
            </a:r>
            <a:r>
              <a:rPr lang="zh-CN" altLang="en-US" sz="1200">
                <a:latin typeface="MiSans" charset="-122"/>
                <a:ea typeface="MiSans" charset="-122"/>
                <a:cs typeface="MiSans" charset="-122"/>
              </a:rPr>
              <a:t>次=100</a:t>
            </a:r>
            <a:r>
              <a:rPr lang="en-US" altLang="zh-CN" sz="1200">
                <a:latin typeface="MiSans" charset="-122"/>
                <a:ea typeface="MiSans" charset="-122"/>
                <a:cs typeface="MiSans" charset="-122"/>
              </a:rPr>
              <a:t>ms)</a:t>
            </a:r>
            <a:r>
              <a:rPr lang="zh-CN" altLang="en-US" sz="1200">
                <a:latin typeface="MiSans" charset="-122"/>
                <a:ea typeface="MiSans" charset="-122"/>
                <a:cs typeface="MiSans" charset="-122"/>
              </a:rPr>
              <a:t>刷新标志</a:t>
            </a:r>
            <a:endParaRPr lang="zh-CN" altLang="en-US"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a:t>
            </a:r>
            <a:endParaRPr lang="en-US" altLang="zh-CN" sz="1200">
              <a:latin typeface="MiSans" charset="-122"/>
              <a:ea typeface="MiSans" charset="-122"/>
              <a:cs typeface="MiSans" charset="-122"/>
            </a:endParaRPr>
          </a:p>
          <a:p>
            <a:pPr algn="l">
              <a:lnSpc>
                <a:spcPct val="120000"/>
              </a:lnSpc>
            </a:pPr>
            <a:endParaRPr lang="en-US" altLang="zh-CN" sz="1200">
              <a:latin typeface="MiSans" charset="-122"/>
              <a:ea typeface="MiSans" charset="-122"/>
              <a:cs typeface="MiSans" charset="-122"/>
            </a:endParaRPr>
          </a:p>
          <a:p>
            <a:pPr algn="l">
              <a:lnSpc>
                <a:spcPct val="120000"/>
              </a:lnSpc>
            </a:pPr>
            <a:r>
              <a:rPr lang="zh-CN" altLang="en-US" sz="1200">
                <a:latin typeface="MiSans" charset="-122"/>
                <a:ea typeface="MiSans" charset="-122"/>
                <a:cs typeface="MiSans" charset="-122"/>
              </a:rPr>
              <a:t>// 主循环：只消费标志位，不参与实时控制</a:t>
            </a:r>
            <a:endParaRPr lang="zh-CN" altLang="en-US"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while(1) {</a:t>
            </a:r>
            <a:endParaRPr lang="en-US" altLang="zh-CN"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    if (key_flag)    Handle_Key();</a:t>
            </a:r>
            <a:endParaRPr lang="en-US" altLang="zh-CN"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    if (serial_flag) Handle_Serial_Command();</a:t>
            </a:r>
            <a:endParaRPr lang="en-US" altLang="zh-CN"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    if (lcd_flag)    LCD_Show_Debug();</a:t>
            </a:r>
            <a:endParaRPr lang="en-US" altLang="zh-CN" sz="1200">
              <a:latin typeface="MiSans" charset="-122"/>
              <a:ea typeface="MiSans" charset="-122"/>
              <a:cs typeface="MiSans" charset="-122"/>
            </a:endParaRPr>
          </a:p>
          <a:p>
            <a:pPr algn="l">
              <a:lnSpc>
                <a:spcPct val="120000"/>
              </a:lnSpc>
            </a:pPr>
            <a:r>
              <a:rPr lang="en-US" altLang="zh-CN" sz="1200">
                <a:latin typeface="MiSans" charset="-122"/>
                <a:ea typeface="MiSans" charset="-122"/>
                <a:cs typeface="MiSans" charset="-122"/>
              </a:rPr>
              <a:t>}</a:t>
            </a:r>
            <a:endParaRPr lang="en-US" altLang="zh-CN" sz="1200">
              <a:latin typeface="MiSans" charset="-122"/>
              <a:ea typeface="MiSans" charset="-122"/>
              <a:cs typeface="MiSans" charset="-122"/>
            </a:endParaRPr>
          </a:p>
        </p:txBody>
      </p:sp>
      <p:sp>
        <p:nvSpPr>
          <p:cNvPr id="7" name="文本框 6"/>
          <p:cNvSpPr txBox="1"/>
          <p:nvPr/>
        </p:nvSpPr>
        <p:spPr>
          <a:xfrm>
            <a:off x="762000" y="1191260"/>
            <a:ext cx="2156460" cy="337185"/>
          </a:xfrm>
          <a:prstGeom prst="rect">
            <a:avLst/>
          </a:prstGeom>
        </p:spPr>
        <p:style>
          <a:lnRef idx="0">
            <a:srgbClr val="FFFFFF"/>
          </a:lnRef>
          <a:fillRef idx="3">
            <a:schemeClr val="accent5"/>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第</a:t>
            </a:r>
            <a:r>
              <a:rPr lang="zh-CN" altLang="en-US" sz="1600">
                <a:solidFill>
                  <a:srgbClr val="003366"/>
                </a:solidFill>
                <a:latin typeface="MiSans Medium" panose="00000600000000000000" charset="-122"/>
                <a:ea typeface="MiSans Medium" panose="00000600000000000000" charset="-122"/>
              </a:rPr>
              <a:t>四版平衡控制</a:t>
            </a:r>
            <a:r>
              <a:rPr lang="zh-CN" altLang="en-US" sz="1600">
                <a:solidFill>
                  <a:srgbClr val="003366"/>
                </a:solidFill>
                <a:latin typeface="MiSans Medium" panose="00000600000000000000" charset="-122"/>
                <a:ea typeface="MiSans Medium" panose="00000600000000000000" charset="-122"/>
              </a:rPr>
              <a:t>算法</a:t>
            </a:r>
            <a:endParaRPr lang="zh-CN" altLang="en-US" sz="1600">
              <a:solidFill>
                <a:srgbClr val="003366"/>
              </a:solidFill>
              <a:latin typeface="MiSans Medium" panose="00000600000000000000" charset="-122"/>
              <a:ea typeface="MiSans Medium" panose="00000600000000000000" charset="-122"/>
            </a:endParaRPr>
          </a:p>
        </p:txBody>
      </p:sp>
      <p:sp>
        <p:nvSpPr>
          <p:cNvPr id="8" name="文本框 7"/>
          <p:cNvSpPr txBox="1"/>
          <p:nvPr/>
        </p:nvSpPr>
        <p:spPr>
          <a:xfrm>
            <a:off x="762000" y="2344420"/>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架构对比</a:t>
            </a:r>
            <a:endParaRPr lang="zh-CN" altLang="en-US" sz="1600">
              <a:solidFill>
                <a:srgbClr val="003366"/>
              </a:solidFill>
              <a:latin typeface="MiSans Medium" panose="00000600000000000000" charset="-122"/>
              <a:ea typeface="MiSans Medium" panose="00000600000000000000" charset="-122"/>
            </a:endParaRPr>
          </a:p>
        </p:txBody>
      </p:sp>
      <p:graphicFrame>
        <p:nvGraphicFramePr>
          <p:cNvPr id="5" name="表格 4"/>
          <p:cNvGraphicFramePr/>
          <p:nvPr/>
        </p:nvGraphicFramePr>
        <p:xfrm>
          <a:off x="546735" y="2860675"/>
          <a:ext cx="5812155" cy="3195955"/>
        </p:xfrm>
        <a:graphic>
          <a:graphicData uri="http://schemas.openxmlformats.org/drawingml/2006/table">
            <a:tbl>
              <a:tblPr firstRow="1" bandRow="1">
                <a:tableStyleId>{ADA5656D-0BD9-4D8F-9E45-50BB38FF7506}</a:tableStyleId>
              </a:tblPr>
              <a:tblGrid>
                <a:gridCol w="1937385"/>
                <a:gridCol w="1937385"/>
                <a:gridCol w="1937385"/>
              </a:tblGrid>
              <a:tr h="393700">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rPr>
                        <a:t>方面</a:t>
                      </a:r>
                      <a:endParaRPr lang="zh-CN" sz="1200">
                        <a:latin typeface="MiSans Bold" panose="00000800000000000000" charset="-122"/>
                        <a:ea typeface="MiSans Bold" panose="00000800000000000000" charset="-122"/>
                      </a:endParaRPr>
                    </a:p>
                  </a:txBody>
                  <a:tcPr marL="68580" marR="68580" marT="0" marB="0" anchor="ctr" anchorCtr="0"/>
                </a:tc>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cs typeface="MiSans Bold" panose="00000800000000000000" charset="-122"/>
                        </a:rPr>
                        <a:t>旧架构（</a:t>
                      </a:r>
                      <a:r>
                        <a:rPr lang="en-US" altLang="zh-CN" sz="1200">
                          <a:latin typeface="MiSans Bold" panose="00000800000000000000" charset="-122"/>
                          <a:ea typeface="MiSans Bold" panose="00000800000000000000" charset="-122"/>
                          <a:cs typeface="MiSans Bold" panose="00000800000000000000" charset="-122"/>
                        </a:rPr>
                        <a:t>V1-V11</a:t>
                      </a:r>
                      <a:r>
                        <a:rPr lang="zh-CN" altLang="en-US" sz="1200">
                          <a:latin typeface="MiSans Bold" panose="00000800000000000000" charset="-122"/>
                          <a:ea typeface="MiSans Bold" panose="00000800000000000000" charset="-122"/>
                          <a:cs typeface="MiSans Bold" panose="00000800000000000000" charset="-122"/>
                        </a:rPr>
                        <a:t>）</a:t>
                      </a:r>
                      <a:endParaRPr lang="zh-CN" altLang="en-US" sz="1200">
                        <a:latin typeface="MiSans Bold" panose="00000800000000000000" charset="-122"/>
                        <a:ea typeface="MiSans Bold" panose="00000800000000000000" charset="-122"/>
                        <a:cs typeface="MiSans Bold" panose="00000800000000000000" charset="-122"/>
                      </a:endParaRPr>
                    </a:p>
                  </a:txBody>
                  <a:tcPr marL="68580" marR="68580" marT="0" marB="0" anchor="ctr" anchorCtr="0"/>
                </a:tc>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cs typeface="MiSans Bold" panose="00000800000000000000" charset="-122"/>
                        </a:rPr>
                        <a:t>新架构（</a:t>
                      </a:r>
                      <a:r>
                        <a:rPr lang="en-US" altLang="zh-CN" sz="1200">
                          <a:latin typeface="MiSans Bold" panose="00000800000000000000" charset="-122"/>
                          <a:ea typeface="MiSans Bold" panose="00000800000000000000" charset="-122"/>
                          <a:cs typeface="MiSans Bold" panose="00000800000000000000" charset="-122"/>
                        </a:rPr>
                        <a:t>V17</a:t>
                      </a:r>
                      <a:r>
                        <a:rPr lang="zh-CN" altLang="en-US" sz="1200">
                          <a:latin typeface="MiSans Bold" panose="00000800000000000000" charset="-122"/>
                          <a:ea typeface="MiSans Bold" panose="00000800000000000000" charset="-122"/>
                          <a:cs typeface="MiSans Bold" panose="00000800000000000000" charset="-122"/>
                        </a:rPr>
                        <a:t>起）</a:t>
                      </a:r>
                      <a:endParaRPr lang="zh-CN" altLang="en-US" sz="1200">
                        <a:latin typeface="MiSans Bold" panose="00000800000000000000" charset="-122"/>
                        <a:ea typeface="MiSans Bold" panose="00000800000000000000" charset="-122"/>
                        <a:cs typeface="MiSans Bold" panose="00000800000000000000" charset="-122"/>
                      </a:endParaRPr>
                    </a:p>
                  </a:txBody>
                  <a:tcPr marL="68580" marR="68580" marT="0" marB="0" anchor="ctr" anchorCtr="0"/>
                </a:tc>
              </a:tr>
              <a:tr h="393700">
                <a:tc>
                  <a:txBody>
                    <a:bodyPr/>
                    <a:p>
                      <a:pPr algn="ctr">
                        <a:lnSpc>
                          <a:spcPct val="114000"/>
                        </a:lnSpc>
                        <a:spcBef>
                          <a:spcPct val="0"/>
                        </a:spcBef>
                        <a:spcAft>
                          <a:spcPct val="0"/>
                        </a:spcAft>
                      </a:pPr>
                      <a:r>
                        <a:rPr lang="zh-CN" sz="1200"/>
                        <a:t>控制执行位置</a:t>
                      </a:r>
                      <a:endParaRPr lang="zh-CN" sz="1200"/>
                    </a:p>
                  </a:txBody>
                  <a:tcPr marL="68580" marR="68580" marT="0" marB="0" anchor="ctr" anchorCtr="0"/>
                </a:tc>
                <a:tc>
                  <a:txBody>
                    <a:bodyPr/>
                    <a:p>
                      <a:pPr algn="ctr">
                        <a:lnSpc>
                          <a:spcPct val="114000"/>
                        </a:lnSpc>
                        <a:spcBef>
                          <a:spcPct val="0"/>
                        </a:spcBef>
                        <a:spcAft>
                          <a:spcPct val="0"/>
                        </a:spcAft>
                      </a:pPr>
                      <a:r>
                        <a:rPr lang="en-US" altLang="zh-CN" sz="1200"/>
                        <a:t>main()</a:t>
                      </a:r>
                      <a:r>
                        <a:rPr lang="zh-CN" altLang="en-US" sz="1200"/>
                        <a:t>的</a:t>
                      </a:r>
                      <a:r>
                        <a:rPr lang="en-US" altLang="zh-CN" sz="1200"/>
                        <a:t>while(1)</a:t>
                      </a:r>
                      <a:r>
                        <a:rPr lang="zh-CN" altLang="en-US" sz="1200"/>
                        <a:t>中</a:t>
                      </a:r>
                      <a:endParaRPr lang="zh-CN" altLang="en-US" sz="1200"/>
                    </a:p>
                  </a:txBody>
                  <a:tcPr marL="68580" marR="68580" marT="0" marB="0" anchor="ctr" anchorCtr="0"/>
                </a:tc>
                <a:tc>
                  <a:txBody>
                    <a:bodyPr/>
                    <a:p>
                      <a:pPr algn="ctr">
                        <a:lnSpc>
                          <a:spcPct val="114000"/>
                        </a:lnSpc>
                        <a:spcBef>
                          <a:spcPct val="0"/>
                        </a:spcBef>
                        <a:spcAft>
                          <a:spcPct val="0"/>
                        </a:spcAft>
                      </a:pPr>
                      <a:r>
                        <a:rPr lang="en-US" altLang="zh-CN" sz="1200"/>
                        <a:t>TIM1</a:t>
                      </a:r>
                      <a:r>
                        <a:rPr lang="zh-CN" altLang="en-US" sz="1200"/>
                        <a:t>中断服务函数中</a:t>
                      </a:r>
                      <a:endParaRPr lang="zh-CN" altLang="en-US" sz="1200"/>
                    </a:p>
                  </a:txBody>
                  <a:tcPr marL="68580" marR="68580" marT="0" marB="0" anchor="ctr" anchorCtr="0"/>
                </a:tc>
              </a:tr>
              <a:tr h="393700">
                <a:tc>
                  <a:txBody>
                    <a:bodyPr/>
                    <a:p>
                      <a:pPr algn="ctr">
                        <a:lnSpc>
                          <a:spcPct val="114000"/>
                        </a:lnSpc>
                        <a:spcBef>
                          <a:spcPct val="0"/>
                        </a:spcBef>
                        <a:spcAft>
                          <a:spcPct val="0"/>
                        </a:spcAft>
                      </a:pPr>
                      <a:r>
                        <a:rPr lang="zh-CN" sz="1200"/>
                        <a:t>控制周期</a:t>
                      </a:r>
                      <a:endParaRPr lang="zh-CN" sz="1200"/>
                    </a:p>
                  </a:txBody>
                  <a:tcPr marL="68580" marR="68580" marT="0" marB="0" anchor="ctr" anchorCtr="0"/>
                </a:tc>
                <a:tc>
                  <a:txBody>
                    <a:bodyPr/>
                    <a:p>
                      <a:pPr algn="ctr">
                        <a:lnSpc>
                          <a:spcPct val="114000"/>
                        </a:lnSpc>
                        <a:spcBef>
                          <a:spcPct val="0"/>
                        </a:spcBef>
                        <a:spcAft>
                          <a:spcPct val="0"/>
                        </a:spcAft>
                      </a:pPr>
                      <a:r>
                        <a:rPr lang="zh-CN" sz="1200"/>
                        <a:t>约</a:t>
                      </a:r>
                      <a:r>
                        <a:rPr lang="en-US" altLang="zh-CN" sz="1200"/>
                        <a:t>5ms</a:t>
                      </a:r>
                      <a:r>
                        <a:rPr lang="zh-CN" altLang="en-US" sz="1200"/>
                        <a:t>（实际有抖动）</a:t>
                      </a:r>
                      <a:endParaRPr lang="zh-CN" altLang="en-US" sz="1200"/>
                    </a:p>
                  </a:txBody>
                  <a:tcPr marL="68580" marR="68580" marT="0" marB="0" anchor="ctr" anchorCtr="0"/>
                </a:tc>
                <a:tc>
                  <a:txBody>
                    <a:bodyPr/>
                    <a:p>
                      <a:pPr algn="ctr">
                        <a:lnSpc>
                          <a:spcPct val="114000"/>
                        </a:lnSpc>
                        <a:spcBef>
                          <a:spcPct val="0"/>
                        </a:spcBef>
                        <a:spcAft>
                          <a:spcPct val="0"/>
                        </a:spcAft>
                      </a:pPr>
                      <a:r>
                        <a:rPr lang="zh-CN" sz="1200"/>
                        <a:t>精确</a:t>
                      </a:r>
                      <a:r>
                        <a:rPr lang="en-US" altLang="zh-CN" sz="1200"/>
                        <a:t>2ms</a:t>
                      </a:r>
                      <a:r>
                        <a:rPr lang="zh-CN" altLang="en-US" sz="1200"/>
                        <a:t>（硬件定时）</a:t>
                      </a:r>
                      <a:endParaRPr lang="zh-CN" altLang="en-US" sz="1200"/>
                    </a:p>
                  </a:txBody>
                  <a:tcPr marL="68580" marR="68580" marT="0" marB="0" anchor="ctr" anchorCtr="0"/>
                </a:tc>
              </a:tr>
              <a:tr h="788035">
                <a:tc>
                  <a:txBody>
                    <a:bodyPr/>
                    <a:p>
                      <a:pPr algn="ctr">
                        <a:lnSpc>
                          <a:spcPct val="114000"/>
                        </a:lnSpc>
                        <a:spcBef>
                          <a:spcPct val="0"/>
                        </a:spcBef>
                        <a:spcAft>
                          <a:spcPct val="0"/>
                        </a:spcAft>
                      </a:pPr>
                      <a:r>
                        <a:rPr lang="zh-CN" sz="1200"/>
                        <a:t>周期精度</a:t>
                      </a:r>
                      <a:endParaRPr lang="zh-CN" sz="1200"/>
                    </a:p>
                  </a:txBody>
                  <a:tcPr marL="68580" marR="68580" marT="0" marB="0" anchor="ctr" anchorCtr="0"/>
                </a:tc>
                <a:tc>
                  <a:txBody>
                    <a:bodyPr/>
                    <a:p>
                      <a:pPr algn="ctr">
                        <a:lnSpc>
                          <a:spcPct val="114000"/>
                        </a:lnSpc>
                        <a:spcBef>
                          <a:spcPct val="0"/>
                        </a:spcBef>
                        <a:spcAft>
                          <a:spcPct val="0"/>
                        </a:spcAft>
                      </a:pPr>
                      <a:r>
                        <a:rPr lang="zh-CN" sz="1200"/>
                        <a:t>依赖</a:t>
                      </a:r>
                      <a:r>
                        <a:rPr lang="en-US" altLang="zh-CN" sz="1200"/>
                        <a:t>delay_ms</a:t>
                      </a:r>
                      <a:r>
                        <a:rPr lang="zh-CN" altLang="en-US" sz="1200"/>
                        <a:t>，受</a:t>
                      </a:r>
                      <a:r>
                        <a:rPr lang="en-US" altLang="zh-CN" sz="1200"/>
                        <a:t>printf/LCD</a:t>
                      </a:r>
                      <a:r>
                        <a:rPr lang="zh-CN" altLang="en-US" sz="1200"/>
                        <a:t>干扰</a:t>
                      </a:r>
                      <a:endParaRPr lang="zh-CN" altLang="en-US" sz="1200"/>
                    </a:p>
                  </a:txBody>
                  <a:tcPr marL="68580" marR="68580" marT="0" marB="0" anchor="ctr" anchorCtr="0"/>
                </a:tc>
                <a:tc>
                  <a:txBody>
                    <a:bodyPr/>
                    <a:p>
                      <a:pPr algn="ctr">
                        <a:lnSpc>
                          <a:spcPct val="114000"/>
                        </a:lnSpc>
                        <a:spcBef>
                          <a:spcPct val="0"/>
                        </a:spcBef>
                        <a:spcAft>
                          <a:spcPct val="0"/>
                        </a:spcAft>
                      </a:pPr>
                      <a:r>
                        <a:rPr lang="zh-CN" sz="1200"/>
                        <a:t>硬件定时器保证</a:t>
                      </a:r>
                      <a:r>
                        <a:rPr lang="en-US" altLang="zh-CN" sz="1200"/>
                        <a:t>±0</a:t>
                      </a:r>
                      <a:r>
                        <a:rPr lang="zh-CN" altLang="en-US" sz="1200"/>
                        <a:t>误差</a:t>
                      </a:r>
                      <a:endParaRPr lang="zh-CN" altLang="en-US" sz="1200"/>
                    </a:p>
                  </a:txBody>
                  <a:tcPr marL="68580" marR="68580" marT="0" marB="0" anchor="ctr" anchorCtr="0"/>
                </a:tc>
              </a:tr>
              <a:tr h="393700">
                <a:tc>
                  <a:txBody>
                    <a:bodyPr/>
                    <a:p>
                      <a:pPr algn="ctr">
                        <a:lnSpc>
                          <a:spcPct val="114000"/>
                        </a:lnSpc>
                        <a:spcBef>
                          <a:spcPct val="0"/>
                        </a:spcBef>
                        <a:spcAft>
                          <a:spcPct val="0"/>
                        </a:spcAft>
                      </a:pPr>
                      <a:r>
                        <a:rPr lang="zh-CN" sz="1200"/>
                        <a:t>实时性</a:t>
                      </a:r>
                      <a:endParaRPr lang="zh-CN" sz="1200"/>
                    </a:p>
                  </a:txBody>
                  <a:tcPr marL="68580" marR="68580" marT="0" marB="0" anchor="ctr" anchorCtr="0"/>
                </a:tc>
                <a:tc>
                  <a:txBody>
                    <a:bodyPr/>
                    <a:p>
                      <a:pPr algn="ctr">
                        <a:lnSpc>
                          <a:spcPct val="114000"/>
                        </a:lnSpc>
                        <a:spcBef>
                          <a:spcPct val="0"/>
                        </a:spcBef>
                        <a:spcAft>
                          <a:spcPct val="0"/>
                        </a:spcAft>
                      </a:pPr>
                      <a:r>
                        <a:rPr lang="zh-CN" sz="1200"/>
                        <a:t>软实时，可能被低速任务阻塞</a:t>
                      </a:r>
                      <a:endParaRPr lang="zh-CN" sz="1200"/>
                    </a:p>
                  </a:txBody>
                  <a:tcPr marL="68580" marR="68580" marT="0" marB="0" anchor="ctr" anchorCtr="0"/>
                </a:tc>
                <a:tc>
                  <a:txBody>
                    <a:bodyPr/>
                    <a:p>
                      <a:pPr algn="ctr">
                        <a:lnSpc>
                          <a:spcPct val="114000"/>
                        </a:lnSpc>
                        <a:spcBef>
                          <a:spcPct val="0"/>
                        </a:spcBef>
                        <a:spcAft>
                          <a:spcPct val="0"/>
                        </a:spcAft>
                      </a:pPr>
                      <a:r>
                        <a:rPr lang="zh-CN" sz="1200"/>
                        <a:t>硬实时，中断优先级保证</a:t>
                      </a:r>
                      <a:endParaRPr lang="zh-CN" sz="1200"/>
                    </a:p>
                  </a:txBody>
                  <a:tcPr marL="68580" marR="68580" marT="0" marB="0" anchor="ctr" anchorCtr="0"/>
                </a:tc>
              </a:tr>
              <a:tr h="393700">
                <a:tc>
                  <a:txBody>
                    <a:bodyPr/>
                    <a:p>
                      <a:pPr algn="ctr">
                        <a:lnSpc>
                          <a:spcPct val="114000"/>
                        </a:lnSpc>
                        <a:spcBef>
                          <a:spcPct val="0"/>
                        </a:spcBef>
                        <a:spcAft>
                          <a:spcPct val="0"/>
                        </a:spcAft>
                      </a:pPr>
                      <a:r>
                        <a:rPr lang="zh-CN" sz="1200"/>
                        <a:t>主循环职责</a:t>
                      </a:r>
                      <a:endParaRPr lang="zh-CN" sz="1200"/>
                    </a:p>
                  </a:txBody>
                  <a:tcPr marL="68580" marR="68580" marT="0" marB="0" anchor="ctr" anchorCtr="0"/>
                </a:tc>
                <a:tc>
                  <a:txBody>
                    <a:bodyPr/>
                    <a:p>
                      <a:pPr algn="ctr">
                        <a:lnSpc>
                          <a:spcPct val="114000"/>
                        </a:lnSpc>
                        <a:spcBef>
                          <a:spcPct val="0"/>
                        </a:spcBef>
                        <a:spcAft>
                          <a:spcPct val="0"/>
                        </a:spcAft>
                      </a:pPr>
                      <a:r>
                        <a:rPr lang="zh-CN" sz="1200"/>
                        <a:t>控制</a:t>
                      </a:r>
                      <a:r>
                        <a:rPr lang="en-US" altLang="zh-CN" sz="1200"/>
                        <a:t>+</a:t>
                      </a:r>
                      <a:r>
                        <a:rPr lang="zh-CN" altLang="en-US" sz="1200"/>
                        <a:t>显示</a:t>
                      </a:r>
                      <a:r>
                        <a:rPr lang="en-US" altLang="zh-CN" sz="1200"/>
                        <a:t>+</a:t>
                      </a:r>
                      <a:r>
                        <a:rPr lang="zh-CN" altLang="en-US" sz="1200"/>
                        <a:t>按键</a:t>
                      </a:r>
                      <a:r>
                        <a:rPr lang="en-US" altLang="zh-CN" sz="1200"/>
                        <a:t>+</a:t>
                      </a:r>
                      <a:r>
                        <a:rPr lang="zh-CN" altLang="en-US" sz="1200"/>
                        <a:t>串口</a:t>
                      </a:r>
                      <a:endParaRPr lang="zh-CN" altLang="en-US" sz="1200"/>
                    </a:p>
                  </a:txBody>
                  <a:tcPr marL="68580" marR="68580" marT="0" marB="0" anchor="ctr" anchorCtr="0"/>
                </a:tc>
                <a:tc>
                  <a:txBody>
                    <a:bodyPr/>
                    <a:p>
                      <a:pPr algn="ctr">
                        <a:lnSpc>
                          <a:spcPct val="114000"/>
                        </a:lnSpc>
                        <a:spcBef>
                          <a:spcPct val="0"/>
                        </a:spcBef>
                        <a:spcAft>
                          <a:spcPct val="0"/>
                        </a:spcAft>
                      </a:pPr>
                      <a:r>
                        <a:rPr lang="zh-CN" sz="1200"/>
                        <a:t>仅显示</a:t>
                      </a:r>
                      <a:r>
                        <a:rPr lang="en-US" altLang="zh-CN" sz="1200"/>
                        <a:t>+</a:t>
                      </a:r>
                      <a:r>
                        <a:rPr lang="zh-CN" altLang="en-US" sz="1200"/>
                        <a:t>按键</a:t>
                      </a:r>
                      <a:r>
                        <a:rPr lang="en-US" altLang="zh-CN" sz="1200"/>
                        <a:t>+</a:t>
                      </a:r>
                      <a:r>
                        <a:rPr lang="zh-CN" altLang="en-US" sz="1200"/>
                        <a:t>串口（标志位消费）</a:t>
                      </a:r>
                      <a:endParaRPr lang="zh-CN" altLang="en-US" sz="1200"/>
                    </a:p>
                  </a:txBody>
                  <a:tcPr marL="68580" marR="68580" marT="0" marB="0" anchor="ctr" anchorCtr="0"/>
                </a:tc>
              </a:tr>
              <a:tr h="393700">
                <a:tc>
                  <a:txBody>
                    <a:bodyPr/>
                    <a:p>
                      <a:pPr algn="ctr">
                        <a:lnSpc>
                          <a:spcPct val="114000"/>
                        </a:lnSpc>
                        <a:spcBef>
                          <a:spcPct val="0"/>
                        </a:spcBef>
                        <a:spcAft>
                          <a:spcPct val="0"/>
                        </a:spcAft>
                      </a:pPr>
                      <a:r>
                        <a:rPr lang="zh-CN" sz="1200"/>
                        <a:t>角速度差分精度</a:t>
                      </a:r>
                      <a:endParaRPr lang="zh-CN" sz="1200"/>
                    </a:p>
                  </a:txBody>
                  <a:tcPr marL="68580" marR="68580" marT="0" marB="0" anchor="ctr" anchorCtr="0"/>
                </a:tc>
                <a:tc>
                  <a:txBody>
                    <a:bodyPr/>
                    <a:p>
                      <a:pPr algn="ctr">
                        <a:lnSpc>
                          <a:spcPct val="114000"/>
                        </a:lnSpc>
                        <a:spcBef>
                          <a:spcPct val="0"/>
                        </a:spcBef>
                        <a:spcAft>
                          <a:spcPct val="0"/>
                        </a:spcAft>
                      </a:pPr>
                      <a:r>
                        <a:rPr lang="en-US" altLang="zh-CN" sz="1200"/>
                        <a:t>dt</a:t>
                      </a:r>
                      <a:r>
                        <a:rPr lang="zh-CN" altLang="en-US" sz="1200"/>
                        <a:t>有误差</a:t>
                      </a:r>
                      <a:r>
                        <a:rPr lang="en-US" altLang="zh-CN" sz="1200"/>
                        <a:t>→D</a:t>
                      </a:r>
                      <a:r>
                        <a:rPr lang="zh-CN" altLang="en-US" sz="1200"/>
                        <a:t>项不准</a:t>
                      </a:r>
                      <a:endParaRPr lang="zh-CN" altLang="en-US" sz="1200"/>
                    </a:p>
                  </a:txBody>
                  <a:tcPr marL="68580" marR="68580" marT="0" marB="0" anchor="ctr" anchorCtr="0"/>
                </a:tc>
                <a:tc>
                  <a:txBody>
                    <a:bodyPr/>
                    <a:p>
                      <a:pPr algn="ctr">
                        <a:lnSpc>
                          <a:spcPct val="114000"/>
                        </a:lnSpc>
                        <a:spcBef>
                          <a:spcPct val="0"/>
                        </a:spcBef>
                        <a:spcAft>
                          <a:spcPct val="0"/>
                        </a:spcAft>
                      </a:pPr>
                      <a:r>
                        <a:rPr lang="en-US" altLang="zh-CN" sz="1200"/>
                        <a:t>dt</a:t>
                      </a:r>
                      <a:r>
                        <a:rPr lang="zh-CN" altLang="en-US" sz="1200"/>
                        <a:t>精确</a:t>
                      </a:r>
                      <a:r>
                        <a:rPr lang="en-US" altLang="zh-CN" sz="1200"/>
                        <a:t>→D</a:t>
                      </a:r>
                      <a:r>
                        <a:rPr lang="zh-CN" altLang="en-US" sz="1200"/>
                        <a:t>项可靠</a:t>
                      </a:r>
                      <a:endParaRPr lang="zh-CN" altLang="en-US" sz="1200"/>
                    </a:p>
                  </a:txBody>
                  <a:tcPr marL="68580" marR="68580" marT="0" marB="0" anchor="ctr" anchorCtr="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控制程序</a:t>
            </a:r>
            <a:r>
              <a:rPr lang="zh-CN" altLang="en-US" sz="2600" b="1" i="0" u="none" strike="noStrike">
                <a:solidFill>
                  <a:srgbClr val="0891B2"/>
                </a:solidFill>
                <a:latin typeface="MiSans" charset="-122"/>
                <a:ea typeface="MiSans" charset="-122"/>
                <a:cs typeface="MiSans" charset="-122"/>
                <a:sym typeface="MiSans" charset="-122"/>
              </a:rPr>
              <a:t>迭代</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7" name="文本框 6"/>
          <p:cNvSpPr txBox="1"/>
          <p:nvPr/>
        </p:nvSpPr>
        <p:spPr>
          <a:xfrm>
            <a:off x="762000" y="1191260"/>
            <a:ext cx="2156460" cy="337185"/>
          </a:xfrm>
          <a:prstGeom prst="rect">
            <a:avLst/>
          </a:prstGeom>
        </p:spPr>
        <p:style>
          <a:lnRef idx="0">
            <a:srgbClr val="FFFFFF"/>
          </a:lnRef>
          <a:fillRef idx="3">
            <a:schemeClr val="accent5"/>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第</a:t>
            </a:r>
            <a:r>
              <a:rPr lang="zh-CN" altLang="en-US" sz="1600">
                <a:solidFill>
                  <a:srgbClr val="003366"/>
                </a:solidFill>
                <a:latin typeface="MiSans Medium" panose="00000600000000000000" charset="-122"/>
                <a:ea typeface="MiSans Medium" panose="00000600000000000000" charset="-122"/>
              </a:rPr>
              <a:t>四版平衡控制</a:t>
            </a:r>
            <a:r>
              <a:rPr lang="zh-CN" altLang="en-US" sz="1600">
                <a:solidFill>
                  <a:srgbClr val="003366"/>
                </a:solidFill>
                <a:latin typeface="MiSans Medium" panose="00000600000000000000" charset="-122"/>
                <a:ea typeface="MiSans Medium" panose="00000600000000000000" charset="-122"/>
              </a:rPr>
              <a:t>算法</a:t>
            </a:r>
            <a:endParaRPr lang="zh-CN" altLang="en-US" sz="1600">
              <a:solidFill>
                <a:srgbClr val="003366"/>
              </a:solidFill>
              <a:latin typeface="MiSans Medium" panose="00000600000000000000" charset="-122"/>
              <a:ea typeface="MiSans Medium" panose="00000600000000000000" charset="-122"/>
            </a:endParaRPr>
          </a:p>
        </p:txBody>
      </p:sp>
      <p:sp>
        <p:nvSpPr>
          <p:cNvPr id="10" name="AutoShape 5"/>
          <p:cNvSpPr/>
          <p:nvPr/>
        </p:nvSpPr>
        <p:spPr>
          <a:xfrm>
            <a:off x="635000" y="1717675"/>
            <a:ext cx="5334000" cy="4318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6"/>
          <p:cNvSpPr/>
          <p:nvPr/>
        </p:nvSpPr>
        <p:spPr>
          <a:xfrm>
            <a:off x="635000" y="1768475"/>
            <a:ext cx="53340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旧架构: while(1) + delay_ms()</a:t>
            </a:r>
            <a:endParaRPr lang="en-US" sz="1100"/>
          </a:p>
        </p:txBody>
      </p:sp>
      <p:sp>
        <p:nvSpPr>
          <p:cNvPr id="12" name="AutoShape 7"/>
          <p:cNvSpPr/>
          <p:nvPr/>
        </p:nvSpPr>
        <p:spPr>
          <a:xfrm>
            <a:off x="635000" y="2263775"/>
            <a:ext cx="5334000" cy="19685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8"/>
          <p:cNvSpPr/>
          <p:nvPr/>
        </p:nvSpPr>
        <p:spPr>
          <a:xfrm>
            <a:off x="635000" y="2263775"/>
            <a:ext cx="38100" cy="19685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9"/>
          <p:cNvSpPr/>
          <p:nvPr/>
        </p:nvSpPr>
        <p:spPr>
          <a:xfrm>
            <a:off x="812800" y="2365375"/>
            <a:ext cx="4978400" cy="18161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while(1) {</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angle_adc = Get_adc(CH14);</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encoder[] = Read_Encoder();</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Handle_Key(KEY_Scan());</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pwm=Balance_Update(angle,enc);</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Set_PWM(pwm,pwm,pwm,pwm);</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printf(...); LCD_Show(...);</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delay_ms(5);</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 printf阻塞→周期抖动</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15" name="AutoShape 10"/>
          <p:cNvSpPr/>
          <p:nvPr/>
        </p:nvSpPr>
        <p:spPr>
          <a:xfrm>
            <a:off x="635000" y="459105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控制+显示+按键混杂→软实时→周期不确定</a:t>
            </a:r>
            <a:endParaRPr lang="en-US" sz="1100"/>
          </a:p>
        </p:txBody>
      </p:sp>
      <p:sp>
        <p:nvSpPr>
          <p:cNvPr id="16" name="AutoShape 11"/>
          <p:cNvSpPr/>
          <p:nvPr/>
        </p:nvSpPr>
        <p:spPr>
          <a:xfrm>
            <a:off x="6159500" y="1717675"/>
            <a:ext cx="10668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重构</a:t>
            </a:r>
            <a:endParaRPr lang="en-US" sz="1100"/>
          </a:p>
        </p:txBody>
      </p:sp>
      <p:sp>
        <p:nvSpPr>
          <p:cNvPr id="17" name="AutoShape 12"/>
          <p:cNvSpPr/>
          <p:nvPr/>
        </p:nvSpPr>
        <p:spPr>
          <a:xfrm>
            <a:off x="6223000" y="1717675"/>
            <a:ext cx="5588000" cy="431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3"/>
          <p:cNvSpPr/>
          <p:nvPr/>
        </p:nvSpPr>
        <p:spPr>
          <a:xfrm>
            <a:off x="6223000" y="1768475"/>
            <a:ext cx="55880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新架构: TIM1中断控制 + 主循环显示</a:t>
            </a:r>
            <a:endParaRPr lang="en-US" sz="1100"/>
          </a:p>
        </p:txBody>
      </p:sp>
      <p:sp>
        <p:nvSpPr>
          <p:cNvPr id="19" name="AutoShape 14"/>
          <p:cNvSpPr/>
          <p:nvPr/>
        </p:nvSpPr>
        <p:spPr>
          <a:xfrm>
            <a:off x="6223000" y="2263775"/>
            <a:ext cx="5588000" cy="2159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15"/>
          <p:cNvSpPr/>
          <p:nvPr/>
        </p:nvSpPr>
        <p:spPr>
          <a:xfrm>
            <a:off x="6223000" y="2263775"/>
            <a:ext cx="38100" cy="2159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16"/>
          <p:cNvSpPr/>
          <p:nvPr/>
        </p:nvSpPr>
        <p:spPr>
          <a:xfrm>
            <a:off x="6400800" y="2365375"/>
            <a:ext cx="5232400" cy="2006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TIM1中断(2ms硬件定时):</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void TIM1_UP_IRQHandler() {</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angle_adc=Get_adc(CH14);</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encoder[]=Read_Encoder();</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pwm=Balance_Update(angle,enc);</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Set_PWM(pwm,pwm,pwm,pwm);</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置标志位→主循环消费</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主循环(非实时):</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while(1){Handle_Key();...}</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22" name="AutoShape 17"/>
          <p:cNvSpPr/>
          <p:nvPr/>
        </p:nvSpPr>
        <p:spPr>
          <a:xfrm>
            <a:off x="6223000" y="459105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控制硬实时+显示异步→周期严格2ms→D项精度飞跃</a:t>
            </a:r>
            <a:endParaRPr lang="en-US" sz="1100"/>
          </a:p>
        </p:txBody>
      </p:sp>
      <p:sp>
        <p:nvSpPr>
          <p:cNvPr id="23" name="AutoShape 18"/>
          <p:cNvSpPr/>
          <p:nvPr/>
        </p:nvSpPr>
        <p:spPr>
          <a:xfrm>
            <a:off x="635000" y="5226050"/>
            <a:ext cx="1117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提升原因：</a:t>
            </a:r>
            <a:endParaRPr lang="en-US" sz="1100"/>
          </a:p>
          <a:p>
            <a:pPr marL="0" indent="0" algn="l">
              <a:lnSpc>
                <a:spcPct val="125000"/>
              </a:lnSpc>
            </a:pPr>
          </a:p>
          <a:p>
            <a:pPr marL="0" indent="0" algn="l">
              <a:lnSpc>
                <a:spcPct val="125000"/>
              </a:lnSpc>
            </a:pPr>
            <a:r>
              <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 硬件定时中断保证dt精确→角速度差分dt误差为0</a:t>
            </a:r>
            <a:endPar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 控制计算不被printf/LCD阻塞→printf可能耗时数ms</a:t>
            </a:r>
            <a:endPar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 工业标准：FOC、伺服驱动、飞控均用中断控制+主循环通信架构</a:t>
            </a:r>
            <a:endPar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控制程序</a:t>
            </a:r>
            <a:r>
              <a:rPr lang="zh-CN" altLang="en-US" sz="2600" b="1" i="0" u="none" strike="noStrike">
                <a:solidFill>
                  <a:srgbClr val="0891B2"/>
                </a:solidFill>
                <a:latin typeface="MiSans" charset="-122"/>
                <a:ea typeface="MiSans" charset="-122"/>
                <a:cs typeface="MiSans" charset="-122"/>
                <a:sym typeface="MiSans" charset="-122"/>
              </a:rPr>
              <a:t>迭代</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4"/>
          <p:cNvSpPr/>
          <p:nvPr/>
        </p:nvSpPr>
        <p:spPr>
          <a:xfrm>
            <a:off x="706755" y="2271395"/>
            <a:ext cx="4511675" cy="27438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a:latin typeface="MiSans" charset="-122"/>
                <a:ea typeface="MiSans" charset="-122"/>
                <a:cs typeface="MiSans" charset="-122"/>
              </a:rPr>
              <a:t>杆子倒向一边 → 车追杆 → 杆子回摆</a:t>
            </a:r>
            <a:endParaRPr lang="zh-CN" altLang="en-US" sz="1600">
              <a:latin typeface="MiSans" charset="-122"/>
              <a:ea typeface="MiSans" charset="-122"/>
              <a:cs typeface="MiSans" charset="-122"/>
            </a:endParaRPr>
          </a:p>
          <a:p>
            <a:pPr marL="0" indent="0" algn="l">
              <a:lnSpc>
                <a:spcPct val="125000"/>
              </a:lnSpc>
              <a:defRPr/>
            </a:pPr>
            <a:r>
              <a:rPr lang="en-US" altLang="zh-CN" sz="1600">
                <a:latin typeface="MiSans" charset="-122"/>
                <a:ea typeface="MiSans" charset="-122"/>
                <a:cs typeface="MiSans" charset="-122"/>
              </a:rPr>
              <a:t>                         ↓</a:t>
            </a:r>
            <a:endParaRPr lang="en-US" altLang="zh-CN" sz="1600">
              <a:latin typeface="MiSans" charset="-122"/>
              <a:ea typeface="MiSans" charset="-122"/>
              <a:cs typeface="MiSans" charset="-122"/>
            </a:endParaRPr>
          </a:p>
          <a:p>
            <a:pPr marL="0" indent="0" algn="l">
              <a:lnSpc>
                <a:spcPct val="125000"/>
              </a:lnSpc>
              <a:defRPr/>
            </a:pPr>
            <a:r>
              <a:rPr lang="zh-CN" altLang="en-US" sz="1600">
                <a:latin typeface="MiSans" charset="-122"/>
                <a:ea typeface="MiSans" charset="-122"/>
                <a:cs typeface="MiSans" charset="-122"/>
              </a:rPr>
              <a:t>              小车减速 → 减速的惯性加速度</a:t>
            </a:r>
            <a:endParaRPr lang="zh-CN" altLang="en-US" sz="1600">
              <a:latin typeface="MiSans" charset="-122"/>
              <a:ea typeface="MiSans" charset="-122"/>
              <a:cs typeface="MiSans" charset="-122"/>
            </a:endParaRPr>
          </a:p>
          <a:p>
            <a:pPr marL="1828800" lvl="4" indent="457200" algn="l">
              <a:lnSpc>
                <a:spcPct val="125000"/>
              </a:lnSpc>
              <a:defRPr/>
            </a:pPr>
            <a:r>
              <a:rPr lang="en-US" altLang="zh-CN" sz="1600">
                <a:latin typeface="MiSans" charset="-122"/>
                <a:ea typeface="MiSans" charset="-122"/>
                <a:cs typeface="MiSans" charset="-122"/>
              </a:rPr>
              <a:t>↓</a:t>
            </a:r>
            <a:endParaRPr lang="zh-CN" altLang="en-US" sz="1600">
              <a:latin typeface="MiSans" charset="-122"/>
              <a:ea typeface="MiSans" charset="-122"/>
              <a:cs typeface="MiSans" charset="-122"/>
            </a:endParaRPr>
          </a:p>
          <a:p>
            <a:pPr marL="0" indent="0" algn="l">
              <a:lnSpc>
                <a:spcPct val="125000"/>
              </a:lnSpc>
              <a:defRPr/>
            </a:pPr>
            <a:r>
              <a:rPr lang="zh-CN" altLang="en-US" sz="1600">
                <a:latin typeface="MiSans" charset="-122"/>
                <a:ea typeface="MiSans" charset="-122"/>
                <a:cs typeface="MiSans" charset="-122"/>
              </a:rPr>
              <a:t>              把杆子重新甩回同一侧（科里奥利效应）</a:t>
            </a:r>
            <a:endParaRPr lang="zh-CN" altLang="en-US" sz="1600">
              <a:latin typeface="MiSans" charset="-122"/>
              <a:ea typeface="MiSans" charset="-122"/>
              <a:cs typeface="MiSans" charset="-122"/>
            </a:endParaRPr>
          </a:p>
          <a:p>
            <a:pPr marL="0" indent="0" algn="l">
              <a:lnSpc>
                <a:spcPct val="125000"/>
              </a:lnSpc>
              <a:defRPr/>
            </a:pPr>
            <a:r>
              <a:rPr lang="en-US" altLang="zh-CN" sz="1600">
                <a:latin typeface="MiSans" charset="-122"/>
                <a:ea typeface="MiSans" charset="-122"/>
                <a:cs typeface="MiSans" charset="-122"/>
              </a:rPr>
              <a:t>                         ↓</a:t>
            </a:r>
            <a:endParaRPr lang="en-US" altLang="zh-CN" sz="1600">
              <a:latin typeface="MiSans" charset="-122"/>
              <a:ea typeface="MiSans" charset="-122"/>
              <a:cs typeface="MiSans" charset="-122"/>
            </a:endParaRPr>
          </a:p>
          <a:p>
            <a:pPr marL="0" indent="0" algn="l">
              <a:lnSpc>
                <a:spcPct val="125000"/>
              </a:lnSpc>
              <a:defRPr/>
            </a:pPr>
            <a:r>
              <a:rPr lang="zh-CN" altLang="en-US" sz="1600">
                <a:latin typeface="MiSans" charset="-122"/>
                <a:ea typeface="MiSans" charset="-122"/>
                <a:cs typeface="MiSans" charset="-122"/>
              </a:rPr>
              <a:t>              杆子始终到不了中心线另一边</a:t>
            </a:r>
            <a:endParaRPr lang="zh-CN" altLang="en-US" sz="1600">
              <a:latin typeface="MiSans" charset="-122"/>
              <a:ea typeface="MiSans" charset="-122"/>
              <a:cs typeface="MiSans" charset="-122"/>
            </a:endParaRPr>
          </a:p>
          <a:p>
            <a:pPr marL="0" indent="0" algn="l">
              <a:lnSpc>
                <a:spcPct val="125000"/>
              </a:lnSpc>
              <a:defRPr/>
            </a:pPr>
            <a:r>
              <a:rPr lang="en-US" altLang="zh-CN" sz="1600">
                <a:latin typeface="MiSans" charset="-122"/>
                <a:ea typeface="MiSans" charset="-122"/>
                <a:cs typeface="MiSans" charset="-122"/>
              </a:rPr>
              <a:t>                         ↓</a:t>
            </a:r>
            <a:endParaRPr lang="en-US" altLang="zh-CN" sz="1600">
              <a:latin typeface="MiSans" charset="-122"/>
              <a:ea typeface="MiSans" charset="-122"/>
              <a:cs typeface="MiSans" charset="-122"/>
            </a:endParaRPr>
          </a:p>
          <a:p>
            <a:pPr marL="0" indent="0" algn="l">
              <a:lnSpc>
                <a:spcPct val="125000"/>
              </a:lnSpc>
              <a:defRPr/>
            </a:pPr>
            <a:r>
              <a:rPr lang="zh-CN" altLang="en-US" sz="1600">
                <a:latin typeface="MiSans" charset="-122"/>
                <a:ea typeface="MiSans" charset="-122"/>
                <a:cs typeface="MiSans" charset="-122"/>
              </a:rPr>
              <a:t>              速度余量逐渐耗尽 → 倒下</a:t>
            </a:r>
            <a:endParaRPr lang="zh-CN" altLang="en-US" sz="1600">
              <a:latin typeface="MiSans" charset="-122"/>
              <a:ea typeface="MiSans" charset="-122"/>
              <a:cs typeface="MiSans" charset="-122"/>
            </a:endParaRPr>
          </a:p>
        </p:txBody>
      </p:sp>
      <p:sp>
        <p:nvSpPr>
          <p:cNvPr id="7" name="文本框 6"/>
          <p:cNvSpPr txBox="1"/>
          <p:nvPr/>
        </p:nvSpPr>
        <p:spPr>
          <a:xfrm>
            <a:off x="762000" y="1191260"/>
            <a:ext cx="2289810" cy="337185"/>
          </a:xfrm>
          <a:prstGeom prst="rect">
            <a:avLst/>
          </a:prstGeom>
        </p:spPr>
        <p:style>
          <a:lnRef idx="0">
            <a:srgbClr val="FFFFFF"/>
          </a:lnRef>
          <a:fillRef idx="3">
            <a:schemeClr val="accent5"/>
          </a:fillRef>
          <a:effectRef idx="0">
            <a:srgbClr val="FFFFFF"/>
          </a:effectRef>
          <a:fontRef idx="minor">
            <a:schemeClr val="lt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第四版</a:t>
            </a:r>
            <a:r>
              <a:rPr lang="en-US" altLang="zh-CN" sz="1600">
                <a:solidFill>
                  <a:srgbClr val="003366"/>
                </a:solidFill>
                <a:latin typeface="MiSans Medium" panose="00000600000000000000" charset="-122"/>
                <a:ea typeface="MiSans Medium" panose="00000600000000000000" charset="-122"/>
              </a:rPr>
              <a:t>+</a:t>
            </a:r>
            <a:r>
              <a:rPr lang="zh-CN" altLang="en-US" sz="1600">
                <a:solidFill>
                  <a:srgbClr val="003366"/>
                </a:solidFill>
                <a:latin typeface="MiSans Medium" panose="00000600000000000000" charset="-122"/>
                <a:ea typeface="MiSans Medium" panose="00000600000000000000" charset="-122"/>
              </a:rPr>
              <a:t>平衡控制</a:t>
            </a:r>
            <a:r>
              <a:rPr lang="zh-CN" altLang="en-US" sz="1600">
                <a:solidFill>
                  <a:srgbClr val="003366"/>
                </a:solidFill>
                <a:latin typeface="MiSans Medium" panose="00000600000000000000" charset="-122"/>
                <a:ea typeface="MiSans Medium" panose="00000600000000000000" charset="-122"/>
              </a:rPr>
              <a:t>算法</a:t>
            </a:r>
            <a:endParaRPr lang="zh-CN" altLang="en-US" sz="1600">
              <a:solidFill>
                <a:srgbClr val="003366"/>
              </a:solidFill>
              <a:latin typeface="MiSans Medium" panose="00000600000000000000" charset="-122"/>
              <a:ea typeface="MiSans Medium" panose="00000600000000000000" charset="-122"/>
            </a:endParaRPr>
          </a:p>
        </p:txBody>
      </p:sp>
      <p:sp>
        <p:nvSpPr>
          <p:cNvPr id="8" name="文本框 7"/>
          <p:cNvSpPr txBox="1"/>
          <p:nvPr/>
        </p:nvSpPr>
        <p:spPr>
          <a:xfrm>
            <a:off x="706755" y="1845945"/>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问题</a:t>
            </a:r>
            <a:r>
              <a:rPr lang="zh-CN" altLang="en-US" sz="1600">
                <a:solidFill>
                  <a:srgbClr val="003366"/>
                </a:solidFill>
                <a:latin typeface="MiSans Medium" panose="00000600000000000000" charset="-122"/>
                <a:ea typeface="MiSans Medium" panose="00000600000000000000" charset="-122"/>
              </a:rPr>
              <a:t>链条</a:t>
            </a:r>
            <a:endParaRPr lang="zh-CN" altLang="en-US" sz="1600">
              <a:solidFill>
                <a:srgbClr val="003366"/>
              </a:solidFill>
              <a:latin typeface="MiSans Medium" panose="00000600000000000000" charset="-122"/>
              <a:ea typeface="MiSans Medium" panose="00000600000000000000" charset="-122"/>
            </a:endParaRPr>
          </a:p>
        </p:txBody>
      </p:sp>
      <p:graphicFrame>
        <p:nvGraphicFramePr>
          <p:cNvPr id="9" name="表格 8"/>
          <p:cNvGraphicFramePr/>
          <p:nvPr>
            <p:custDataLst>
              <p:tags r:id="rId1"/>
            </p:custDataLst>
          </p:nvPr>
        </p:nvGraphicFramePr>
        <p:xfrm>
          <a:off x="5561330" y="2271395"/>
          <a:ext cx="6304915" cy="2995295"/>
        </p:xfrm>
        <a:graphic>
          <a:graphicData uri="http://schemas.openxmlformats.org/drawingml/2006/table">
            <a:tbl>
              <a:tblPr firstRow="1" bandRow="1">
                <a:tableStyleId>{21CC8093-3799-48AE-BC2B-F0442AC5ABC2}</a:tableStyleId>
              </a:tblPr>
              <a:tblGrid>
                <a:gridCol w="896620"/>
                <a:gridCol w="2159000"/>
                <a:gridCol w="1673225"/>
                <a:gridCol w="1576070"/>
              </a:tblGrid>
              <a:tr h="173355">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rPr>
                        <a:t>版本</a:t>
                      </a:r>
                      <a:endParaRPr lang="zh-CN" sz="1200">
                        <a:latin typeface="MiSans Bold" panose="00000800000000000000" charset="-122"/>
                        <a:ea typeface="MiSans Bold" panose="00000800000000000000" charset="-122"/>
                      </a:endParaRPr>
                    </a:p>
                  </a:txBody>
                  <a:tcPr marL="68580" marR="68580" marT="0" marB="0" anchor="ctr" anchorCtr="0"/>
                </a:tc>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rPr>
                        <a:t>核心改动</a:t>
                      </a:r>
                      <a:endParaRPr lang="zh-CN" sz="1200">
                        <a:latin typeface="MiSans Bold" panose="00000800000000000000" charset="-122"/>
                        <a:ea typeface="MiSans Bold" panose="00000800000000000000" charset="-122"/>
                      </a:endParaRPr>
                    </a:p>
                  </a:txBody>
                  <a:tcPr marL="68580" marR="68580" marT="0" marB="0" anchor="ctr" anchorCtr="0"/>
                </a:tc>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rPr>
                        <a:t>针对现象</a:t>
                      </a:r>
                      <a:endParaRPr lang="zh-CN" sz="1200">
                        <a:latin typeface="MiSans Bold" panose="00000800000000000000" charset="-122"/>
                        <a:ea typeface="MiSans Bold" panose="00000800000000000000" charset="-122"/>
                      </a:endParaRPr>
                    </a:p>
                  </a:txBody>
                  <a:tcPr marL="68580" marR="68580" marT="0" marB="0" anchor="ctr" anchorCtr="0"/>
                </a:tc>
                <a:tc>
                  <a:txBody>
                    <a:bodyPr/>
                    <a:p>
                      <a:pPr algn="ctr">
                        <a:lnSpc>
                          <a:spcPct val="114000"/>
                        </a:lnSpc>
                        <a:spcBef>
                          <a:spcPct val="0"/>
                        </a:spcBef>
                        <a:spcAft>
                          <a:spcPct val="0"/>
                        </a:spcAft>
                      </a:pPr>
                      <a:r>
                        <a:rPr lang="zh-CN" sz="1200">
                          <a:latin typeface="MiSans Bold" panose="00000800000000000000" charset="-122"/>
                          <a:ea typeface="MiSans Bold" panose="00000800000000000000" charset="-122"/>
                        </a:rPr>
                        <a:t>设计思想</a:t>
                      </a:r>
                      <a:endParaRPr lang="zh-CN" sz="1200">
                        <a:latin typeface="MiSans Bold" panose="00000800000000000000" charset="-122"/>
                        <a:ea typeface="MiSans Bold" panose="00000800000000000000" charset="-122"/>
                      </a:endParaRPr>
                    </a:p>
                  </a:txBody>
                  <a:tcPr marL="68580" marR="68580" marT="0" marB="0" anchor="ctr" anchorCtr="0"/>
                </a:tc>
              </a:tr>
              <a:tr h="394970">
                <a:tc>
                  <a:txBody>
                    <a:bodyPr/>
                    <a:p>
                      <a:pPr algn="ctr">
                        <a:lnSpc>
                          <a:spcPct val="114000"/>
                        </a:lnSpc>
                        <a:spcBef>
                          <a:spcPct val="0"/>
                        </a:spcBef>
                        <a:spcAft>
                          <a:spcPct val="0"/>
                        </a:spcAft>
                      </a:pPr>
                      <a:r>
                        <a:rPr lang="en-US" altLang="zh-CN" sz="1000">
                          <a:latin typeface="MiSans" charset="-122"/>
                          <a:ea typeface="MiSans" charset="-122"/>
                        </a:rPr>
                        <a:t>V22</a:t>
                      </a:r>
                      <a:endParaRPr lang="en-US" altLang="zh-CN" sz="1000">
                        <a:latin typeface="MiSans" charset="-122"/>
                        <a:ea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新增</a:t>
                      </a:r>
                      <a:r>
                        <a:rPr lang="en-US" altLang="zh-CN" sz="1000">
                          <a:latin typeface="MiSans" charset="-122"/>
                          <a:ea typeface="MiSans" charset="-122"/>
                          <a:cs typeface="MiSans" charset="-122"/>
                        </a:rPr>
                        <a:t>Return_Speed_Kp=1.55</a:t>
                      </a:r>
                      <a:br>
                        <a:rPr lang="en-US" altLang="zh-CN" sz="1000">
                          <a:latin typeface="MiSans" charset="-122"/>
                          <a:ea typeface="MiSans" charset="-122"/>
                          <a:cs typeface="MiSans" charset="-122"/>
                        </a:rPr>
                      </a:br>
                      <a:r>
                        <a:rPr lang="zh-CN" sz="1000">
                          <a:latin typeface="MiSans" charset="-122"/>
                          <a:ea typeface="MiSans" charset="-122"/>
                          <a:cs typeface="MiSans" charset="-122"/>
                        </a:rPr>
                        <a:t>回正时加强速度阻尼</a:t>
                      </a:r>
                      <a:endParaRPr 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rPr>
                        <a:t>回正时冲出过头</a:t>
                      </a:r>
                      <a:endParaRPr lang="zh-CN" sz="1000">
                        <a:latin typeface="MiSans" charset="-122"/>
                        <a:ea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识别</a:t>
                      </a:r>
                      <a:r>
                        <a:rPr lang="en-US" altLang="zh-CN" sz="1000">
                          <a:latin typeface="MiSans" charset="-122"/>
                          <a:ea typeface="MiSans" charset="-122"/>
                          <a:cs typeface="MiSans" charset="-122"/>
                        </a:rPr>
                        <a:t>angle×rate</a:t>
                      </a:r>
                      <a:r>
                        <a:rPr lang="zh-CN" altLang="en-US" sz="1000">
                          <a:latin typeface="MiSans" charset="-122"/>
                          <a:ea typeface="MiSans" charset="-122"/>
                          <a:cs typeface="MiSans" charset="-122"/>
                        </a:rPr>
                        <a:t>异号</a:t>
                      </a:r>
                      <a:r>
                        <a:rPr lang="en-US" altLang="zh-CN" sz="1000">
                          <a:latin typeface="MiSans" charset="-122"/>
                          <a:ea typeface="MiSans" charset="-122"/>
                          <a:cs typeface="MiSans" charset="-122"/>
                        </a:rPr>
                        <a:t>→</a:t>
                      </a:r>
                      <a:r>
                        <a:rPr lang="zh-CN" altLang="en-US" sz="1000">
                          <a:latin typeface="MiSans" charset="-122"/>
                          <a:ea typeface="MiSans" charset="-122"/>
                          <a:cs typeface="MiSans" charset="-122"/>
                        </a:rPr>
                        <a:t>回正状态</a:t>
                      </a:r>
                      <a:r>
                        <a:rPr lang="en-US" altLang="zh-CN" sz="1000">
                          <a:latin typeface="MiSans" charset="-122"/>
                          <a:ea typeface="MiSans" charset="-122"/>
                          <a:cs typeface="MiSans" charset="-122"/>
                        </a:rPr>
                        <a:t>→</a:t>
                      </a:r>
                      <a:r>
                        <a:rPr lang="zh-CN" altLang="en-US" sz="1000">
                          <a:latin typeface="MiSans" charset="-122"/>
                          <a:ea typeface="MiSans" charset="-122"/>
                          <a:cs typeface="MiSans" charset="-122"/>
                        </a:rPr>
                        <a:t>加阻尼收力</a:t>
                      </a:r>
                      <a:endParaRPr lang="zh-CN" altLang="en-US" sz="1000">
                        <a:latin typeface="MiSans" charset="-122"/>
                        <a:ea typeface="MiSans" charset="-122"/>
                        <a:cs typeface="MiSans" charset="-122"/>
                      </a:endParaRPr>
                    </a:p>
                  </a:txBody>
                  <a:tcPr marL="68580" marR="68580" marT="0" marB="0" anchor="ctr" anchorCtr="0"/>
                </a:tc>
              </a:tr>
              <a:tr h="346710">
                <a:tc>
                  <a:txBody>
                    <a:bodyPr/>
                    <a:p>
                      <a:pPr algn="ctr">
                        <a:lnSpc>
                          <a:spcPct val="114000"/>
                        </a:lnSpc>
                        <a:spcBef>
                          <a:spcPct val="0"/>
                        </a:spcBef>
                        <a:spcAft>
                          <a:spcPct val="0"/>
                        </a:spcAft>
                      </a:pPr>
                      <a:r>
                        <a:rPr lang="en-US" altLang="zh-CN" sz="1000">
                          <a:latin typeface="MiSans" charset="-122"/>
                          <a:ea typeface="MiSans" charset="-122"/>
                        </a:rPr>
                        <a:t>V24</a:t>
                      </a:r>
                      <a:endParaRPr lang="en-US" altLang="zh-CN" sz="1000">
                        <a:latin typeface="MiSans" charset="-122"/>
                        <a:ea typeface="MiSans"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charset="-122"/>
                          <a:ea typeface="MiSans" charset="-122"/>
                          <a:cs typeface="MiSans" charset="-122"/>
                        </a:rPr>
                        <a:t>FALL_START: 3.0°→1.2°</a:t>
                      </a:r>
                      <a:br>
                        <a:rPr lang="en-US" altLang="zh-CN" sz="1000">
                          <a:latin typeface="MiSans" charset="-122"/>
                          <a:ea typeface="MiSans" charset="-122"/>
                          <a:cs typeface="MiSans" charset="-122"/>
                        </a:rPr>
                      </a:br>
                      <a:r>
                        <a:rPr lang="en-US" altLang="zh-CN" sz="1000">
                          <a:latin typeface="MiSans" charset="-122"/>
                          <a:ea typeface="MiSans" charset="-122"/>
                          <a:cs typeface="MiSans" charset="-122"/>
                        </a:rPr>
                        <a:t>FALL_MIN_OUTPUT: 1250→1450</a:t>
                      </a:r>
                      <a:endParaRPr lang="en-US" alt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小角度加速度太小</a:t>
                      </a:r>
                      <a:br>
                        <a:rPr lang="zh-CN" altLang="en-US" sz="1000">
                          <a:latin typeface="MiSans" charset="-122"/>
                          <a:ea typeface="MiSans" charset="-122"/>
                          <a:cs typeface="MiSans" charset="-122"/>
                        </a:rPr>
                      </a:br>
                      <a:r>
                        <a:rPr lang="zh-CN" sz="1000">
                          <a:latin typeface="MiSans" charset="-122"/>
                          <a:ea typeface="MiSans" charset="-122"/>
                          <a:cs typeface="MiSans" charset="-122"/>
                        </a:rPr>
                        <a:t>杆子还没摆回就耗尽速度</a:t>
                      </a:r>
                      <a:endParaRPr 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把救杆加速度前移到</a:t>
                      </a:r>
                      <a:br>
                        <a:rPr lang="zh-CN" altLang="en-US" sz="1000">
                          <a:latin typeface="MiSans" charset="-122"/>
                          <a:ea typeface="MiSans" charset="-122"/>
                          <a:cs typeface="MiSans" charset="-122"/>
                        </a:rPr>
                      </a:br>
                      <a:r>
                        <a:rPr lang="zh-CN" sz="1000">
                          <a:latin typeface="MiSans" charset="-122"/>
                          <a:ea typeface="MiSans" charset="-122"/>
                          <a:cs typeface="MiSans" charset="-122"/>
                        </a:rPr>
                        <a:t>更小角度</a:t>
                      </a:r>
                      <a:endParaRPr lang="zh-CN" sz="1000">
                        <a:latin typeface="MiSans" charset="-122"/>
                        <a:ea typeface="MiSans" charset="-122"/>
                        <a:cs typeface="MiSans" charset="-122"/>
                      </a:endParaRPr>
                    </a:p>
                  </a:txBody>
                  <a:tcPr marL="68580" marR="68580" marT="0" marB="0" anchor="ctr" anchorCtr="0"/>
                </a:tc>
              </a:tr>
              <a:tr h="520065">
                <a:tc>
                  <a:txBody>
                    <a:bodyPr/>
                    <a:p>
                      <a:pPr algn="ctr">
                        <a:lnSpc>
                          <a:spcPct val="114000"/>
                        </a:lnSpc>
                        <a:spcBef>
                          <a:spcPct val="0"/>
                        </a:spcBef>
                        <a:spcAft>
                          <a:spcPct val="0"/>
                        </a:spcAft>
                      </a:pPr>
                      <a:r>
                        <a:rPr lang="en-US" altLang="zh-CN" sz="1000">
                          <a:latin typeface="MiSans" charset="-122"/>
                          <a:ea typeface="MiSans" charset="-122"/>
                        </a:rPr>
                        <a:t>V25</a:t>
                      </a:r>
                      <a:endParaRPr lang="en-US" altLang="zh-CN" sz="1000">
                        <a:latin typeface="MiSans" charset="-122"/>
                        <a:ea typeface="MiSans"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charset="-122"/>
                          <a:ea typeface="MiSans" charset="-122"/>
                          <a:cs typeface="MiSans" charset="-122"/>
                        </a:rPr>
                        <a:t>CENTER_CAPTURE=±1°</a:t>
                      </a:r>
                      <a:br>
                        <a:rPr lang="en-US" altLang="zh-CN" sz="1000">
                          <a:latin typeface="MiSans" charset="-122"/>
                          <a:ea typeface="MiSans" charset="-122"/>
                          <a:cs typeface="MiSans" charset="-122"/>
                        </a:rPr>
                      </a:br>
                      <a:r>
                        <a:rPr lang="en-US" altLang="zh-CN" sz="1000">
                          <a:latin typeface="MiSans" charset="-122"/>
                          <a:ea typeface="MiSans" charset="-122"/>
                          <a:cs typeface="MiSans" charset="-122"/>
                        </a:rPr>
                        <a:t>Carry_Speed_Kp=0.22</a:t>
                      </a:r>
                      <a:br>
                        <a:rPr lang="en-US" altLang="zh-CN" sz="1000">
                          <a:latin typeface="MiSans" charset="-122"/>
                          <a:ea typeface="MiSans" charset="-122"/>
                          <a:cs typeface="MiSans" charset="-122"/>
                        </a:rPr>
                      </a:br>
                      <a:r>
                        <a:rPr lang="en-US" altLang="zh-CN" sz="1000">
                          <a:latin typeface="MiSans" charset="-122"/>
                          <a:ea typeface="MiSans" charset="-122"/>
                          <a:cs typeface="MiSans" charset="-122"/>
                        </a:rPr>
                        <a:t>RETURN_MIN_OUTPUT=760</a:t>
                      </a:r>
                      <a:endParaRPr lang="en-US" alt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杆子回正时松力太早</a:t>
                      </a:r>
                      <a:br>
                        <a:rPr lang="zh-CN" altLang="en-US" sz="1000">
                          <a:latin typeface="MiSans" charset="-122"/>
                          <a:ea typeface="MiSans" charset="-122"/>
                          <a:cs typeface="MiSans" charset="-122"/>
                        </a:rPr>
                      </a:br>
                      <a:r>
                        <a:rPr lang="zh-CN" sz="1000">
                          <a:latin typeface="MiSans" charset="-122"/>
                          <a:ea typeface="MiSans" charset="-122"/>
                          <a:cs typeface="MiSans" charset="-122"/>
                        </a:rPr>
                        <a:t>无法穿越中心</a:t>
                      </a:r>
                      <a:endParaRPr 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未到中心前保持</a:t>
                      </a:r>
                      <a:br>
                        <a:rPr lang="zh-CN" altLang="en-US" sz="1000">
                          <a:latin typeface="MiSans" charset="-122"/>
                          <a:ea typeface="MiSans" charset="-122"/>
                          <a:cs typeface="MiSans" charset="-122"/>
                        </a:rPr>
                      </a:br>
                      <a:r>
                        <a:rPr lang="zh-CN" sz="1000">
                          <a:latin typeface="MiSans" charset="-122"/>
                          <a:ea typeface="MiSans" charset="-122"/>
                          <a:cs typeface="MiSans" charset="-122"/>
                        </a:rPr>
                        <a:t>最小穿越推力</a:t>
                      </a:r>
                      <a:endParaRPr lang="zh-CN" sz="1000">
                        <a:latin typeface="MiSans" charset="-122"/>
                        <a:ea typeface="MiSans" charset="-122"/>
                        <a:cs typeface="MiSans" charset="-122"/>
                      </a:endParaRPr>
                    </a:p>
                  </a:txBody>
                  <a:tcPr marL="68580" marR="68580" marT="0" marB="0" anchor="ctr" anchorCtr="0"/>
                </a:tc>
              </a:tr>
              <a:tr h="394970">
                <a:tc>
                  <a:txBody>
                    <a:bodyPr/>
                    <a:p>
                      <a:pPr algn="ctr">
                        <a:lnSpc>
                          <a:spcPct val="114000"/>
                        </a:lnSpc>
                        <a:spcBef>
                          <a:spcPct val="0"/>
                        </a:spcBef>
                        <a:spcAft>
                          <a:spcPct val="0"/>
                        </a:spcAft>
                      </a:pPr>
                      <a:r>
                        <a:rPr lang="en-US" altLang="zh-CN" sz="1000">
                          <a:latin typeface="MiSans" charset="-122"/>
                          <a:ea typeface="MiSans" charset="-122"/>
                        </a:rPr>
                        <a:t>V26</a:t>
                      </a:r>
                      <a:endParaRPr lang="en-US" altLang="zh-CN" sz="1000">
                        <a:latin typeface="MiSans" charset="-122"/>
                        <a:ea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删除硬保底</a:t>
                      </a:r>
                      <a:r>
                        <a:rPr lang="en-US" altLang="zh-CN" sz="1000">
                          <a:latin typeface="MiSans" charset="-122"/>
                          <a:ea typeface="MiSans" charset="-122"/>
                          <a:cs typeface="MiSans" charset="-122"/>
                        </a:rPr>
                        <a:t>RETURN_MIN_OUTPUT</a:t>
                      </a:r>
                      <a:br>
                        <a:rPr lang="en-US" altLang="zh-CN" sz="1000">
                          <a:latin typeface="MiSans" charset="-122"/>
                          <a:ea typeface="MiSans" charset="-122"/>
                          <a:cs typeface="MiSans" charset="-122"/>
                        </a:rPr>
                      </a:br>
                      <a:r>
                        <a:rPr lang="zh-CN" sz="1000">
                          <a:latin typeface="MiSans" charset="-122"/>
                          <a:ea typeface="MiSans" charset="-122"/>
                          <a:cs typeface="MiSans" charset="-122"/>
                        </a:rPr>
                        <a:t>改为渐进</a:t>
                      </a:r>
                      <a:r>
                        <a:rPr lang="en-US" altLang="zh-CN" sz="1000">
                          <a:latin typeface="MiSans" charset="-122"/>
                          <a:ea typeface="MiSans" charset="-122"/>
                          <a:cs typeface="MiSans" charset="-122"/>
                        </a:rPr>
                        <a:t>PWM</a:t>
                      </a:r>
                      <a:r>
                        <a:rPr lang="zh-CN" altLang="en-US" sz="1000">
                          <a:latin typeface="MiSans" charset="-122"/>
                          <a:ea typeface="MiSans" charset="-122"/>
                          <a:cs typeface="MiSans" charset="-122"/>
                        </a:rPr>
                        <a:t>死区补偿</a:t>
                      </a:r>
                      <a:endParaRPr lang="zh-CN" altLang="en-US"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硬保底造成</a:t>
                      </a:r>
                      <a:br>
                        <a:rPr lang="zh-CN" altLang="en-US" sz="1000">
                          <a:latin typeface="MiSans" charset="-122"/>
                          <a:ea typeface="MiSans" charset="-122"/>
                          <a:cs typeface="MiSans" charset="-122"/>
                        </a:rPr>
                      </a:br>
                      <a:r>
                        <a:rPr lang="zh-CN" sz="1000">
                          <a:latin typeface="MiSans" charset="-122"/>
                          <a:ea typeface="MiSans" charset="-122"/>
                          <a:cs typeface="MiSans" charset="-122"/>
                        </a:rPr>
                        <a:t>中心附近跳变抖动</a:t>
                      </a:r>
                      <a:endParaRPr 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用渐进替代阶跃</a:t>
                      </a:r>
                      <a:br>
                        <a:rPr lang="zh-CN" altLang="en-US" sz="1000">
                          <a:latin typeface="MiSans" charset="-122"/>
                          <a:ea typeface="MiSans" charset="-122"/>
                          <a:cs typeface="MiSans" charset="-122"/>
                        </a:rPr>
                      </a:br>
                      <a:r>
                        <a:rPr lang="zh-CN" sz="1000">
                          <a:latin typeface="MiSans" charset="-122"/>
                          <a:ea typeface="MiSans" charset="-122"/>
                          <a:cs typeface="MiSans" charset="-122"/>
                        </a:rPr>
                        <a:t>避免输出不连续</a:t>
                      </a:r>
                      <a:endParaRPr lang="zh-CN" sz="1000">
                        <a:latin typeface="MiSans" charset="-122"/>
                        <a:ea typeface="MiSans" charset="-122"/>
                        <a:cs typeface="MiSans" charset="-122"/>
                      </a:endParaRPr>
                    </a:p>
                  </a:txBody>
                  <a:tcPr marL="68580" marR="68580" marT="0" marB="0" anchor="ctr" anchorCtr="0"/>
                </a:tc>
              </a:tr>
              <a:tr h="520065">
                <a:tc>
                  <a:txBody>
                    <a:bodyPr/>
                    <a:p>
                      <a:pPr algn="ctr">
                        <a:lnSpc>
                          <a:spcPct val="114000"/>
                        </a:lnSpc>
                        <a:spcBef>
                          <a:spcPct val="0"/>
                        </a:spcBef>
                        <a:spcAft>
                          <a:spcPct val="0"/>
                        </a:spcAft>
                      </a:pPr>
                      <a:r>
                        <a:rPr lang="en-US" altLang="zh-CN" sz="1000">
                          <a:latin typeface="MiSans" charset="-122"/>
                          <a:ea typeface="MiSans" charset="-122"/>
                        </a:rPr>
                        <a:t>V27-V28</a:t>
                      </a:r>
                      <a:endParaRPr lang="en-US" altLang="zh-CN" sz="1000">
                        <a:latin typeface="MiSans" charset="-122"/>
                        <a:ea typeface="MiSans" charset="-122"/>
                      </a:endParaRPr>
                    </a:p>
                  </a:txBody>
                  <a:tcPr marL="68580" marR="68580" marT="0" marB="0" anchor="ctr" anchorCtr="0"/>
                </a:tc>
                <a:tc>
                  <a:txBody>
                    <a:bodyPr/>
                    <a:p>
                      <a:pPr algn="ctr">
                        <a:lnSpc>
                          <a:spcPct val="114000"/>
                        </a:lnSpc>
                        <a:spcBef>
                          <a:spcPct val="0"/>
                        </a:spcBef>
                        <a:spcAft>
                          <a:spcPct val="0"/>
                        </a:spcAft>
                      </a:pPr>
                      <a:r>
                        <a:rPr lang="en-US" altLang="zh-CN" sz="1000">
                          <a:latin typeface="MiSans" charset="-122"/>
                          <a:ea typeface="MiSans" charset="-122"/>
                          <a:cs typeface="MiSans" charset="-122"/>
                        </a:rPr>
                        <a:t>RETURN_BRAKE=±2.5°</a:t>
                      </a:r>
                      <a:br>
                        <a:rPr lang="en-US" altLang="zh-CN" sz="1000">
                          <a:latin typeface="MiSans" charset="-122"/>
                          <a:ea typeface="MiSans" charset="-122"/>
                          <a:cs typeface="MiSans" charset="-122"/>
                        </a:rPr>
                      </a:br>
                      <a:r>
                        <a:rPr lang="en-US" altLang="zh-CN" sz="1000">
                          <a:latin typeface="MiSans" charset="-122"/>
                          <a:ea typeface="MiSans" charset="-122"/>
                          <a:cs typeface="MiSans" charset="-122"/>
                        </a:rPr>
                        <a:t>Carry_Angle_Kd</a:t>
                      </a:r>
                      <a:r>
                        <a:rPr lang="zh-CN" altLang="en-US" sz="1000">
                          <a:latin typeface="MiSans" charset="-122"/>
                          <a:ea typeface="MiSans" charset="-122"/>
                          <a:cs typeface="MiSans" charset="-122"/>
                        </a:rPr>
                        <a:t>降到</a:t>
                      </a:r>
                      <a:r>
                        <a:rPr lang="en-US" altLang="zh-CN" sz="1000">
                          <a:latin typeface="MiSans" charset="-122"/>
                          <a:ea typeface="MiSans" charset="-122"/>
                          <a:cs typeface="MiSans" charset="-122"/>
                        </a:rPr>
                        <a:t>0</a:t>
                      </a:r>
                      <a:br>
                        <a:rPr lang="en-US" altLang="zh-CN" sz="1000">
                          <a:latin typeface="MiSans" charset="-122"/>
                          <a:ea typeface="MiSans" charset="-122"/>
                          <a:cs typeface="MiSans" charset="-122"/>
                        </a:rPr>
                      </a:br>
                      <a:r>
                        <a:rPr lang="zh-CN" sz="1000">
                          <a:latin typeface="MiSans" charset="-122"/>
                          <a:ea typeface="MiSans" charset="-122"/>
                          <a:cs typeface="MiSans" charset="-122"/>
                        </a:rPr>
                        <a:t>回正时暂停位置回中</a:t>
                      </a:r>
                      <a:endParaRPr 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回正途中提前刹车</a:t>
                      </a:r>
                      <a:br>
                        <a:rPr lang="zh-CN" altLang="en-US" sz="1000">
                          <a:latin typeface="MiSans" charset="-122"/>
                          <a:ea typeface="MiSans" charset="-122"/>
                          <a:cs typeface="MiSans" charset="-122"/>
                        </a:rPr>
                      </a:br>
                      <a:r>
                        <a:rPr lang="zh-CN" sz="1000">
                          <a:latin typeface="MiSans" charset="-122"/>
                          <a:ea typeface="MiSans" charset="-122"/>
                          <a:cs typeface="MiSans" charset="-122"/>
                        </a:rPr>
                        <a:t>杆子被减速甩回同侧</a:t>
                      </a:r>
                      <a:endParaRPr 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宁可冲过中心</a:t>
                      </a:r>
                      <a:br>
                        <a:rPr lang="zh-CN" altLang="en-US" sz="1000">
                          <a:latin typeface="MiSans" charset="-122"/>
                          <a:ea typeface="MiSans" charset="-122"/>
                          <a:cs typeface="MiSans" charset="-122"/>
                        </a:rPr>
                      </a:br>
                      <a:r>
                        <a:rPr lang="zh-CN" sz="1000">
                          <a:latin typeface="MiSans" charset="-122"/>
                          <a:ea typeface="MiSans" charset="-122"/>
                          <a:cs typeface="MiSans" charset="-122"/>
                        </a:rPr>
                        <a:t>也不能在中心前减速</a:t>
                      </a:r>
                      <a:endParaRPr lang="zh-CN" sz="1000">
                        <a:latin typeface="MiSans" charset="-122"/>
                        <a:ea typeface="MiSans" charset="-122"/>
                        <a:cs typeface="MiSans" charset="-122"/>
                      </a:endParaRPr>
                    </a:p>
                  </a:txBody>
                  <a:tcPr marL="68580" marR="68580" marT="0" marB="0" anchor="ctr" anchorCtr="0"/>
                </a:tc>
              </a:tr>
              <a:tr h="520065">
                <a:tc>
                  <a:txBody>
                    <a:bodyPr/>
                    <a:p>
                      <a:pPr algn="ctr">
                        <a:lnSpc>
                          <a:spcPct val="114000"/>
                        </a:lnSpc>
                        <a:spcBef>
                          <a:spcPct val="0"/>
                        </a:spcBef>
                        <a:spcAft>
                          <a:spcPct val="0"/>
                        </a:spcAft>
                      </a:pPr>
                      <a:r>
                        <a:rPr lang="en-US" altLang="zh-CN" sz="1000">
                          <a:latin typeface="MiSans" charset="-122"/>
                          <a:ea typeface="MiSans" charset="-122"/>
                        </a:rPr>
                        <a:t>V29-V30</a:t>
                      </a:r>
                      <a:endParaRPr lang="en-US" altLang="zh-CN" sz="1000">
                        <a:latin typeface="MiSans" charset="-122"/>
                        <a:ea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恢复小角度阻尼</a:t>
                      </a:r>
                      <a:br>
                        <a:rPr lang="zh-CN" altLang="en-US" sz="1000">
                          <a:latin typeface="MiSans" charset="-122"/>
                          <a:ea typeface="MiSans" charset="-122"/>
                          <a:cs typeface="MiSans" charset="-122"/>
                        </a:rPr>
                      </a:br>
                      <a:r>
                        <a:rPr lang="zh-CN" sz="1000">
                          <a:latin typeface="MiSans" charset="-122"/>
                          <a:ea typeface="MiSans" charset="-122"/>
                          <a:cs typeface="MiSans" charset="-122"/>
                        </a:rPr>
                        <a:t>增加</a:t>
                      </a:r>
                      <a:r>
                        <a:rPr lang="en-US" altLang="zh-CN" sz="1000">
                          <a:latin typeface="MiSans" charset="-122"/>
                          <a:ea typeface="MiSans" charset="-122"/>
                          <a:cs typeface="MiSans" charset="-122"/>
                        </a:rPr>
                        <a:t>DRIFT_SPEED=900</a:t>
                      </a:r>
                      <a:br>
                        <a:rPr lang="en-US" altLang="zh-CN" sz="1000">
                          <a:latin typeface="MiSans" charset="-122"/>
                          <a:ea typeface="MiSans" charset="-122"/>
                          <a:cs typeface="MiSans" charset="-122"/>
                        </a:rPr>
                      </a:br>
                      <a:r>
                        <a:rPr lang="zh-CN" sz="1000">
                          <a:latin typeface="MiSans" charset="-122"/>
                          <a:ea typeface="MiSans" charset="-122"/>
                          <a:cs typeface="MiSans" charset="-122"/>
                        </a:rPr>
                        <a:t>增加</a:t>
                      </a:r>
                      <a:r>
                        <a:rPr lang="en-US" altLang="zh-CN" sz="1000">
                          <a:latin typeface="MiSans" charset="-122"/>
                          <a:ea typeface="MiSans" charset="-122"/>
                          <a:cs typeface="MiSans" charset="-122"/>
                        </a:rPr>
                        <a:t>BIAS_POSITION=8000</a:t>
                      </a:r>
                      <a:endParaRPr lang="en-US" alt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小角度没有左右修正</a:t>
                      </a:r>
                      <a:br>
                        <a:rPr lang="zh-CN" altLang="en-US" sz="1000">
                          <a:latin typeface="MiSans" charset="-122"/>
                          <a:ea typeface="MiSans" charset="-122"/>
                          <a:cs typeface="MiSans" charset="-122"/>
                        </a:rPr>
                      </a:br>
                      <a:r>
                        <a:rPr lang="zh-CN" sz="1000">
                          <a:latin typeface="MiSans" charset="-122"/>
                          <a:ea typeface="MiSans" charset="-122"/>
                          <a:cs typeface="MiSans" charset="-122"/>
                        </a:rPr>
                        <a:t>只有加速停下循环</a:t>
                      </a:r>
                      <a:endParaRPr lang="zh-CN" sz="1000">
                        <a:latin typeface="MiSans" charset="-122"/>
                        <a:ea typeface="MiSans" charset="-122"/>
                        <a:cs typeface="MiSans" charset="-122"/>
                      </a:endParaRPr>
                    </a:p>
                  </a:txBody>
                  <a:tcPr marL="68580" marR="68580" marT="0" marB="0" anchor="ctr" anchorCtr="0"/>
                </a:tc>
                <a:tc>
                  <a:txBody>
                    <a:bodyPr/>
                    <a:p>
                      <a:pPr algn="ctr">
                        <a:lnSpc>
                          <a:spcPct val="114000"/>
                        </a:lnSpc>
                        <a:spcBef>
                          <a:spcPct val="0"/>
                        </a:spcBef>
                        <a:spcAft>
                          <a:spcPct val="0"/>
                        </a:spcAft>
                      </a:pPr>
                      <a:r>
                        <a:rPr lang="zh-CN" sz="1000">
                          <a:latin typeface="MiSans" charset="-122"/>
                          <a:ea typeface="MiSans" charset="-122"/>
                          <a:cs typeface="MiSans" charset="-122"/>
                        </a:rPr>
                        <a:t>恢复</a:t>
                      </a:r>
                      <a:r>
                        <a:rPr lang="en-US" altLang="zh-CN" sz="1000">
                          <a:latin typeface="MiSans" charset="-122"/>
                          <a:ea typeface="MiSans" charset="-122"/>
                          <a:cs typeface="MiSans" charset="-122"/>
                        </a:rPr>
                        <a:t>0.6°~2.5°</a:t>
                      </a:r>
                      <a:r>
                        <a:rPr lang="zh-CN" altLang="en-US" sz="1000">
                          <a:latin typeface="MiSans" charset="-122"/>
                          <a:ea typeface="MiSans" charset="-122"/>
                          <a:cs typeface="MiSans" charset="-122"/>
                        </a:rPr>
                        <a:t>的</a:t>
                      </a:r>
                      <a:br>
                        <a:rPr lang="zh-CN" altLang="en-US" sz="1000">
                          <a:latin typeface="MiSans" charset="-122"/>
                          <a:ea typeface="MiSans" charset="-122"/>
                          <a:cs typeface="MiSans" charset="-122"/>
                        </a:rPr>
                      </a:br>
                      <a:r>
                        <a:rPr lang="zh-CN" sz="1000">
                          <a:latin typeface="MiSans" charset="-122"/>
                          <a:ea typeface="MiSans" charset="-122"/>
                          <a:cs typeface="MiSans" charset="-122"/>
                        </a:rPr>
                        <a:t>左右阻尼修正</a:t>
                      </a:r>
                      <a:endParaRPr lang="zh-CN" sz="1000">
                        <a:latin typeface="MiSans" charset="-122"/>
                        <a:ea typeface="MiSans" charset="-122"/>
                        <a:cs typeface="MiSans" charset="-122"/>
                      </a:endParaRPr>
                    </a:p>
                  </a:txBody>
                  <a:tcPr marL="68580" marR="68580" marT="0" marB="0" anchor="ctr" anchorCtr="0"/>
                </a:tc>
              </a:tr>
            </a:tbl>
          </a:graphicData>
        </a:graphic>
      </p:graphicFrame>
      <p:sp>
        <p:nvSpPr>
          <p:cNvPr id="10" name="文本框 9"/>
          <p:cNvSpPr txBox="1"/>
          <p:nvPr/>
        </p:nvSpPr>
        <p:spPr>
          <a:xfrm>
            <a:off x="5561330" y="1845945"/>
            <a:ext cx="2156460" cy="33718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spAutoFit/>
          </a:bodyPr>
          <a:p>
            <a:pPr algn="ctr" defTabSz="266700"/>
            <a:r>
              <a:rPr lang="zh-CN" altLang="en-US" sz="1600">
                <a:solidFill>
                  <a:srgbClr val="003366"/>
                </a:solidFill>
                <a:latin typeface="MiSans Medium" panose="00000600000000000000" charset="-122"/>
                <a:ea typeface="MiSans Medium" panose="00000600000000000000" charset="-122"/>
              </a:rPr>
              <a:t>多次</a:t>
            </a:r>
            <a:r>
              <a:rPr lang="zh-CN" altLang="en-US" sz="1600">
                <a:solidFill>
                  <a:srgbClr val="003366"/>
                </a:solidFill>
                <a:latin typeface="MiSans Medium" panose="00000600000000000000" charset="-122"/>
                <a:ea typeface="MiSans Medium" panose="00000600000000000000" charset="-122"/>
              </a:rPr>
              <a:t>迭代</a:t>
            </a:r>
            <a:endParaRPr lang="zh-CN" altLang="en-US" sz="1600">
              <a:solidFill>
                <a:srgbClr val="003366"/>
              </a:solidFill>
              <a:latin typeface="MiSans Medium" panose="00000600000000000000" charset="-122"/>
              <a:ea typeface="MiSans Medium" panose="00000600000000000000" charset="-122"/>
            </a:endParaRPr>
          </a:p>
        </p:txBody>
      </p:sp>
      <p:sp>
        <p:nvSpPr>
          <p:cNvPr id="20" name="文本框 19"/>
          <p:cNvSpPr txBox="1"/>
          <p:nvPr/>
        </p:nvSpPr>
        <p:spPr>
          <a:xfrm>
            <a:off x="1703705" y="5758180"/>
            <a:ext cx="8677275" cy="37147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algn="ctr" defTabSz="266700">
              <a:lnSpc>
                <a:spcPct val="114000"/>
              </a:lnSpc>
              <a:spcAft>
                <a:spcPts val="1000"/>
              </a:spcAft>
            </a:pPr>
            <a:r>
              <a:rPr lang="zh-CN" altLang="en-US" sz="1600">
                <a:latin typeface="MiSans" charset="-122"/>
                <a:ea typeface="MiSans" charset="-122"/>
                <a:cs typeface="MiSans" charset="-122"/>
              </a:rPr>
              <a:t>修改后仍然出现以上问题，最终</a:t>
            </a:r>
            <a:r>
              <a:rPr lang="zh-CN" altLang="en-US" sz="1600">
                <a:latin typeface="MiSans" charset="-122"/>
                <a:ea typeface="MiSans" charset="-122"/>
                <a:cs typeface="MiSans" charset="-122"/>
              </a:rPr>
              <a:t>选择从"静稳优先"到"防倒优先"的策略转变</a:t>
            </a:r>
            <a:endParaRPr lang="zh-CN" altLang="en-US" sz="1600">
              <a:latin typeface="MiSans" charset="-122"/>
              <a:ea typeface="MiSans" charset="-122"/>
              <a:cs typeface="MiSans"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关键问题与解决方案</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5"/>
          <p:cNvSpPr/>
          <p:nvPr/>
        </p:nvSpPr>
        <p:spPr>
          <a:xfrm>
            <a:off x="508000" y="1530350"/>
            <a:ext cx="11176000" cy="4191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6"/>
          <p:cNvSpPr/>
          <p:nvPr/>
        </p:nvSpPr>
        <p:spPr>
          <a:xfrm>
            <a:off x="762000" y="156845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问题现象</a:t>
            </a:r>
            <a:endParaRPr lang="en-US" sz="1100"/>
          </a:p>
        </p:txBody>
      </p:sp>
      <p:sp>
        <p:nvSpPr>
          <p:cNvPr id="8" name="AutoShape 7"/>
          <p:cNvSpPr/>
          <p:nvPr/>
        </p:nvSpPr>
        <p:spPr>
          <a:xfrm>
            <a:off x="3556000" y="156845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根因</a:t>
            </a:r>
            <a:endParaRPr lang="en-US" sz="1100"/>
          </a:p>
        </p:txBody>
      </p:sp>
      <p:sp>
        <p:nvSpPr>
          <p:cNvPr id="9" name="AutoShape 8"/>
          <p:cNvSpPr/>
          <p:nvPr/>
        </p:nvSpPr>
        <p:spPr>
          <a:xfrm>
            <a:off x="6350000" y="1568450"/>
            <a:ext cx="533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解决方案 &amp; 代码关键词</a:t>
            </a:r>
            <a:endParaRPr lang="en-US" sz="1100"/>
          </a:p>
        </p:txBody>
      </p:sp>
      <p:sp>
        <p:nvSpPr>
          <p:cNvPr id="10" name="AutoShape 9"/>
          <p:cNvSpPr/>
          <p:nvPr/>
        </p:nvSpPr>
        <p:spPr>
          <a:xfrm>
            <a:off x="508000" y="20383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10"/>
          <p:cNvSpPr/>
          <p:nvPr/>
        </p:nvSpPr>
        <p:spPr>
          <a:xfrm>
            <a:off x="762000" y="21145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方向反→杆前倾车后退</a:t>
            </a:r>
            <a:endParaRPr lang="en-US" sz="1100"/>
          </a:p>
        </p:txBody>
      </p:sp>
      <p:sp>
        <p:nvSpPr>
          <p:cNvPr id="34" name="AutoShape 11"/>
          <p:cNvSpPr/>
          <p:nvPr/>
        </p:nvSpPr>
        <p:spPr>
          <a:xfrm>
            <a:off x="3556000" y="21145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角度方向≠电机方向</a:t>
            </a:r>
            <a:endParaRPr lang="en-US" sz="1100"/>
          </a:p>
        </p:txBody>
      </p:sp>
      <p:sp>
        <p:nvSpPr>
          <p:cNvPr id="35" name="AutoShape 12"/>
          <p:cNvSpPr/>
          <p:nvPr/>
        </p:nvSpPr>
        <p:spPr>
          <a:xfrm>
            <a:off x="6350000" y="211455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BALANCE_OUTPUT_SIGN宏翻转，只需改一行</a:t>
            </a:r>
            <a:endParaRPr lang="en-US" sz="1100"/>
          </a:p>
        </p:txBody>
      </p:sp>
      <p:sp>
        <p:nvSpPr>
          <p:cNvPr id="36" name="AutoShape 13"/>
          <p:cNvSpPr/>
          <p:nvPr/>
        </p:nvSpPr>
        <p:spPr>
          <a:xfrm>
            <a:off x="508000" y="26987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14"/>
          <p:cNvSpPr/>
          <p:nvPr/>
        </p:nvSpPr>
        <p:spPr>
          <a:xfrm>
            <a:off x="762000" y="27749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冲太快无法微调</a:t>
            </a:r>
            <a:endParaRPr lang="en-US" sz="1100"/>
          </a:p>
        </p:txBody>
      </p:sp>
      <p:sp>
        <p:nvSpPr>
          <p:cNvPr id="38" name="AutoShape 15"/>
          <p:cNvSpPr/>
          <p:nvPr/>
        </p:nvSpPr>
        <p:spPr>
          <a:xfrm>
            <a:off x="3556000" y="27749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Kp=5 Kd=18太激进</a:t>
            </a:r>
            <a:endParaRPr lang="en-US" sz="1100"/>
          </a:p>
        </p:txBody>
      </p:sp>
      <p:sp>
        <p:nvSpPr>
          <p:cNvPr id="39" name="AutoShape 16"/>
          <p:cNvSpPr/>
          <p:nvPr/>
        </p:nvSpPr>
        <p:spPr>
          <a:xfrm>
            <a:off x="6350000" y="277495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V3降参→V4回调折中 Kp=3.4 Kd=13</a:t>
            </a:r>
            <a:endParaRPr lang="en-US" sz="1100"/>
          </a:p>
        </p:txBody>
      </p:sp>
      <p:sp>
        <p:nvSpPr>
          <p:cNvPr id="40" name="AutoShape 17"/>
          <p:cNvSpPr/>
          <p:nvPr/>
        </p:nvSpPr>
        <p:spPr>
          <a:xfrm>
            <a:off x="508000" y="33591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AutoShape 18"/>
          <p:cNvSpPr/>
          <p:nvPr/>
        </p:nvSpPr>
        <p:spPr>
          <a:xfrm>
            <a:off x="762000" y="34353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PWM=1000车不动</a:t>
            </a:r>
            <a:endParaRPr lang="en-US" sz="1100"/>
          </a:p>
        </p:txBody>
      </p:sp>
      <p:sp>
        <p:nvSpPr>
          <p:cNvPr id="42" name="AutoShape 19"/>
          <p:cNvSpPr/>
          <p:nvPr/>
        </p:nvSpPr>
        <p:spPr>
          <a:xfrm>
            <a:off x="3556000" y="34353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电机静摩擦死区(Stribeck)</a:t>
            </a:r>
            <a:endParaRPr lang="en-US" sz="1100"/>
          </a:p>
        </p:txBody>
      </p:sp>
      <p:sp>
        <p:nvSpPr>
          <p:cNvPr id="43" name="AutoShape 20"/>
          <p:cNvSpPr/>
          <p:nvPr/>
        </p:nvSpPr>
        <p:spPr>
          <a:xfrm>
            <a:off x="6350000" y="343535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死区补偿:Apply_PWM_Deadzone→+1100</a:t>
            </a:r>
            <a:endParaRPr lang="en-US" sz="1100"/>
          </a:p>
        </p:txBody>
      </p:sp>
      <p:sp>
        <p:nvSpPr>
          <p:cNvPr id="44" name="AutoShape 21"/>
          <p:cNvSpPr/>
          <p:nvPr/>
        </p:nvSpPr>
        <p:spPr>
          <a:xfrm>
            <a:off x="508000" y="40195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5" name="AutoShape 22"/>
          <p:cNvSpPr/>
          <p:nvPr/>
        </p:nvSpPr>
        <p:spPr>
          <a:xfrm>
            <a:off x="762000" y="40957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小角度一碰就冲过头</a:t>
            </a:r>
            <a:endParaRPr lang="en-US" sz="1100"/>
          </a:p>
        </p:txBody>
      </p:sp>
      <p:sp>
        <p:nvSpPr>
          <p:cNvPr id="46" name="AutoShape 23"/>
          <p:cNvSpPr/>
          <p:nvPr/>
        </p:nvSpPr>
        <p:spPr>
          <a:xfrm>
            <a:off x="3556000" y="40957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常数Kp无法同时适应</a:t>
            </a:r>
            <a:endParaRPr lang="en-US" sz="1100"/>
          </a:p>
        </p:txBody>
      </p:sp>
      <p:sp>
        <p:nvSpPr>
          <p:cNvPr id="47" name="AutoShape 24"/>
          <p:cNvSpPr/>
          <p:nvPr/>
        </p:nvSpPr>
        <p:spPr>
          <a:xfrm>
            <a:off x="6350000" y="409575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V9软控制区:±6°Soft_Kp=2.2</a:t>
            </a:r>
            <a:endParaRPr lang="en-US" sz="1100"/>
          </a:p>
        </p:txBody>
      </p:sp>
      <p:sp>
        <p:nvSpPr>
          <p:cNvPr id="48" name="AutoShape 25"/>
          <p:cNvSpPr/>
          <p:nvPr/>
        </p:nvSpPr>
        <p:spPr>
          <a:xfrm>
            <a:off x="508000" y="46799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9" name="AutoShape 26"/>
          <p:cNvSpPr/>
          <p:nvPr/>
        </p:nvSpPr>
        <p:spPr>
          <a:xfrm>
            <a:off x="762000" y="47561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大角度想追被刹住</a:t>
            </a:r>
            <a:endParaRPr lang="en-US" sz="1100"/>
          </a:p>
        </p:txBody>
      </p:sp>
      <p:sp>
        <p:nvSpPr>
          <p:cNvPr id="50" name="AutoShape 27"/>
          <p:cNvSpPr/>
          <p:nvPr/>
        </p:nvSpPr>
        <p:spPr>
          <a:xfrm>
            <a:off x="3556000" y="475615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速度阻尼抵消追杆输出</a:t>
            </a:r>
            <a:endParaRPr lang="en-US" sz="1100"/>
          </a:p>
        </p:txBody>
      </p:sp>
      <p:sp>
        <p:nvSpPr>
          <p:cNvPr id="51" name="AutoShape 28"/>
          <p:cNvSpPr/>
          <p:nvPr/>
        </p:nvSpPr>
        <p:spPr>
          <a:xfrm>
            <a:off x="6350000" y="475615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V10分区阻尼:救杆时Speed_Kp降至0.25</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关键问题与解决方案</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5" name="AutoShape 5"/>
          <p:cNvSpPr/>
          <p:nvPr/>
        </p:nvSpPr>
        <p:spPr>
          <a:xfrm>
            <a:off x="508000" y="1682750"/>
            <a:ext cx="11176000" cy="4191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72085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问题现象</a:t>
            </a:r>
            <a:endParaRPr lang="en-US" sz="1100"/>
          </a:p>
        </p:txBody>
      </p:sp>
      <p:sp>
        <p:nvSpPr>
          <p:cNvPr id="11" name="AutoShape 7"/>
          <p:cNvSpPr/>
          <p:nvPr/>
        </p:nvSpPr>
        <p:spPr>
          <a:xfrm>
            <a:off x="3556000" y="172085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根因</a:t>
            </a:r>
            <a:endParaRPr lang="en-US" sz="1100"/>
          </a:p>
        </p:txBody>
      </p:sp>
      <p:sp>
        <p:nvSpPr>
          <p:cNvPr id="12" name="AutoShape 8"/>
          <p:cNvSpPr/>
          <p:nvPr/>
        </p:nvSpPr>
        <p:spPr>
          <a:xfrm>
            <a:off x="6350000" y="1720850"/>
            <a:ext cx="533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解决方案 &amp; 代码关键词</a:t>
            </a:r>
            <a:endParaRPr lang="en-US" sz="1100"/>
          </a:p>
        </p:txBody>
      </p:sp>
      <p:sp>
        <p:nvSpPr>
          <p:cNvPr id="13" name="AutoShape 9"/>
          <p:cNvSpPr/>
          <p:nvPr/>
        </p:nvSpPr>
        <p:spPr>
          <a:xfrm>
            <a:off x="508000" y="21780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0"/>
          <p:cNvSpPr/>
          <p:nvPr/>
        </p:nvSpPr>
        <p:spPr>
          <a:xfrm>
            <a:off x="762000" y="22415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竖直抖动→越抖越大</a:t>
            </a:r>
            <a:endParaRPr lang="en-US" sz="1100"/>
          </a:p>
        </p:txBody>
      </p:sp>
      <p:sp>
        <p:nvSpPr>
          <p:cNvPr id="15" name="AutoShape 11"/>
          <p:cNvSpPr/>
          <p:nvPr/>
        </p:nvSpPr>
        <p:spPr>
          <a:xfrm>
            <a:off x="3556000" y="22415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ADC噪声→D项→死区共振</a:t>
            </a:r>
            <a:endParaRPr lang="en-US" sz="1100"/>
          </a:p>
        </p:txBody>
      </p:sp>
      <p:sp>
        <p:nvSpPr>
          <p:cNvPr id="16" name="AutoShape 12"/>
          <p:cNvSpPr/>
          <p:nvPr/>
        </p:nvSpPr>
        <p:spPr>
          <a:xfrm>
            <a:off x="6350000" y="2241550"/>
            <a:ext cx="5334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V21 Hold区:|angle|&lt;0.35°输出0</a:t>
            </a:r>
            <a:endParaRPr lang="en-US" sz="1100"/>
          </a:p>
        </p:txBody>
      </p:sp>
      <p:sp>
        <p:nvSpPr>
          <p:cNvPr id="17" name="AutoShape 13"/>
          <p:cNvSpPr/>
          <p:nvPr/>
        </p:nvSpPr>
        <p:spPr>
          <a:xfrm>
            <a:off x="508000" y="27622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4"/>
          <p:cNvSpPr/>
          <p:nvPr/>
        </p:nvSpPr>
        <p:spPr>
          <a:xfrm>
            <a:off x="762000" y="28257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越晃越往一个方向跑</a:t>
            </a:r>
            <a:endParaRPr lang="en-US" sz="1100"/>
          </a:p>
        </p:txBody>
      </p:sp>
      <p:sp>
        <p:nvSpPr>
          <p:cNvPr id="19" name="AutoShape 15"/>
          <p:cNvSpPr/>
          <p:nvPr/>
        </p:nvSpPr>
        <p:spPr>
          <a:xfrm>
            <a:off x="3556000" y="28257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单方向速度累积→耗尽余量</a:t>
            </a:r>
            <a:endParaRPr lang="en-US" sz="1100"/>
          </a:p>
        </p:txBody>
      </p:sp>
      <p:sp>
        <p:nvSpPr>
          <p:cNvPr id="21" name="AutoShape 16"/>
          <p:cNvSpPr/>
          <p:nvPr/>
        </p:nvSpPr>
        <p:spPr>
          <a:xfrm>
            <a:off x="6350000" y="2825750"/>
            <a:ext cx="5334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V34 drifting检测→强刹车2.20</a:t>
            </a:r>
            <a:endParaRPr lang="en-US" sz="1100"/>
          </a:p>
        </p:txBody>
      </p:sp>
      <p:sp>
        <p:nvSpPr>
          <p:cNvPr id="22" name="AutoShape 17"/>
          <p:cNvSpPr/>
          <p:nvPr/>
        </p:nvSpPr>
        <p:spPr>
          <a:xfrm>
            <a:off x="508000" y="33464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18"/>
          <p:cNvSpPr/>
          <p:nvPr/>
        </p:nvSpPr>
        <p:spPr>
          <a:xfrm>
            <a:off x="762000" y="34099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柔和加速救不回来</a:t>
            </a:r>
            <a:endParaRPr lang="en-US" sz="1100"/>
          </a:p>
        </p:txBody>
      </p:sp>
      <p:sp>
        <p:nvSpPr>
          <p:cNvPr id="24" name="AutoShape 19"/>
          <p:cNvSpPr/>
          <p:nvPr/>
        </p:nvSpPr>
        <p:spPr>
          <a:xfrm>
            <a:off x="3556000" y="34099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连续PD不够→需冲量</a:t>
            </a:r>
            <a:endParaRPr lang="en-US" sz="1100"/>
          </a:p>
        </p:txBody>
      </p:sp>
      <p:sp>
        <p:nvSpPr>
          <p:cNvPr id="25" name="AutoShape 20"/>
          <p:cNvSpPr/>
          <p:nvPr/>
        </p:nvSpPr>
        <p:spPr>
          <a:xfrm>
            <a:off x="6350000" y="3409950"/>
            <a:ext cx="5334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V36 Kick:5200PWM×36ms急加速</a:t>
            </a:r>
            <a:endParaRPr lang="en-US" sz="1100"/>
          </a:p>
        </p:txBody>
      </p:sp>
      <p:sp>
        <p:nvSpPr>
          <p:cNvPr id="26" name="AutoShape 21"/>
          <p:cNvSpPr/>
          <p:nvPr/>
        </p:nvSpPr>
        <p:spPr>
          <a:xfrm>
            <a:off x="508000" y="39306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2"/>
          <p:cNvSpPr/>
          <p:nvPr/>
        </p:nvSpPr>
        <p:spPr>
          <a:xfrm>
            <a:off x="762000" y="39941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小角度越调越偏</a:t>
            </a:r>
            <a:endParaRPr lang="en-US" sz="1100"/>
          </a:p>
        </p:txBody>
      </p:sp>
      <p:sp>
        <p:nvSpPr>
          <p:cNvPr id="28" name="AutoShape 23"/>
          <p:cNvSpPr/>
          <p:nvPr/>
        </p:nvSpPr>
        <p:spPr>
          <a:xfrm>
            <a:off x="3556000" y="39941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Hold清零+Bias+同向→正反馈</a:t>
            </a:r>
            <a:endParaRPr lang="en-US" sz="1100"/>
          </a:p>
        </p:txBody>
      </p:sp>
      <p:sp>
        <p:nvSpPr>
          <p:cNvPr id="29" name="AutoShape 24"/>
          <p:cNvSpPr/>
          <p:nvPr/>
        </p:nvSpPr>
        <p:spPr>
          <a:xfrm>
            <a:off x="6350000" y="3994150"/>
            <a:ext cx="5334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V39多代理审查:关Bias→强制回拉</a:t>
            </a:r>
            <a:endParaRPr lang="en-US" sz="1100"/>
          </a:p>
        </p:txBody>
      </p:sp>
      <p:sp>
        <p:nvSpPr>
          <p:cNvPr id="30" name="AutoShape 25"/>
          <p:cNvSpPr/>
          <p:nvPr/>
        </p:nvSpPr>
        <p:spPr>
          <a:xfrm>
            <a:off x="508000" y="4514850"/>
            <a:ext cx="11176000" cy="127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26"/>
          <p:cNvSpPr/>
          <p:nvPr/>
        </p:nvSpPr>
        <p:spPr>
          <a:xfrm>
            <a:off x="762000" y="45783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烧录后ST-Link失联</a:t>
            </a:r>
            <a:endParaRPr lang="en-US" sz="1100"/>
          </a:p>
        </p:txBody>
      </p:sp>
      <p:sp>
        <p:nvSpPr>
          <p:cNvPr id="32" name="AutoShape 27"/>
          <p:cNvSpPr/>
          <p:nvPr/>
        </p:nvSpPr>
        <p:spPr>
          <a:xfrm>
            <a:off x="3556000" y="4578350"/>
            <a:ext cx="254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SWJ_Disable关SWD</a:t>
            </a:r>
            <a:endParaRPr lang="en-US" sz="1100"/>
          </a:p>
        </p:txBody>
      </p:sp>
      <p:sp>
        <p:nvSpPr>
          <p:cNvPr id="33" name="AutoShape 28"/>
          <p:cNvSpPr/>
          <p:nvPr/>
        </p:nvSpPr>
        <p:spPr>
          <a:xfrm>
            <a:off x="6350000" y="4578350"/>
            <a:ext cx="5334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改为JTAGDisable保留SWD</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最终</a:t>
            </a:r>
            <a:r>
              <a:rPr lang="zh-CN" altLang="en-US" sz="2600" b="1" i="0" u="none" strike="noStrike">
                <a:solidFill>
                  <a:srgbClr val="0891B2"/>
                </a:solidFill>
                <a:latin typeface="MiSans" charset="-122"/>
                <a:ea typeface="MiSans" charset="-122"/>
                <a:cs typeface="MiSans" charset="-122"/>
                <a:sym typeface="MiSans" charset="-122"/>
              </a:rPr>
              <a:t>版本代码逻辑</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4" name="AutoShape 5"/>
          <p:cNvSpPr/>
          <p:nvPr/>
        </p:nvSpPr>
        <p:spPr>
          <a:xfrm>
            <a:off x="635000" y="1536700"/>
            <a:ext cx="5080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1. 安全停机 ===</a:t>
            </a:r>
            <a:endParaRPr lang="en-US" sz="1100"/>
          </a:p>
        </p:txBody>
      </p:sp>
      <p:sp>
        <p:nvSpPr>
          <p:cNvPr id="7" name="AutoShape 6"/>
          <p:cNvSpPr/>
          <p:nvPr/>
        </p:nvSpPr>
        <p:spPr>
          <a:xfrm>
            <a:off x="635000" y="1828800"/>
            <a:ext cx="5334000" cy="635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7"/>
          <p:cNvSpPr/>
          <p:nvPr/>
        </p:nvSpPr>
        <p:spPr>
          <a:xfrm>
            <a:off x="635000" y="1828800"/>
            <a:ext cx="38100" cy="635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8"/>
          <p:cNvSpPr/>
          <p:nvPr/>
        </p:nvSpPr>
        <p:spPr>
          <a:xfrm>
            <a:off x="812800" y="1930400"/>
            <a:ext cx="4978400" cy="482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if (|angle| &gt; 4500) // 45°</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停机; return 0; }</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10" name="AutoShape 9"/>
          <p:cNvSpPr/>
          <p:nvPr/>
        </p:nvSpPr>
        <p:spPr>
          <a:xfrm>
            <a:off x="635000" y="2616200"/>
            <a:ext cx="5080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2. 速度与位置估计 ===</a:t>
            </a:r>
            <a:endParaRPr lang="en-US" sz="1100"/>
          </a:p>
        </p:txBody>
      </p:sp>
      <p:sp>
        <p:nvSpPr>
          <p:cNvPr id="20" name="AutoShape 10"/>
          <p:cNvSpPr/>
          <p:nvPr/>
        </p:nvSpPr>
        <p:spPr>
          <a:xfrm>
            <a:off x="635000" y="2908300"/>
            <a:ext cx="5334000" cy="1016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11"/>
          <p:cNvSpPr/>
          <p:nvPr/>
        </p:nvSpPr>
        <p:spPr>
          <a:xfrm>
            <a:off x="635000" y="2908300"/>
            <a:ext cx="38100" cy="1016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12"/>
          <p:cNvSpPr/>
          <p:nvPr/>
        </p:nvSpPr>
        <p:spPr>
          <a:xfrm>
            <a:off x="812800" y="3009900"/>
            <a:ext cx="4978400" cy="863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raw_speed = (encA+encB+encC+encD)/4;</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speed = raw_speed * 5 / LOOP_MS;</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Position += speed; // 积分</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Speed_Filter = (旧+新) / 2; // 滤波</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36" name="AutoShape 13"/>
          <p:cNvSpPr/>
          <p:nvPr/>
        </p:nvSpPr>
        <p:spPr>
          <a:xfrm>
            <a:off x="6223000" y="1536700"/>
            <a:ext cx="5461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3. 状态判断 ===</a:t>
            </a:r>
            <a:endParaRPr lang="en-US" sz="1100"/>
          </a:p>
        </p:txBody>
      </p:sp>
      <p:sp>
        <p:nvSpPr>
          <p:cNvPr id="37" name="AutoShape 14"/>
          <p:cNvSpPr/>
          <p:nvPr/>
        </p:nvSpPr>
        <p:spPr>
          <a:xfrm>
            <a:off x="6223000" y="1828800"/>
            <a:ext cx="5461000" cy="1397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15"/>
          <p:cNvSpPr/>
          <p:nvPr/>
        </p:nvSpPr>
        <p:spPr>
          <a:xfrm>
            <a:off x="6223000" y="1828800"/>
            <a:ext cx="38100" cy="1397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16"/>
          <p:cNvSpPr/>
          <p:nvPr/>
        </p:nvSpPr>
        <p:spPr>
          <a:xfrm>
            <a:off x="6400800" y="1930400"/>
            <a:ext cx="5105400" cy="1244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角度与角速度同号→正在倒下</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falling_away = (sign(angle)==sign(rate));</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速度或位置单向累积→漂移</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drifting = (|Speed|&gt;600</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|Position|&gt;7000);</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40" name="AutoShape 17"/>
          <p:cNvSpPr/>
          <p:nvPr/>
        </p:nvSpPr>
        <p:spPr>
          <a:xfrm>
            <a:off x="6223000" y="3255010"/>
            <a:ext cx="5461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4. Hold区 ===</a:t>
            </a:r>
            <a:endParaRPr lang="en-US" sz="1100"/>
          </a:p>
        </p:txBody>
      </p:sp>
      <p:sp>
        <p:nvSpPr>
          <p:cNvPr id="41" name="AutoShape 18"/>
          <p:cNvSpPr/>
          <p:nvPr/>
        </p:nvSpPr>
        <p:spPr>
          <a:xfrm>
            <a:off x="6223000" y="3547110"/>
            <a:ext cx="5461000" cy="1016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42" name="AutoShape 19"/>
          <p:cNvSpPr/>
          <p:nvPr/>
        </p:nvSpPr>
        <p:spPr>
          <a:xfrm>
            <a:off x="6223000" y="3547110"/>
            <a:ext cx="38100" cy="1016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3" name="AutoShape 20"/>
          <p:cNvSpPr/>
          <p:nvPr/>
        </p:nvSpPr>
        <p:spPr>
          <a:xfrm>
            <a:off x="6400800" y="3648710"/>
            <a:ext cx="5105400" cy="863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极小角度+无漂移→输出0</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if (!drifting &amp;&amp; |angle|&lt;0.35°</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&amp;&amp; |rate|&lt;1.2°/s)</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return 0;</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44" name="AutoShape 21"/>
          <p:cNvSpPr/>
          <p:nvPr/>
        </p:nvSpPr>
        <p:spPr>
          <a:xfrm>
            <a:off x="635000" y="4478020"/>
            <a:ext cx="11176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5. Kick脉冲触发(事件触发，非连续PID) ===</a:t>
            </a:r>
            <a:endParaRPr lang="en-US" sz="1100"/>
          </a:p>
        </p:txBody>
      </p:sp>
      <p:sp>
        <p:nvSpPr>
          <p:cNvPr id="45" name="AutoShape 22"/>
          <p:cNvSpPr/>
          <p:nvPr/>
        </p:nvSpPr>
        <p:spPr>
          <a:xfrm>
            <a:off x="635000" y="4770120"/>
            <a:ext cx="11176000" cy="1016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AutoShape 23"/>
          <p:cNvSpPr/>
          <p:nvPr/>
        </p:nvSpPr>
        <p:spPr>
          <a:xfrm>
            <a:off x="635000" y="4770120"/>
            <a:ext cx="38100" cy="1016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7" name="AutoShape 24"/>
          <p:cNvSpPr/>
          <p:nvPr/>
        </p:nvSpPr>
        <p:spPr>
          <a:xfrm>
            <a:off x="812800" y="4871720"/>
            <a:ext cx="10820400" cy="863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kick_ready = drifting &amp;&amp; falling_away</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&amp;&amp; |angle|&gt;1.8° &amp;&amp; |speed|&gt;450</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&amp;&amp; kick==0 &amp;&amp; recover==0 &amp;&amp; cool==0;</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if (kick_ready) { kick_ticks=18; dir=sign(angle); }</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48" name="AutoShape 25"/>
          <p:cNvSpPr/>
          <p:nvPr/>
        </p:nvSpPr>
        <p:spPr>
          <a:xfrm>
            <a:off x="635000" y="5938520"/>
            <a:ext cx="1092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设计要点：falling_away是相位判断——同号=远离平衡点(危险)，异号=回正(稳定)。drifting是预警——允许晃动，但不能单向累积。</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最终</a:t>
            </a:r>
            <a:r>
              <a:rPr lang="zh-CN" altLang="en-US" sz="2600" b="1" i="0" u="none" strike="noStrike">
                <a:solidFill>
                  <a:srgbClr val="0891B2"/>
                </a:solidFill>
                <a:latin typeface="MiSans" charset="-122"/>
                <a:ea typeface="MiSans" charset="-122"/>
                <a:cs typeface="MiSans" charset="-122"/>
                <a:sym typeface="MiSans" charset="-122"/>
              </a:rPr>
              <a:t>版本代码逻辑</a:t>
            </a:r>
            <a:endParaRPr lang="zh-CN" altLang="en-US" sz="2600" b="1" i="0" u="none" strike="noStrike">
              <a:solidFill>
                <a:srgbClr val="0891B2"/>
              </a:solidFill>
              <a:latin typeface="MiSans" charset="-122"/>
              <a:ea typeface="MiSans" charset="-122"/>
              <a:cs typeface="MiSans" charset="-122"/>
              <a:sym typeface="MiSans" charset="-122"/>
            </a:endParaRPr>
          </a:p>
        </p:txBody>
      </p:sp>
      <p:sp>
        <p:nvSpPr>
          <p:cNvPr id="5" name="AutoShape 5"/>
          <p:cNvSpPr/>
          <p:nvPr/>
        </p:nvSpPr>
        <p:spPr>
          <a:xfrm>
            <a:off x="762000" y="1478280"/>
            <a:ext cx="5461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6. 角度PD(统一参数) ===</a:t>
            </a:r>
            <a:endParaRPr lang="en-US" sz="1100"/>
          </a:p>
        </p:txBody>
      </p:sp>
      <p:sp>
        <p:nvSpPr>
          <p:cNvPr id="6" name="AutoShape 6"/>
          <p:cNvSpPr/>
          <p:nvPr/>
        </p:nvSpPr>
        <p:spPr>
          <a:xfrm>
            <a:off x="762000" y="1770380"/>
            <a:ext cx="5461000" cy="12065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7"/>
          <p:cNvSpPr/>
          <p:nvPr/>
        </p:nvSpPr>
        <p:spPr>
          <a:xfrm>
            <a:off x="762000" y="1770380"/>
            <a:ext cx="38100" cy="12065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8"/>
          <p:cNvSpPr/>
          <p:nvPr/>
        </p:nvSpPr>
        <p:spPr>
          <a:xfrm>
            <a:off x="939800" y="1871980"/>
            <a:ext cx="5105400" cy="10541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angle_pwm = 4.2*angle + 48.0*rate;</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if (falling_away)</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angle_pwm += 58.0*rate; // 倒杆增强</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if (|angle| &gt; 1.2°) // 救杆补偿</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rescue=2.4*(|angle|-120)*sign;</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13" name="AutoShape 9"/>
          <p:cNvSpPr/>
          <p:nvPr/>
        </p:nvSpPr>
        <p:spPr>
          <a:xfrm>
            <a:off x="762000" y="3129280"/>
            <a:ext cx="5461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7. 速度阻尼(5模式) ===</a:t>
            </a:r>
            <a:endParaRPr lang="en-US" sz="1100"/>
          </a:p>
        </p:txBody>
      </p:sp>
      <p:sp>
        <p:nvSpPr>
          <p:cNvPr id="14" name="AutoShape 10"/>
          <p:cNvSpPr/>
          <p:nvPr/>
        </p:nvSpPr>
        <p:spPr>
          <a:xfrm>
            <a:off x="762000" y="3421380"/>
            <a:ext cx="5461000" cy="12065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1"/>
          <p:cNvSpPr/>
          <p:nvPr/>
        </p:nvSpPr>
        <p:spPr>
          <a:xfrm>
            <a:off x="762000" y="3421380"/>
            <a:ext cx="38100" cy="12065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2"/>
          <p:cNvSpPr/>
          <p:nvPr/>
        </p:nvSpPr>
        <p:spPr>
          <a:xfrm>
            <a:off x="939800" y="3522980"/>
            <a:ext cx="5105400" cy="10541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speed_kp = 正常:1.10</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倒杆:0.04 // 全力追</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救杆:0.30</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漂移:2.20 // 强阻尼</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恢复:0.70;</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17" name="AutoShape 13"/>
          <p:cNvSpPr/>
          <p:nvPr/>
        </p:nvSpPr>
        <p:spPr>
          <a:xfrm>
            <a:off x="6477000" y="1478280"/>
            <a:ext cx="5334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8. 位置回中 ===</a:t>
            </a:r>
            <a:endParaRPr lang="en-US" sz="1100"/>
          </a:p>
        </p:txBody>
      </p:sp>
      <p:sp>
        <p:nvSpPr>
          <p:cNvPr id="18" name="AutoShape 14"/>
          <p:cNvSpPr/>
          <p:nvPr/>
        </p:nvSpPr>
        <p:spPr>
          <a:xfrm>
            <a:off x="6477000" y="1770380"/>
            <a:ext cx="5334000" cy="635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5"/>
          <p:cNvSpPr/>
          <p:nvPr/>
        </p:nvSpPr>
        <p:spPr>
          <a:xfrm>
            <a:off x="6477000" y="1770380"/>
            <a:ext cx="38100" cy="635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16"/>
          <p:cNvSpPr/>
          <p:nvPr/>
        </p:nvSpPr>
        <p:spPr>
          <a:xfrm>
            <a:off x="6654800" y="1871980"/>
            <a:ext cx="4978400" cy="482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pos_kp = drifting ? 0.012 : 0.005;</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position_pwm = pos_kp * Position;</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22" name="AutoShape 17"/>
          <p:cNvSpPr/>
          <p:nvPr/>
        </p:nvSpPr>
        <p:spPr>
          <a:xfrm>
            <a:off x="6477000" y="2430780"/>
            <a:ext cx="5334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9. 合成输出 ===</a:t>
            </a:r>
            <a:endParaRPr lang="en-US" sz="1100"/>
          </a:p>
        </p:txBody>
      </p:sp>
      <p:sp>
        <p:nvSpPr>
          <p:cNvPr id="23" name="AutoShape 18"/>
          <p:cNvSpPr/>
          <p:nvPr/>
        </p:nvSpPr>
        <p:spPr>
          <a:xfrm>
            <a:off x="6477000" y="2722880"/>
            <a:ext cx="5334000" cy="1016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19"/>
          <p:cNvSpPr/>
          <p:nvPr/>
        </p:nvSpPr>
        <p:spPr>
          <a:xfrm>
            <a:off x="6477000" y="2722880"/>
            <a:ext cx="38100" cy="1016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0"/>
          <p:cNvSpPr/>
          <p:nvPr/>
        </p:nvSpPr>
        <p:spPr>
          <a:xfrm>
            <a:off x="6654800" y="2824480"/>
            <a:ext cx="4978400" cy="863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out = angle_pwm + rescue_pwm</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speed_kp*Speed_Filter</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position_kp*Position;</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if (kicking) out = 5200*dir;</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26" name="AutoShape 21"/>
          <p:cNvSpPr/>
          <p:nvPr/>
        </p:nvSpPr>
        <p:spPr>
          <a:xfrm>
            <a:off x="6477000" y="3764280"/>
            <a:ext cx="5334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A56DB"/>
                </a:solidFill>
                <a:latin typeface="Noto Sans SC" panose="020B0200000000000000" charset="-122"/>
                <a:ea typeface="Noto Sans SC" panose="020B0200000000000000" charset="-122"/>
                <a:cs typeface="Noto Sans SC" panose="020B0200000000000000" charset="-122"/>
                <a:sym typeface="Noto Sans SC" panose="020B0200000000000000" charset="-122"/>
              </a:rPr>
              <a:t>// === 10. 漂移保护+最小输出 ===</a:t>
            </a:r>
            <a:endParaRPr lang="en-US" sz="1100"/>
          </a:p>
        </p:txBody>
      </p:sp>
      <p:sp>
        <p:nvSpPr>
          <p:cNvPr id="27" name="AutoShape 22"/>
          <p:cNvSpPr/>
          <p:nvPr/>
        </p:nvSpPr>
        <p:spPr>
          <a:xfrm>
            <a:off x="6477000" y="4056380"/>
            <a:ext cx="5334000" cy="1016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3"/>
          <p:cNvSpPr/>
          <p:nvPr/>
        </p:nvSpPr>
        <p:spPr>
          <a:xfrm>
            <a:off x="6477000" y="4056380"/>
            <a:ext cx="38100" cy="1016000"/>
          </a:xfrm>
          <a:prstGeom prst="roundRect">
            <a:avLst>
              <a:gd name="adj" fmla="val 0"/>
            </a:avLst>
          </a:prstGeom>
          <a:solidFill>
            <a:srgbClr val="1A56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4"/>
          <p:cNvSpPr/>
          <p:nvPr/>
        </p:nvSpPr>
        <p:spPr>
          <a:xfrm>
            <a:off x="6654800" y="4157980"/>
            <a:ext cx="4978400" cy="863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if (!kicking &amp;&amp; drifting) {</a:t>
            </a:r>
            <a:endParaRPr lang="en-US" sz="1100"/>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if (同向) 强制反向或限幅; }</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min_out: 0.6°→6°线性爬坡</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a:p>
            <a:pPr marL="0" indent="0" algn="l">
              <a:lnSpc>
                <a:spcPct val="92000"/>
              </a:lnSpc>
            </a:pPr>
            <a:r>
              <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rPr>
              <a:t>// fall_min: 0.8°→1.2°线性插值</a:t>
            </a:r>
            <a:endParaRPr lang="en-US" sz="1100" b="0" i="0" u="none" strike="noStrike">
              <a:solidFill>
                <a:srgbClr val="0F172A"/>
              </a:solidFill>
              <a:latin typeface="Consolas" panose="020B0609020204030204"/>
              <a:ea typeface="Consolas" panose="020B0609020204030204"/>
              <a:cs typeface="Consolas" panose="020B0609020204030204"/>
              <a:sym typeface="Consolas" panose="020B0609020204030204"/>
            </a:endParaRPr>
          </a:p>
        </p:txBody>
      </p:sp>
      <p:sp>
        <p:nvSpPr>
          <p:cNvPr id="30" name="AutoShape 25"/>
          <p:cNvSpPr/>
          <p:nvPr/>
        </p:nvSpPr>
        <p:spPr>
          <a:xfrm>
            <a:off x="762000" y="5161280"/>
            <a:ext cx="1092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最终输出公式：</a:t>
            </a:r>
            <a:endPar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Output = SIGN × (4.2·θ + 48.0·θ̇ + [falling?58·θ̇:0]</a:t>
            </a:r>
            <a:endPar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 [|θ|&gt;1.2°?2.4·(|θ|-120)·sgn(θ):0]</a:t>
            </a:r>
            <a:endPar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 speed_kp·v_filter - pos_kp·∫v·dt)</a:t>
            </a:r>
            <a:endPar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582295" y="83185"/>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附录</a:t>
            </a:r>
            <a:endParaRPr lang="zh-CN" altLang="en-US" sz="2600" b="1" i="0" u="none" strike="noStrike">
              <a:solidFill>
                <a:srgbClr val="0891B2"/>
              </a:solidFill>
              <a:latin typeface="MiSans" charset="-122"/>
              <a:ea typeface="MiSans" charset="-122"/>
              <a:cs typeface="MiSans" charset="-122"/>
              <a:sym typeface="MiSans" charset="-122"/>
            </a:endParaRPr>
          </a:p>
        </p:txBody>
      </p:sp>
      <p:graphicFrame>
        <p:nvGraphicFramePr>
          <p:cNvPr id="7" name="表格 6"/>
          <p:cNvGraphicFramePr/>
          <p:nvPr>
            <p:custDataLst>
              <p:tags r:id="rId1"/>
            </p:custDataLst>
          </p:nvPr>
        </p:nvGraphicFramePr>
        <p:xfrm>
          <a:off x="405765" y="773430"/>
          <a:ext cx="11391900" cy="5942965"/>
        </p:xfrm>
        <a:graphic>
          <a:graphicData uri="http://schemas.openxmlformats.org/drawingml/2006/table">
            <a:tbl>
              <a:tblPr firstRow="1" bandRow="1">
                <a:tableStyleId>{9EE3CD24-B024-46AC-99A2-79BD5C3E0FDF}</a:tableStyleId>
              </a:tblPr>
              <a:tblGrid>
                <a:gridCol w="2222500"/>
                <a:gridCol w="2334260"/>
                <a:gridCol w="2278380"/>
                <a:gridCol w="2278380"/>
                <a:gridCol w="2278380"/>
              </a:tblGrid>
              <a:tr h="121285">
                <a:tc>
                  <a:txBody>
                    <a:bodyPr/>
                    <a:p>
                      <a:pPr algn="ctr">
                        <a:lnSpc>
                          <a:spcPct val="114000"/>
                        </a:lnSpc>
                        <a:spcBef>
                          <a:spcPct val="0"/>
                        </a:spcBef>
                        <a:spcAft>
                          <a:spcPct val="0"/>
                        </a:spcAft>
                      </a:pPr>
                      <a:r>
                        <a:rPr lang="zh-CN" sz="700"/>
                        <a:t>迭代版本</a:t>
                      </a:r>
                      <a:endParaRPr lang="zh-CN" sz="700"/>
                    </a:p>
                  </a:txBody>
                  <a:tcPr marL="68580" marR="68580" marT="0" marB="0" anchor="ctr" anchorCtr="0"/>
                </a:tc>
                <a:tc>
                  <a:txBody>
                    <a:bodyPr/>
                    <a:p>
                      <a:pPr algn="ctr">
                        <a:lnSpc>
                          <a:spcPct val="114000"/>
                        </a:lnSpc>
                        <a:spcBef>
                          <a:spcPct val="0"/>
                        </a:spcBef>
                        <a:spcAft>
                          <a:spcPct val="0"/>
                        </a:spcAft>
                      </a:pPr>
                      <a:r>
                        <a:rPr lang="zh-CN" sz="700"/>
                        <a:t>新增</a:t>
                      </a:r>
                      <a:r>
                        <a:rPr lang="en-US" altLang="zh-CN" sz="700"/>
                        <a:t>/</a:t>
                      </a:r>
                      <a:r>
                        <a:rPr lang="zh-CN" altLang="en-US" sz="700"/>
                        <a:t>改动内容</a:t>
                      </a:r>
                      <a:endParaRPr lang="zh-CN" altLang="en-US" sz="700"/>
                    </a:p>
                  </a:txBody>
                  <a:tcPr marL="68580" marR="68580" marT="0" marB="0" anchor="ctr" anchorCtr="0"/>
                </a:tc>
                <a:tc>
                  <a:txBody>
                    <a:bodyPr/>
                    <a:p>
                      <a:pPr algn="ctr">
                        <a:lnSpc>
                          <a:spcPct val="114000"/>
                        </a:lnSpc>
                        <a:spcBef>
                          <a:spcPct val="0"/>
                        </a:spcBef>
                        <a:spcAft>
                          <a:spcPct val="0"/>
                        </a:spcAft>
                      </a:pPr>
                      <a:r>
                        <a:rPr lang="zh-CN" sz="700"/>
                        <a:t>解决的问题</a:t>
                      </a:r>
                      <a:endParaRPr lang="zh-CN" sz="700"/>
                    </a:p>
                  </a:txBody>
                  <a:tcPr marL="68580" marR="68580" marT="0" marB="0" anchor="ctr" anchorCtr="0"/>
                </a:tc>
                <a:tc>
                  <a:txBody>
                    <a:bodyPr/>
                    <a:p>
                      <a:pPr algn="ctr">
                        <a:lnSpc>
                          <a:spcPct val="114000"/>
                        </a:lnSpc>
                        <a:spcBef>
                          <a:spcPct val="0"/>
                        </a:spcBef>
                        <a:spcAft>
                          <a:spcPct val="0"/>
                        </a:spcAft>
                      </a:pPr>
                      <a:r>
                        <a:rPr lang="zh-CN" sz="700"/>
                        <a:t>为什么有效</a:t>
                      </a:r>
                      <a:endParaRPr lang="zh-CN" sz="700"/>
                    </a:p>
                  </a:txBody>
                  <a:tcPr marL="68580" marR="68580" marT="0" marB="0" anchor="ctr" anchorCtr="0"/>
                </a:tc>
                <a:tc>
                  <a:txBody>
                    <a:bodyPr/>
                    <a:p>
                      <a:pPr algn="ctr">
                        <a:lnSpc>
                          <a:spcPct val="114000"/>
                        </a:lnSpc>
                        <a:spcBef>
                          <a:spcPct val="0"/>
                        </a:spcBef>
                        <a:spcAft>
                          <a:spcPct val="0"/>
                        </a:spcAft>
                      </a:pPr>
                      <a:r>
                        <a:rPr lang="zh-CN" sz="700"/>
                        <a:t>重要性</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V1 </a:t>
                      </a:r>
                      <a:endParaRPr lang="en-US" altLang="zh-CN" sz="700"/>
                    </a:p>
                  </a:txBody>
                  <a:tcPr marL="68580" marR="68580" marT="0" marB="0" anchor="ctr" anchorCtr="0"/>
                </a:tc>
                <a:tc>
                  <a:txBody>
                    <a:bodyPr/>
                    <a:p>
                      <a:pPr algn="ctr">
                        <a:lnSpc>
                          <a:spcPct val="114000"/>
                        </a:lnSpc>
                        <a:spcBef>
                          <a:spcPct val="0"/>
                        </a:spcBef>
                        <a:spcAft>
                          <a:spcPct val="0"/>
                        </a:spcAft>
                      </a:pPr>
                      <a:r>
                        <a:rPr lang="zh-CN" sz="700"/>
                        <a:t>基础</a:t>
                      </a:r>
                      <a:r>
                        <a:rPr lang="en-US" altLang="zh-CN" sz="700"/>
                        <a:t>PD+</a:t>
                      </a:r>
                      <a:r>
                        <a:rPr lang="zh-CN" altLang="en-US" sz="700"/>
                        <a:t>速度</a:t>
                      </a:r>
                      <a:r>
                        <a:rPr lang="en-US" altLang="zh-CN" sz="700"/>
                        <a:t>+</a:t>
                      </a:r>
                      <a:r>
                        <a:rPr lang="zh-CN" altLang="en-US" sz="700"/>
                        <a:t>位置</a:t>
                      </a:r>
                      <a:br>
                        <a:rPr lang="zh-CN" altLang="en-US" sz="700"/>
                      </a:br>
                      <a:r>
                        <a:rPr lang="en-US" altLang="zh-CN" sz="700"/>
                        <a:t>5ms</a:t>
                      </a:r>
                      <a:r>
                        <a:rPr lang="zh-CN" altLang="en-US" sz="700"/>
                        <a:t>主循环控制</a:t>
                      </a:r>
                      <a:br>
                        <a:rPr lang="zh-CN" altLang="en-US" sz="700"/>
                      </a:br>
                      <a:r>
                        <a:rPr lang="en-US" altLang="zh-CN" sz="700"/>
                        <a:t>BALANCE_OUTPUT_SIGN</a:t>
                      </a:r>
                      <a:r>
                        <a:rPr lang="zh-CN" altLang="en-US" sz="700"/>
                        <a:t>宏</a:t>
                      </a:r>
                      <a:endParaRPr lang="zh-CN" altLang="en-US" sz="700"/>
                    </a:p>
                  </a:txBody>
                  <a:tcPr marL="68580" marR="68580" marT="0" marB="0" anchor="ctr" anchorCtr="0"/>
                </a:tc>
                <a:tc>
                  <a:txBody>
                    <a:bodyPr/>
                    <a:p>
                      <a:pPr algn="ctr">
                        <a:lnSpc>
                          <a:spcPct val="114000"/>
                        </a:lnSpc>
                        <a:spcBef>
                          <a:spcPct val="0"/>
                        </a:spcBef>
                        <a:spcAft>
                          <a:spcPct val="0"/>
                        </a:spcAft>
                      </a:pPr>
                      <a:r>
                        <a:rPr lang="zh-CN" sz="700"/>
                        <a:t>从零建立控制骨架</a:t>
                      </a:r>
                      <a:br>
                        <a:rPr lang="zh-CN" altLang="en-US" sz="700"/>
                      </a:br>
                      <a:r>
                        <a:rPr lang="zh-CN" sz="700"/>
                        <a:t>为现场调试留后路</a:t>
                      </a:r>
                      <a:endParaRPr lang="zh-CN" sz="700"/>
                    </a:p>
                  </a:txBody>
                  <a:tcPr marL="68580" marR="68580" marT="0" marB="0" anchor="ctr" anchorCtr="0"/>
                </a:tc>
                <a:tc>
                  <a:txBody>
                    <a:bodyPr/>
                    <a:p>
                      <a:pPr algn="ctr">
                        <a:lnSpc>
                          <a:spcPct val="114000"/>
                        </a:lnSpc>
                        <a:spcBef>
                          <a:spcPct val="0"/>
                        </a:spcBef>
                        <a:spcAft>
                          <a:spcPct val="0"/>
                        </a:spcAft>
                      </a:pPr>
                      <a:r>
                        <a:rPr lang="zh-CN" sz="700"/>
                        <a:t>经典倒立摆控制结构</a:t>
                      </a:r>
                      <a:br>
                        <a:rPr lang="zh-CN" altLang="en-US" sz="700"/>
                      </a:br>
                      <a:r>
                        <a:rPr lang="zh-CN" sz="700"/>
                        <a:t>符号反转只需改一行</a:t>
                      </a:r>
                      <a:endParaRPr 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242570">
                <a:tc>
                  <a:txBody>
                    <a:bodyPr/>
                    <a:p>
                      <a:pPr algn="ctr">
                        <a:lnSpc>
                          <a:spcPct val="114000"/>
                        </a:lnSpc>
                        <a:spcBef>
                          <a:spcPct val="0"/>
                        </a:spcBef>
                        <a:spcAft>
                          <a:spcPct val="0"/>
                        </a:spcAft>
                      </a:pPr>
                      <a:r>
                        <a:rPr lang="en-US" altLang="zh-CN" sz="700"/>
                        <a:t>V2-V4 </a:t>
                      </a:r>
                      <a:endParaRPr lang="en-US" altLang="zh-CN" sz="700"/>
                    </a:p>
                  </a:txBody>
                  <a:tcPr marL="68580" marR="68580" marT="0" marB="0" anchor="ctr" anchorCtr="0"/>
                </a:tc>
                <a:tc>
                  <a:txBody>
                    <a:bodyPr/>
                    <a:p>
                      <a:pPr algn="ctr">
                        <a:lnSpc>
                          <a:spcPct val="114000"/>
                        </a:lnSpc>
                        <a:spcBef>
                          <a:spcPct val="0"/>
                        </a:spcBef>
                        <a:spcAft>
                          <a:spcPct val="0"/>
                        </a:spcAft>
                      </a:pPr>
                      <a:r>
                        <a:rPr lang="zh-CN" sz="700"/>
                        <a:t>方向修正</a:t>
                      </a:r>
                      <a:r>
                        <a:rPr lang="en-US" altLang="zh-CN" sz="700"/>
                        <a:t>+</a:t>
                      </a:r>
                      <a:r>
                        <a:rPr lang="zh-CN" altLang="en-US" sz="700"/>
                        <a:t>参数探索</a:t>
                      </a:r>
                      <a:br>
                        <a:rPr lang="zh-CN" altLang="en-US" sz="700"/>
                      </a:br>
                      <a:r>
                        <a:rPr lang="en-US" altLang="zh-CN" sz="700"/>
                        <a:t>Kp 5.0→1.8→3.4</a:t>
                      </a:r>
                      <a:endParaRPr lang="en-US" altLang="zh-CN" sz="700"/>
                    </a:p>
                  </a:txBody>
                  <a:tcPr marL="68580" marR="68580" marT="0" marB="0" anchor="ctr" anchorCtr="0"/>
                </a:tc>
                <a:tc>
                  <a:txBody>
                    <a:bodyPr/>
                    <a:p>
                      <a:pPr algn="ctr">
                        <a:lnSpc>
                          <a:spcPct val="114000"/>
                        </a:lnSpc>
                        <a:spcBef>
                          <a:spcPct val="0"/>
                        </a:spcBef>
                        <a:spcAft>
                          <a:spcPct val="0"/>
                        </a:spcAft>
                      </a:pPr>
                      <a:r>
                        <a:rPr lang="zh-CN" sz="700"/>
                        <a:t>方向反</a:t>
                      </a:r>
                      <a:r>
                        <a:rPr lang="en-US" altLang="zh-CN" sz="700"/>
                        <a:t>→</a:t>
                      </a:r>
                      <a:r>
                        <a:rPr lang="zh-CN" altLang="en-US" sz="700"/>
                        <a:t>冲太快</a:t>
                      </a:r>
                      <a:r>
                        <a:rPr lang="en-US" altLang="zh-CN" sz="700"/>
                        <a:t>→</a:t>
                      </a:r>
                      <a:r>
                        <a:rPr lang="zh-CN" altLang="en-US" sz="700"/>
                        <a:t>太慢</a:t>
                      </a:r>
                      <a:br>
                        <a:rPr lang="zh-CN" altLang="en-US" sz="700"/>
                      </a:br>
                      <a:r>
                        <a:rPr lang="en-US" altLang="zh-CN" sz="700"/>
                        <a:t>→</a:t>
                      </a:r>
                      <a:r>
                        <a:rPr lang="zh-CN" altLang="en-US" sz="700"/>
                        <a:t>找到折中点</a:t>
                      </a:r>
                      <a:endParaRPr lang="zh-CN" altLang="en-US" sz="700"/>
                    </a:p>
                  </a:txBody>
                  <a:tcPr marL="68580" marR="68580" marT="0" marB="0" anchor="ctr" anchorCtr="0"/>
                </a:tc>
                <a:tc>
                  <a:txBody>
                    <a:bodyPr/>
                    <a:p>
                      <a:pPr algn="ctr">
                        <a:lnSpc>
                          <a:spcPct val="114000"/>
                        </a:lnSpc>
                        <a:spcBef>
                          <a:spcPct val="0"/>
                        </a:spcBef>
                        <a:spcAft>
                          <a:spcPct val="0"/>
                        </a:spcAft>
                      </a:pPr>
                      <a:r>
                        <a:rPr lang="zh-CN" sz="700"/>
                        <a:t>从对话反馈闭环调参</a:t>
                      </a:r>
                      <a:br>
                        <a:rPr lang="zh-CN" altLang="en-US" sz="700"/>
                      </a:br>
                      <a:r>
                        <a:rPr lang="zh-CN" sz="700"/>
                        <a:t>找到可行参数区间</a:t>
                      </a:r>
                      <a:endParaRPr 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V5 </a:t>
                      </a:r>
                      <a:endParaRPr lang="en-US" altLang="zh-CN" sz="700"/>
                    </a:p>
                  </a:txBody>
                  <a:tcPr marL="68580" marR="68580" marT="0" marB="0" anchor="ctr" anchorCtr="0"/>
                </a:tc>
                <a:tc>
                  <a:txBody>
                    <a:bodyPr/>
                    <a:p>
                      <a:pPr algn="ctr">
                        <a:lnSpc>
                          <a:spcPct val="114000"/>
                        </a:lnSpc>
                        <a:spcBef>
                          <a:spcPct val="0"/>
                        </a:spcBef>
                        <a:spcAft>
                          <a:spcPct val="0"/>
                        </a:spcAft>
                      </a:pPr>
                      <a:r>
                        <a:rPr lang="zh-CN" sz="700"/>
                        <a:t>长重摆杆适配</a:t>
                      </a:r>
                      <a:br>
                        <a:rPr lang="zh-CN" altLang="en-US" sz="700"/>
                      </a:br>
                      <a:r>
                        <a:rPr lang="en-US" altLang="zh-CN" sz="700"/>
                        <a:t>Kp↑,Kd↑,Speed↓,Pos↓</a:t>
                      </a:r>
                      <a:endParaRPr lang="en-US" altLang="zh-CN" sz="700"/>
                    </a:p>
                  </a:txBody>
                  <a:tcPr marL="68580" marR="68580" marT="0" marB="0" anchor="ctr" anchorCtr="0"/>
                </a:tc>
                <a:tc>
                  <a:txBody>
                    <a:bodyPr/>
                    <a:p>
                      <a:pPr algn="ctr">
                        <a:lnSpc>
                          <a:spcPct val="114000"/>
                        </a:lnSpc>
                        <a:spcBef>
                          <a:spcPct val="0"/>
                        </a:spcBef>
                        <a:spcAft>
                          <a:spcPct val="0"/>
                        </a:spcAft>
                      </a:pPr>
                      <a:r>
                        <a:rPr lang="zh-CN" sz="700"/>
                        <a:t>重杆偏移后掉得快</a:t>
                      </a:r>
                      <a:br>
                        <a:rPr lang="zh-CN" altLang="en-US" sz="700"/>
                      </a:br>
                      <a:r>
                        <a:rPr lang="zh-CN" sz="700"/>
                        <a:t>追杆力不足</a:t>
                      </a:r>
                      <a:endParaRPr lang="zh-CN" sz="700"/>
                    </a:p>
                  </a:txBody>
                  <a:tcPr marL="68580" marR="68580" marT="0" marB="0" anchor="ctr" anchorCtr="0"/>
                </a:tc>
                <a:tc>
                  <a:txBody>
                    <a:bodyPr/>
                    <a:p>
                      <a:pPr algn="ctr">
                        <a:lnSpc>
                          <a:spcPct val="114000"/>
                        </a:lnSpc>
                        <a:spcBef>
                          <a:spcPct val="0"/>
                        </a:spcBef>
                        <a:spcAft>
                          <a:spcPct val="0"/>
                        </a:spcAft>
                      </a:pPr>
                      <a:r>
                        <a:rPr lang="zh-CN" sz="700"/>
                        <a:t>揭示参数与机械特性</a:t>
                      </a:r>
                      <a:br>
                        <a:rPr lang="zh-CN" altLang="en-US" sz="700"/>
                      </a:br>
                      <a:r>
                        <a:rPr lang="zh-CN" sz="700"/>
                        <a:t>的强耦合：重杆需更大</a:t>
                      </a:r>
                      <a:br>
                        <a:rPr lang="zh-CN" altLang="en-US" sz="700"/>
                      </a:br>
                      <a:r>
                        <a:rPr lang="zh-CN" sz="700"/>
                        <a:t>追杆力但更少阻尼束缚</a:t>
                      </a:r>
                      <a:endParaRPr 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V8</a:t>
                      </a:r>
                      <a:endParaRPr lang="en-US" altLang="zh-CN" sz="700"/>
                    </a:p>
                  </a:txBody>
                  <a:tcPr marL="68580" marR="68580" marT="0" marB="0" anchor="ctr" anchorCtr="0"/>
                </a:tc>
                <a:tc>
                  <a:txBody>
                    <a:bodyPr/>
                    <a:p>
                      <a:pPr algn="ctr">
                        <a:lnSpc>
                          <a:spcPct val="114000"/>
                        </a:lnSpc>
                        <a:spcBef>
                          <a:spcPct val="0"/>
                        </a:spcBef>
                        <a:spcAft>
                          <a:spcPct val="0"/>
                        </a:spcAft>
                      </a:pPr>
                      <a:r>
                        <a:rPr lang="zh-CN" sz="700"/>
                        <a:t>非线性救杆补偿</a:t>
                      </a:r>
                      <a:br>
                        <a:rPr lang="zh-CN" altLang="en-US" sz="700"/>
                      </a:br>
                      <a:r>
                        <a:rPr lang="en-US" altLang="zh-CN" sz="700"/>
                        <a:t>Rescue_Kp=1.6,</a:t>
                      </a:r>
                      <a:r>
                        <a:rPr lang="zh-CN" altLang="en-US" sz="700"/>
                        <a:t>阈值</a:t>
                      </a:r>
                      <a:r>
                        <a:rPr lang="en-US" altLang="zh-CN" sz="700"/>
                        <a:t>8°</a:t>
                      </a:r>
                      <a:br>
                        <a:rPr lang="en-US" altLang="zh-CN" sz="700"/>
                      </a:br>
                      <a:r>
                        <a:rPr lang="zh-CN" sz="700"/>
                        <a:t>速度滤波</a:t>
                      </a:r>
                      <a:r>
                        <a:rPr lang="en-US" altLang="zh-CN" sz="700"/>
                        <a:t>7:3→1:1</a:t>
                      </a:r>
                      <a:endParaRPr lang="en-US" altLang="zh-CN" sz="700"/>
                    </a:p>
                  </a:txBody>
                  <a:tcPr marL="68580" marR="68580" marT="0" marB="0" anchor="ctr" anchorCtr="0"/>
                </a:tc>
                <a:tc>
                  <a:txBody>
                    <a:bodyPr/>
                    <a:p>
                      <a:pPr algn="ctr">
                        <a:lnSpc>
                          <a:spcPct val="114000"/>
                        </a:lnSpc>
                        <a:spcBef>
                          <a:spcPct val="0"/>
                        </a:spcBef>
                        <a:spcAft>
                          <a:spcPct val="0"/>
                        </a:spcAft>
                      </a:pPr>
                      <a:r>
                        <a:rPr lang="zh-CN" sz="700"/>
                        <a:t>大角度力不够</a:t>
                      </a:r>
                      <a:br>
                        <a:rPr lang="zh-CN" altLang="en-US" sz="700"/>
                      </a:br>
                      <a:r>
                        <a:rPr lang="zh-CN" sz="700"/>
                        <a:t>刹不住换向慢</a:t>
                      </a:r>
                      <a:endParaRPr lang="zh-CN" sz="700"/>
                    </a:p>
                  </a:txBody>
                  <a:tcPr marL="68580" marR="68580" marT="0" marB="0" anchor="ctr" anchorCtr="0"/>
                </a:tc>
                <a:tc>
                  <a:txBody>
                    <a:bodyPr/>
                    <a:p>
                      <a:pPr algn="ctr">
                        <a:lnSpc>
                          <a:spcPct val="114000"/>
                        </a:lnSpc>
                        <a:spcBef>
                          <a:spcPct val="0"/>
                        </a:spcBef>
                        <a:spcAft>
                          <a:spcPct val="0"/>
                        </a:spcAft>
                      </a:pPr>
                      <a:r>
                        <a:rPr lang="zh-CN" sz="700"/>
                        <a:t>分段线性：小角度不触发</a:t>
                      </a:r>
                      <a:br>
                        <a:rPr lang="zh-CN" altLang="en-US" sz="700"/>
                      </a:br>
                      <a:r>
                        <a:rPr lang="zh-CN" sz="700"/>
                        <a:t>大角度超出越多补偿越强</a:t>
                      </a:r>
                      <a:br>
                        <a:rPr lang="zh-CN" altLang="en-US" sz="700"/>
                      </a:br>
                      <a:r>
                        <a:rPr lang="zh-CN" sz="700"/>
                        <a:t>避免</a:t>
                      </a:r>
                      <a:r>
                        <a:rPr lang="en-US" altLang="zh-CN" sz="700"/>
                        <a:t>"</a:t>
                      </a:r>
                      <a:r>
                        <a:rPr lang="zh-CN" altLang="en-US" sz="700"/>
                        <a:t>把</a:t>
                      </a:r>
                      <a:r>
                        <a:rPr lang="en-US" altLang="zh-CN" sz="700"/>
                        <a:t>Kp</a:t>
                      </a:r>
                      <a:r>
                        <a:rPr lang="zh-CN" altLang="en-US" sz="700"/>
                        <a:t>调大</a:t>
                      </a:r>
                      <a:r>
                        <a:rPr lang="en-US" altLang="zh-CN" sz="700"/>
                        <a:t>→</a:t>
                      </a:r>
                      <a:r>
                        <a:rPr lang="zh-CN" altLang="en-US" sz="700"/>
                        <a:t>小角度过冲</a:t>
                      </a:r>
                      <a:r>
                        <a:rPr lang="en-US" altLang="zh-CN" sz="700"/>
                        <a:t>"</a:t>
                      </a:r>
                      <a:endParaRPr lang="en-US" alt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V9</a:t>
                      </a:r>
                      <a:endParaRPr lang="en-US" altLang="zh-CN" sz="700"/>
                    </a:p>
                  </a:txBody>
                  <a:tcPr marL="68580" marR="68580" marT="0" marB="0" anchor="ctr" anchorCtr="0"/>
                </a:tc>
                <a:tc>
                  <a:txBody>
                    <a:bodyPr/>
                    <a:p>
                      <a:pPr algn="ctr">
                        <a:lnSpc>
                          <a:spcPct val="114000"/>
                        </a:lnSpc>
                        <a:spcBef>
                          <a:spcPct val="0"/>
                        </a:spcBef>
                        <a:spcAft>
                          <a:spcPct val="0"/>
                        </a:spcAft>
                      </a:pPr>
                      <a:r>
                        <a:rPr lang="zh-CN" sz="700"/>
                        <a:t>小角度软控制区</a:t>
                      </a:r>
                      <a:br>
                        <a:rPr lang="zh-CN" altLang="en-US" sz="700"/>
                      </a:br>
                      <a:r>
                        <a:rPr lang="en-US" altLang="zh-CN" sz="700"/>
                        <a:t>±6°</a:t>
                      </a:r>
                      <a:r>
                        <a:rPr lang="zh-CN" altLang="en-US" sz="700"/>
                        <a:t>内用低</a:t>
                      </a:r>
                      <a:r>
                        <a:rPr lang="en-US" altLang="zh-CN" sz="700"/>
                        <a:t>Kp/Kd</a:t>
                      </a:r>
                      <a:br>
                        <a:rPr lang="en-US" altLang="zh-CN" sz="700"/>
                      </a:br>
                      <a:r>
                        <a:rPr lang="zh-CN" sz="700"/>
                        <a:t>救杆阈值提到</a:t>
                      </a:r>
                      <a:r>
                        <a:rPr lang="en-US" altLang="zh-CN" sz="700"/>
                        <a:t>10°</a:t>
                      </a:r>
                      <a:endParaRPr lang="en-US" altLang="zh-CN" sz="700"/>
                    </a:p>
                  </a:txBody>
                  <a:tcPr marL="68580" marR="68580" marT="0" marB="0" anchor="ctr" anchorCtr="0"/>
                </a:tc>
                <a:tc>
                  <a:txBody>
                    <a:bodyPr/>
                    <a:p>
                      <a:pPr algn="ctr">
                        <a:lnSpc>
                          <a:spcPct val="114000"/>
                        </a:lnSpc>
                        <a:spcBef>
                          <a:spcPct val="0"/>
                        </a:spcBef>
                        <a:spcAft>
                          <a:spcPct val="0"/>
                        </a:spcAft>
                      </a:pPr>
                      <a:r>
                        <a:rPr lang="zh-CN" sz="700"/>
                        <a:t>小角度过冲</a:t>
                      </a:r>
                      <a:r>
                        <a:rPr lang="en-US" altLang="zh-CN" sz="700"/>
                        <a:t>→</a:t>
                      </a:r>
                      <a:br>
                        <a:rPr lang="en-US" altLang="zh-CN" sz="700"/>
                      </a:br>
                      <a:r>
                        <a:rPr lang="zh-CN" sz="700"/>
                        <a:t>越摆越大</a:t>
                      </a:r>
                      <a:endParaRPr lang="zh-CN" sz="700"/>
                    </a:p>
                  </a:txBody>
                  <a:tcPr marL="68580" marR="68580" marT="0" marB="0" anchor="ctr" anchorCtr="0"/>
                </a:tc>
                <a:tc>
                  <a:txBody>
                    <a:bodyPr/>
                    <a:p>
                      <a:pPr algn="ctr">
                        <a:lnSpc>
                          <a:spcPct val="114000"/>
                        </a:lnSpc>
                        <a:spcBef>
                          <a:spcPct val="0"/>
                        </a:spcBef>
                        <a:spcAft>
                          <a:spcPct val="0"/>
                        </a:spcAft>
                      </a:pPr>
                      <a:r>
                        <a:rPr lang="zh-CN" sz="700"/>
                        <a:t>大小角度分离控制：</a:t>
                      </a:r>
                      <a:br>
                        <a:rPr lang="zh-CN" altLang="en-US" sz="700"/>
                      </a:br>
                      <a:r>
                        <a:rPr lang="zh-CN" sz="700"/>
                        <a:t>近竖直轻柔如羽毛拂过</a:t>
                      </a:r>
                      <a:br>
                        <a:rPr lang="zh-CN" altLang="en-US" sz="700"/>
                      </a:br>
                      <a:r>
                        <a:rPr lang="zh-CN" sz="700"/>
                        <a:t>偏大区果断一巴掌打过去</a:t>
                      </a:r>
                      <a:endParaRPr 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V10</a:t>
                      </a:r>
                      <a:endParaRPr lang="en-US" altLang="zh-CN" sz="700"/>
                    </a:p>
                  </a:txBody>
                  <a:tcPr marL="68580" marR="68580" marT="0" marB="0" anchor="ctr" anchorCtr="0"/>
                </a:tc>
                <a:tc>
                  <a:txBody>
                    <a:bodyPr/>
                    <a:p>
                      <a:pPr algn="ctr">
                        <a:lnSpc>
                          <a:spcPct val="114000"/>
                        </a:lnSpc>
                        <a:spcBef>
                          <a:spcPct val="0"/>
                        </a:spcBef>
                        <a:spcAft>
                          <a:spcPct val="0"/>
                        </a:spcAft>
                      </a:pPr>
                      <a:r>
                        <a:rPr lang="zh-CN" sz="700"/>
                        <a:t>救杆阶段速度阻尼分区</a:t>
                      </a:r>
                      <a:br>
                        <a:rPr lang="zh-CN" altLang="en-US" sz="700"/>
                      </a:br>
                      <a:r>
                        <a:rPr lang="zh-CN" sz="700"/>
                        <a:t>正常</a:t>
                      </a:r>
                      <a:r>
                        <a:rPr lang="en-US" altLang="zh-CN" sz="700"/>
                        <a:t>1.20→</a:t>
                      </a:r>
                      <a:r>
                        <a:rPr lang="zh-CN" altLang="en-US" sz="700"/>
                        <a:t>救杆</a:t>
                      </a:r>
                      <a:r>
                        <a:rPr lang="en-US" altLang="zh-CN" sz="700"/>
                        <a:t>0.25</a:t>
                      </a:r>
                      <a:br>
                        <a:rPr lang="en-US" altLang="zh-CN" sz="700"/>
                      </a:br>
                      <a:r>
                        <a:rPr lang="en-US" altLang="zh-CN" sz="700"/>
                        <a:t>50</a:t>
                      </a:r>
                      <a:r>
                        <a:rPr lang="zh-CN" altLang="en-US" sz="700"/>
                        <a:t>次平均调零</a:t>
                      </a:r>
                      <a:endParaRPr lang="zh-CN" altLang="en-US" sz="700"/>
                    </a:p>
                  </a:txBody>
                  <a:tcPr marL="68580" marR="68580" marT="0" marB="0" anchor="ctr" anchorCtr="0"/>
                </a:tc>
                <a:tc>
                  <a:txBody>
                    <a:bodyPr/>
                    <a:p>
                      <a:pPr algn="ctr">
                        <a:lnSpc>
                          <a:spcPct val="114000"/>
                        </a:lnSpc>
                        <a:spcBef>
                          <a:spcPct val="0"/>
                        </a:spcBef>
                        <a:spcAft>
                          <a:spcPct val="0"/>
                        </a:spcAft>
                      </a:pPr>
                      <a:r>
                        <a:rPr lang="zh-CN" sz="700"/>
                        <a:t>大角度</a:t>
                      </a:r>
                      <a:r>
                        <a:rPr lang="en-US" altLang="zh-CN" sz="700"/>
                        <a:t>"</a:t>
                      </a:r>
                      <a:r>
                        <a:rPr lang="zh-CN" altLang="en-US" sz="700"/>
                        <a:t>刚加速</a:t>
                      </a:r>
                      <a:br>
                        <a:rPr lang="zh-CN" altLang="en-US" sz="700"/>
                      </a:br>
                      <a:r>
                        <a:rPr lang="zh-CN" sz="700"/>
                        <a:t>就被刹住</a:t>
                      </a:r>
                      <a:r>
                        <a:rPr lang="en-US" altLang="zh-CN" sz="700"/>
                        <a:t>"</a:t>
                      </a:r>
                      <a:br>
                        <a:rPr lang="en-US" altLang="zh-CN" sz="700"/>
                      </a:br>
                      <a:r>
                        <a:rPr lang="zh-CN" sz="700"/>
                        <a:t>调零抖动</a:t>
                      </a:r>
                      <a:endParaRPr lang="zh-CN" sz="700"/>
                    </a:p>
                  </a:txBody>
                  <a:tcPr marL="68580" marR="68580" marT="0" marB="0" anchor="ctr" anchorCtr="0"/>
                </a:tc>
                <a:tc>
                  <a:txBody>
                    <a:bodyPr/>
                    <a:p>
                      <a:pPr algn="ctr">
                        <a:lnSpc>
                          <a:spcPct val="114000"/>
                        </a:lnSpc>
                        <a:spcBef>
                          <a:spcPct val="0"/>
                        </a:spcBef>
                        <a:spcAft>
                          <a:spcPct val="0"/>
                        </a:spcAft>
                      </a:pPr>
                      <a:r>
                        <a:rPr lang="zh-CN" sz="700"/>
                        <a:t>打破</a:t>
                      </a:r>
                      <a:r>
                        <a:rPr lang="en-US" altLang="zh-CN" sz="700"/>
                        <a:t>"</a:t>
                      </a:r>
                      <a:r>
                        <a:rPr lang="zh-CN" altLang="en-US" sz="700"/>
                        <a:t>速度阻尼总是有益</a:t>
                      </a:r>
                      <a:r>
                        <a:rPr lang="en-US" altLang="zh-CN" sz="700"/>
                        <a:t>"</a:t>
                      </a:r>
                      <a:br>
                        <a:rPr lang="en-US" altLang="zh-CN" sz="700"/>
                      </a:br>
                      <a:r>
                        <a:rPr lang="zh-CN" sz="700"/>
                        <a:t>的线性思维</a:t>
                      </a:r>
                      <a:br>
                        <a:rPr lang="zh-CN" altLang="en-US" sz="700"/>
                      </a:br>
                      <a:r>
                        <a:rPr lang="zh-CN" sz="700"/>
                        <a:t>救杆时优先给力非刹车</a:t>
                      </a:r>
                      <a:endParaRPr 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V11</a:t>
                      </a:r>
                      <a:endParaRPr lang="en-US" altLang="zh-CN" sz="700"/>
                    </a:p>
                  </a:txBody>
                  <a:tcPr marL="68580" marR="68580" marT="0" marB="0" anchor="ctr" anchorCtr="0"/>
                </a:tc>
                <a:tc>
                  <a:txBody>
                    <a:bodyPr/>
                    <a:p>
                      <a:pPr algn="ctr">
                        <a:lnSpc>
                          <a:spcPct val="114000"/>
                        </a:lnSpc>
                        <a:spcBef>
                          <a:spcPct val="0"/>
                        </a:spcBef>
                        <a:spcAft>
                          <a:spcPct val="0"/>
                        </a:spcAft>
                      </a:pPr>
                      <a:r>
                        <a:rPr lang="zh-CN" sz="700"/>
                        <a:t>最小输出补偿</a:t>
                      </a:r>
                      <a:br>
                        <a:rPr lang="zh-CN" altLang="en-US" sz="700"/>
                      </a:br>
                      <a:r>
                        <a:rPr lang="en-US" altLang="zh-CN" sz="700"/>
                        <a:t>BALANCE_MIN_OUTPUT=650</a:t>
                      </a:r>
                      <a:br>
                        <a:rPr lang="en-US" altLang="zh-CN" sz="700"/>
                      </a:br>
                      <a:r>
                        <a:rPr lang="zh-CN" sz="700"/>
                        <a:t>触发角</a:t>
                      </a:r>
                      <a:r>
                        <a:rPr lang="en-US" altLang="zh-CN" sz="700"/>
                        <a:t>&gt;1.5°</a:t>
                      </a:r>
                      <a:endParaRPr lang="en-US" altLang="zh-CN" sz="700"/>
                    </a:p>
                  </a:txBody>
                  <a:tcPr marL="68580" marR="68580" marT="0" marB="0" anchor="ctr" anchorCtr="0"/>
                </a:tc>
                <a:tc>
                  <a:txBody>
                    <a:bodyPr/>
                    <a:p>
                      <a:pPr algn="ctr">
                        <a:lnSpc>
                          <a:spcPct val="114000"/>
                        </a:lnSpc>
                        <a:spcBef>
                          <a:spcPct val="0"/>
                        </a:spcBef>
                        <a:spcAft>
                          <a:spcPct val="0"/>
                        </a:spcAft>
                      </a:pPr>
                      <a:r>
                        <a:rPr lang="zh-CN" sz="700"/>
                        <a:t>有输出但车不动</a:t>
                      </a:r>
                      <a:br>
                        <a:rPr lang="zh-CN" altLang="en-US" sz="700"/>
                      </a:br>
                      <a:r>
                        <a:rPr lang="en-US" altLang="zh-CN" sz="700"/>
                        <a:t>(</a:t>
                      </a:r>
                      <a:r>
                        <a:rPr lang="zh-CN" altLang="en-US" sz="700"/>
                        <a:t>静摩擦死区</a:t>
                      </a:r>
                      <a:r>
                        <a:rPr lang="en-US" altLang="zh-CN" sz="700"/>
                        <a:t>)</a:t>
                      </a:r>
                      <a:endParaRPr lang="en-US" altLang="zh-CN" sz="700"/>
                    </a:p>
                  </a:txBody>
                  <a:tcPr marL="68580" marR="68580" marT="0" marB="0" anchor="ctr" anchorCtr="0"/>
                </a:tc>
                <a:tc>
                  <a:txBody>
                    <a:bodyPr/>
                    <a:p>
                      <a:pPr algn="ctr">
                        <a:lnSpc>
                          <a:spcPct val="114000"/>
                        </a:lnSpc>
                        <a:spcBef>
                          <a:spcPct val="0"/>
                        </a:spcBef>
                        <a:spcAft>
                          <a:spcPct val="0"/>
                        </a:spcAft>
                      </a:pPr>
                      <a:r>
                        <a:rPr lang="en-US" altLang="zh-CN" sz="700"/>
                        <a:t>Stribeck</a:t>
                      </a:r>
                      <a:r>
                        <a:rPr lang="zh-CN" altLang="en-US" sz="700"/>
                        <a:t>效应补偿：</a:t>
                      </a:r>
                      <a:br>
                        <a:rPr lang="zh-CN" altLang="en-US" sz="700"/>
                      </a:br>
                      <a:r>
                        <a:rPr lang="zh-CN" sz="700"/>
                        <a:t>理论输出</a:t>
                      </a:r>
                      <a:r>
                        <a:rPr lang="en-US" altLang="zh-CN" sz="700"/>
                        <a:t>&lt;</a:t>
                      </a:r>
                      <a:r>
                        <a:rPr lang="zh-CN" altLang="en-US" sz="700"/>
                        <a:t>阈值时</a:t>
                      </a:r>
                      <a:br>
                        <a:rPr lang="zh-CN" altLang="en-US" sz="700"/>
                      </a:br>
                      <a:r>
                        <a:rPr lang="zh-CN" sz="700"/>
                        <a:t>强制拉到最小可动作水平</a:t>
                      </a:r>
                      <a:endParaRPr 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V16-V17</a:t>
                      </a:r>
                      <a:endParaRPr lang="en-US" altLang="zh-CN" sz="700"/>
                    </a:p>
                  </a:txBody>
                  <a:tcPr marL="68580" marR="68580" marT="0" marB="0" anchor="ctr" anchorCtr="0"/>
                </a:tc>
                <a:tc>
                  <a:txBody>
                    <a:bodyPr/>
                    <a:p>
                      <a:pPr algn="ctr">
                        <a:lnSpc>
                          <a:spcPct val="114000"/>
                        </a:lnSpc>
                        <a:spcBef>
                          <a:spcPct val="0"/>
                        </a:spcBef>
                        <a:spcAft>
                          <a:spcPct val="0"/>
                        </a:spcAft>
                      </a:pPr>
                      <a:r>
                        <a:rPr lang="en-US" altLang="zh-CN" sz="700"/>
                        <a:t>2ms</a:t>
                      </a:r>
                      <a:r>
                        <a:rPr lang="zh-CN" altLang="en-US" sz="700"/>
                        <a:t>控制周期</a:t>
                      </a:r>
                      <a:br>
                        <a:rPr lang="zh-CN" altLang="en-US" sz="700"/>
                      </a:br>
                      <a:r>
                        <a:rPr lang="en-US" altLang="zh-CN" sz="700"/>
                        <a:t>TIM1</a:t>
                      </a:r>
                      <a:r>
                        <a:rPr lang="zh-CN" altLang="en-US" sz="700"/>
                        <a:t>定时中断闭环</a:t>
                      </a:r>
                      <a:br>
                        <a:rPr lang="zh-CN" altLang="en-US" sz="700"/>
                      </a:br>
                      <a:r>
                        <a:rPr lang="zh-CN" sz="700"/>
                        <a:t>主循环只做显示</a:t>
                      </a:r>
                      <a:endParaRPr lang="zh-CN" sz="700"/>
                    </a:p>
                  </a:txBody>
                  <a:tcPr marL="68580" marR="68580" marT="0" marB="0" anchor="ctr" anchorCtr="0"/>
                </a:tc>
                <a:tc>
                  <a:txBody>
                    <a:bodyPr/>
                    <a:p>
                      <a:pPr algn="ctr">
                        <a:lnSpc>
                          <a:spcPct val="114000"/>
                        </a:lnSpc>
                        <a:spcBef>
                          <a:spcPct val="0"/>
                        </a:spcBef>
                        <a:spcAft>
                          <a:spcPct val="0"/>
                        </a:spcAft>
                      </a:pPr>
                      <a:r>
                        <a:rPr lang="zh-CN" sz="700"/>
                        <a:t>控制周期抖动</a:t>
                      </a:r>
                      <a:br>
                        <a:rPr lang="zh-CN" altLang="en-US" sz="700"/>
                      </a:br>
                      <a:r>
                        <a:rPr lang="zh-CN" sz="700"/>
                        <a:t>微调看不见</a:t>
                      </a:r>
                      <a:br>
                        <a:rPr lang="zh-CN" altLang="en-US" sz="700"/>
                      </a:br>
                      <a:r>
                        <a:rPr lang="zh-CN" sz="700"/>
                        <a:t>等角度大了才猛冲</a:t>
                      </a:r>
                      <a:endParaRPr lang="zh-CN" sz="700"/>
                    </a:p>
                  </a:txBody>
                  <a:tcPr marL="68580" marR="68580" marT="0" marB="0" anchor="ctr" anchorCtr="0"/>
                </a:tc>
                <a:tc>
                  <a:txBody>
                    <a:bodyPr/>
                    <a:p>
                      <a:pPr algn="ctr">
                        <a:lnSpc>
                          <a:spcPct val="114000"/>
                        </a:lnSpc>
                        <a:spcBef>
                          <a:spcPct val="0"/>
                        </a:spcBef>
                        <a:spcAft>
                          <a:spcPct val="0"/>
                        </a:spcAft>
                      </a:pPr>
                      <a:r>
                        <a:rPr lang="zh-CN" sz="700"/>
                        <a:t>精确</a:t>
                      </a:r>
                      <a:r>
                        <a:rPr lang="en-US" altLang="zh-CN" sz="700"/>
                        <a:t>2ms</a:t>
                      </a:r>
                      <a:r>
                        <a:rPr lang="zh-CN" altLang="en-US" sz="700"/>
                        <a:t>消除</a:t>
                      </a:r>
                      <a:r>
                        <a:rPr lang="en-US" altLang="zh-CN" sz="700"/>
                        <a:t>dt</a:t>
                      </a:r>
                      <a:r>
                        <a:rPr lang="zh-CN" altLang="en-US" sz="700"/>
                        <a:t>误差</a:t>
                      </a:r>
                      <a:r>
                        <a:rPr lang="en-US" altLang="zh-CN" sz="700"/>
                        <a:t>→</a:t>
                      </a:r>
                      <a:br>
                        <a:rPr lang="en-US" altLang="zh-CN" sz="700"/>
                      </a:br>
                      <a:r>
                        <a:rPr lang="en-US" altLang="zh-CN" sz="700"/>
                        <a:t>D</a:t>
                      </a:r>
                      <a:r>
                        <a:rPr lang="zh-CN" altLang="en-US" sz="700"/>
                        <a:t>项精度飞跃</a:t>
                      </a:r>
                      <a:br>
                        <a:rPr lang="zh-CN" altLang="en-US" sz="700"/>
                      </a:br>
                      <a:r>
                        <a:rPr lang="zh-CN" sz="700"/>
                        <a:t>硬实时不被</a:t>
                      </a:r>
                      <a:r>
                        <a:rPr lang="en-US" altLang="zh-CN" sz="700"/>
                        <a:t>printf</a:t>
                      </a:r>
                      <a:r>
                        <a:rPr lang="zh-CN" altLang="en-US" sz="700"/>
                        <a:t>阻塞</a:t>
                      </a:r>
                      <a:endParaRPr lang="zh-CN" altLang="en-US"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V19</a:t>
                      </a:r>
                      <a:endParaRPr lang="en-US" altLang="zh-CN" sz="700"/>
                    </a:p>
                  </a:txBody>
                  <a:tcPr marL="68580" marR="68580" marT="0" marB="0" anchor="ctr" anchorCtr="0"/>
                </a:tc>
                <a:tc>
                  <a:txBody>
                    <a:bodyPr/>
                    <a:p>
                      <a:pPr algn="ctr">
                        <a:lnSpc>
                          <a:spcPct val="114000"/>
                        </a:lnSpc>
                        <a:spcBef>
                          <a:spcPct val="0"/>
                        </a:spcBef>
                        <a:spcAft>
                          <a:spcPct val="0"/>
                        </a:spcAft>
                      </a:pPr>
                      <a:r>
                        <a:rPr lang="en-US" altLang="zh-CN" sz="700"/>
                        <a:t>PWM</a:t>
                      </a:r>
                      <a:r>
                        <a:rPr lang="zh-CN" altLang="en-US" sz="700"/>
                        <a:t>死区补偿</a:t>
                      </a:r>
                      <a:br>
                        <a:rPr lang="zh-CN" altLang="en-US" sz="700"/>
                      </a:br>
                      <a:r>
                        <a:rPr lang="en-US" altLang="zh-CN" sz="700"/>
                        <a:t>Deadzone=1100→900</a:t>
                      </a:r>
                      <a:br>
                        <a:rPr lang="en-US" altLang="zh-CN" sz="700"/>
                      </a:br>
                      <a:r>
                        <a:rPr lang="en-US" altLang="zh-CN" sz="700"/>
                        <a:t>CMD_FLOOR=80</a:t>
                      </a:r>
                      <a:endParaRPr lang="en-US" altLang="zh-CN" sz="700"/>
                    </a:p>
                  </a:txBody>
                  <a:tcPr marL="68580" marR="68580" marT="0" marB="0" anchor="ctr" anchorCtr="0"/>
                </a:tc>
                <a:tc>
                  <a:txBody>
                    <a:bodyPr/>
                    <a:p>
                      <a:pPr algn="ctr">
                        <a:lnSpc>
                          <a:spcPct val="114000"/>
                        </a:lnSpc>
                        <a:spcBef>
                          <a:spcPct val="0"/>
                        </a:spcBef>
                        <a:spcAft>
                          <a:spcPct val="0"/>
                        </a:spcAft>
                      </a:pPr>
                      <a:r>
                        <a:rPr lang="en-US" altLang="zh-CN" sz="700"/>
                        <a:t>P1000</a:t>
                      </a:r>
                      <a:r>
                        <a:rPr lang="zh-CN" altLang="en-US" sz="700"/>
                        <a:t>都跑不起来</a:t>
                      </a:r>
                      <a:br>
                        <a:rPr lang="zh-CN" altLang="en-US" sz="700"/>
                      </a:br>
                      <a:r>
                        <a:rPr lang="en-US" altLang="zh-CN" sz="700"/>
                        <a:t>(Stribeck</a:t>
                      </a:r>
                      <a:r>
                        <a:rPr lang="zh-CN" altLang="en-US" sz="700"/>
                        <a:t>效应</a:t>
                      </a:r>
                      <a:r>
                        <a:rPr lang="en-US" altLang="zh-CN" sz="700"/>
                        <a:t>)</a:t>
                      </a:r>
                      <a:endParaRPr lang="en-US" altLang="zh-CN" sz="700"/>
                    </a:p>
                  </a:txBody>
                  <a:tcPr marL="68580" marR="68580" marT="0" marB="0" anchor="ctr" anchorCtr="0"/>
                </a:tc>
                <a:tc>
                  <a:txBody>
                    <a:bodyPr/>
                    <a:p>
                      <a:pPr algn="ctr">
                        <a:lnSpc>
                          <a:spcPct val="114000"/>
                        </a:lnSpc>
                        <a:spcBef>
                          <a:spcPct val="0"/>
                        </a:spcBef>
                        <a:spcAft>
                          <a:spcPct val="0"/>
                        </a:spcAft>
                      </a:pPr>
                      <a:r>
                        <a:rPr lang="zh-CN" sz="700"/>
                        <a:t>执行机构非线性补偿：</a:t>
                      </a:r>
                      <a:br>
                        <a:rPr lang="zh-CN" altLang="en-US" sz="700"/>
                      </a:br>
                      <a:r>
                        <a:rPr lang="zh-CN" sz="700"/>
                        <a:t>只要非零就加起步</a:t>
                      </a:r>
                      <a:r>
                        <a:rPr lang="en-US" altLang="zh-CN" sz="700"/>
                        <a:t>PWM</a:t>
                      </a:r>
                      <a:br>
                        <a:rPr lang="en-US" altLang="zh-CN" sz="700"/>
                      </a:br>
                      <a:r>
                        <a:rPr lang="zh-CN" sz="700"/>
                        <a:t>跨过静摩擦死区</a:t>
                      </a:r>
                      <a:endParaRPr 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V20</a:t>
                      </a:r>
                      <a:endParaRPr lang="en-US" altLang="zh-CN" sz="700"/>
                    </a:p>
                  </a:txBody>
                  <a:tcPr marL="68580" marR="68580" marT="0" marB="0" anchor="ctr" anchorCtr="0"/>
                </a:tc>
                <a:tc>
                  <a:txBody>
                    <a:bodyPr/>
                    <a:p>
                      <a:pPr algn="ctr">
                        <a:lnSpc>
                          <a:spcPct val="114000"/>
                        </a:lnSpc>
                        <a:spcBef>
                          <a:spcPct val="0"/>
                        </a:spcBef>
                        <a:spcAft>
                          <a:spcPct val="0"/>
                        </a:spcAft>
                      </a:pPr>
                      <a:r>
                        <a:rPr lang="en-US" altLang="zh-CN" sz="700"/>
                        <a:t>falling_away</a:t>
                      </a:r>
                      <a:r>
                        <a:rPr lang="zh-CN" altLang="en-US" sz="700"/>
                        <a:t>相位判断</a:t>
                      </a:r>
                      <a:br>
                        <a:rPr lang="zh-CN" altLang="en-US" sz="700"/>
                      </a:br>
                      <a:r>
                        <a:rPr lang="en-US" altLang="zh-CN" sz="700"/>
                        <a:t>Fall_Rate_Kd:26→58</a:t>
                      </a:r>
                      <a:br>
                        <a:rPr lang="en-US" altLang="zh-CN" sz="700"/>
                      </a:br>
                      <a:r>
                        <a:rPr lang="zh-CN" sz="700"/>
                        <a:t>倒杆</a:t>
                      </a:r>
                      <a:r>
                        <a:rPr lang="en-US" altLang="zh-CN" sz="700"/>
                        <a:t>Speed</a:t>
                      </a:r>
                      <a:r>
                        <a:rPr lang="zh-CN" altLang="en-US" sz="700"/>
                        <a:t>降到</a:t>
                      </a:r>
                      <a:r>
                        <a:rPr lang="en-US" altLang="zh-CN" sz="700"/>
                        <a:t>0.04</a:t>
                      </a:r>
                      <a:endParaRPr lang="en-US" altLang="zh-CN" sz="700"/>
                    </a:p>
                  </a:txBody>
                  <a:tcPr marL="68580" marR="68580" marT="0" marB="0" anchor="ctr" anchorCtr="0"/>
                </a:tc>
                <a:tc>
                  <a:txBody>
                    <a:bodyPr/>
                    <a:p>
                      <a:pPr algn="ctr">
                        <a:lnSpc>
                          <a:spcPct val="114000"/>
                        </a:lnSpc>
                        <a:spcBef>
                          <a:spcPct val="0"/>
                        </a:spcBef>
                        <a:spcAft>
                          <a:spcPct val="0"/>
                        </a:spcAft>
                      </a:pPr>
                      <a:r>
                        <a:rPr lang="zh-CN" sz="700"/>
                        <a:t>恒定加速不够</a:t>
                      </a:r>
                      <a:br>
                        <a:rPr lang="zh-CN" altLang="en-US" sz="700"/>
                      </a:br>
                      <a:r>
                        <a:rPr lang="zh-CN" sz="700"/>
                        <a:t>杆子摆不回来</a:t>
                      </a:r>
                      <a:endParaRPr lang="zh-CN" sz="700"/>
                    </a:p>
                  </a:txBody>
                  <a:tcPr marL="68580" marR="68580" marT="0" marB="0" anchor="ctr" anchorCtr="0"/>
                </a:tc>
                <a:tc>
                  <a:txBody>
                    <a:bodyPr/>
                    <a:p>
                      <a:pPr algn="ctr">
                        <a:lnSpc>
                          <a:spcPct val="114000"/>
                        </a:lnSpc>
                        <a:spcBef>
                          <a:spcPct val="0"/>
                        </a:spcBef>
                        <a:spcAft>
                          <a:spcPct val="0"/>
                        </a:spcAft>
                      </a:pPr>
                      <a:r>
                        <a:rPr lang="zh-CN" sz="700"/>
                        <a:t>识别</a:t>
                      </a:r>
                      <a:r>
                        <a:rPr lang="en-US" altLang="zh-CN" sz="700"/>
                        <a:t>"</a:t>
                      </a:r>
                      <a:r>
                        <a:rPr lang="zh-CN" altLang="en-US" sz="700"/>
                        <a:t>正在恶化</a:t>
                      </a:r>
                      <a:r>
                        <a:rPr lang="en-US" altLang="zh-CN" sz="700"/>
                        <a:t>"</a:t>
                      </a:r>
                      <a:r>
                        <a:rPr lang="zh-CN" altLang="en-US" sz="700"/>
                        <a:t>趋势：</a:t>
                      </a:r>
                      <a:br>
                        <a:rPr lang="zh-CN" altLang="en-US" sz="700"/>
                      </a:br>
                      <a:r>
                        <a:rPr lang="zh-CN" sz="700"/>
                        <a:t>不等角度变大就提前加力</a:t>
                      </a:r>
                      <a:br>
                        <a:rPr lang="zh-CN" altLang="en-US" sz="700"/>
                      </a:br>
                      <a:r>
                        <a:rPr lang="zh-CN" sz="700"/>
                        <a:t>倒杆时一切让位于救杆</a:t>
                      </a:r>
                      <a:endParaRPr 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V21</a:t>
                      </a:r>
                      <a:endParaRPr lang="en-US" altLang="zh-CN" sz="700"/>
                    </a:p>
                  </a:txBody>
                  <a:tcPr marL="68580" marR="68580" marT="0" marB="0" anchor="ctr" anchorCtr="0"/>
                </a:tc>
                <a:tc>
                  <a:txBody>
                    <a:bodyPr/>
                    <a:p>
                      <a:pPr algn="ctr">
                        <a:lnSpc>
                          <a:spcPct val="114000"/>
                        </a:lnSpc>
                        <a:spcBef>
                          <a:spcPct val="0"/>
                        </a:spcBef>
                        <a:spcAft>
                          <a:spcPct val="0"/>
                        </a:spcAft>
                      </a:pPr>
                      <a:r>
                        <a:rPr lang="en-US" altLang="zh-CN" sz="700"/>
                        <a:t>Hold</a:t>
                      </a:r>
                      <a:r>
                        <a:rPr lang="zh-CN" altLang="en-US" sz="700"/>
                        <a:t>区</a:t>
                      </a:r>
                      <a:r>
                        <a:rPr lang="en-US" altLang="zh-CN" sz="700"/>
                        <a:t>±0.35°</a:t>
                      </a:r>
                      <a:br>
                        <a:rPr lang="en-US" altLang="zh-CN" sz="700"/>
                      </a:br>
                      <a:r>
                        <a:rPr lang="zh-CN" sz="700"/>
                        <a:t>死区补偿改为渐进式</a:t>
                      </a:r>
                      <a:br>
                        <a:rPr lang="zh-CN" altLang="en-US" sz="700"/>
                      </a:br>
                      <a:r>
                        <a:rPr lang="en-US" altLang="zh-CN" sz="700"/>
                        <a:t>RESCUE</a:t>
                      </a:r>
                      <a:r>
                        <a:rPr lang="zh-CN" altLang="en-US" sz="700"/>
                        <a:t>提前到</a:t>
                      </a:r>
                      <a:r>
                        <a:rPr lang="en-US" altLang="zh-CN" sz="700"/>
                        <a:t>5°</a:t>
                      </a:r>
                      <a:endParaRPr lang="en-US" altLang="zh-CN" sz="700"/>
                    </a:p>
                  </a:txBody>
                  <a:tcPr marL="68580" marR="68580" marT="0" marB="0" anchor="ctr" anchorCtr="0"/>
                </a:tc>
                <a:tc>
                  <a:txBody>
                    <a:bodyPr/>
                    <a:p>
                      <a:pPr algn="ctr">
                        <a:lnSpc>
                          <a:spcPct val="114000"/>
                        </a:lnSpc>
                        <a:spcBef>
                          <a:spcPct val="0"/>
                        </a:spcBef>
                        <a:spcAft>
                          <a:spcPct val="0"/>
                        </a:spcAft>
                      </a:pPr>
                      <a:r>
                        <a:rPr lang="zh-CN" sz="700"/>
                        <a:t>竖直抖动</a:t>
                      </a:r>
                      <a:r>
                        <a:rPr lang="en-US" altLang="zh-CN" sz="700"/>
                        <a:t>→</a:t>
                      </a:r>
                      <a:r>
                        <a:rPr lang="zh-CN" altLang="en-US" sz="700"/>
                        <a:t>越抖越大</a:t>
                      </a:r>
                      <a:br>
                        <a:rPr lang="zh-CN" altLang="en-US" sz="700"/>
                      </a:br>
                      <a:r>
                        <a:rPr lang="en-US" altLang="zh-CN" sz="700"/>
                        <a:t>(ADC→D→</a:t>
                      </a:r>
                      <a:r>
                        <a:rPr lang="zh-CN" altLang="en-US" sz="700"/>
                        <a:t>死区共振</a:t>
                      </a:r>
                      <a:r>
                        <a:rPr lang="en-US" altLang="zh-CN" sz="700"/>
                        <a:t>)</a:t>
                      </a:r>
                      <a:endParaRPr lang="en-US" altLang="zh-CN" sz="700"/>
                    </a:p>
                  </a:txBody>
                  <a:tcPr marL="68580" marR="68580" marT="0" marB="0" anchor="ctr" anchorCtr="0"/>
                </a:tc>
                <a:tc>
                  <a:txBody>
                    <a:bodyPr/>
                    <a:p>
                      <a:pPr algn="ctr">
                        <a:lnSpc>
                          <a:spcPct val="114000"/>
                        </a:lnSpc>
                        <a:spcBef>
                          <a:spcPct val="0"/>
                        </a:spcBef>
                        <a:spcAft>
                          <a:spcPct val="0"/>
                        </a:spcAft>
                      </a:pPr>
                      <a:r>
                        <a:rPr lang="zh-CN" sz="700"/>
                        <a:t>传感器噪声区不做</a:t>
                      </a:r>
                      <a:br>
                        <a:rPr lang="zh-CN" altLang="en-US" sz="700"/>
                      </a:br>
                      <a:r>
                        <a:rPr lang="zh-CN" sz="700"/>
                        <a:t>无意义微调</a:t>
                      </a:r>
                      <a:br>
                        <a:rPr lang="zh-CN" altLang="en-US" sz="700"/>
                      </a:br>
                      <a:r>
                        <a:rPr lang="zh-CN" sz="700"/>
                        <a:t>切断</a:t>
                      </a:r>
                      <a:r>
                        <a:rPr lang="en-US" altLang="zh-CN" sz="700"/>
                        <a:t>"</a:t>
                      </a:r>
                      <a:r>
                        <a:rPr lang="zh-CN" altLang="en-US" sz="700"/>
                        <a:t>放大器</a:t>
                      </a:r>
                      <a:r>
                        <a:rPr lang="en-US" altLang="zh-CN" sz="700"/>
                        <a:t>"</a:t>
                      </a:r>
                      <a:r>
                        <a:rPr lang="zh-CN" altLang="en-US" sz="700"/>
                        <a:t>正反馈链</a:t>
                      </a:r>
                      <a:endParaRPr lang="zh-CN" altLang="en-US"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V33</a:t>
                      </a:r>
                      <a:endParaRPr lang="en-US" altLang="zh-CN" sz="700"/>
                    </a:p>
                  </a:txBody>
                  <a:tcPr marL="68580" marR="68580" marT="0" marB="0" anchor="ctr" anchorCtr="0"/>
                </a:tc>
                <a:tc>
                  <a:txBody>
                    <a:bodyPr/>
                    <a:p>
                      <a:pPr algn="ctr">
                        <a:lnSpc>
                          <a:spcPct val="114000"/>
                        </a:lnSpc>
                        <a:spcBef>
                          <a:spcPct val="0"/>
                        </a:spcBef>
                        <a:spcAft>
                          <a:spcPct val="0"/>
                        </a:spcAft>
                      </a:pPr>
                      <a:r>
                        <a:rPr lang="zh-CN" sz="700"/>
                        <a:t>统一角度策略</a:t>
                      </a:r>
                      <a:br>
                        <a:rPr lang="zh-CN" altLang="en-US" sz="700"/>
                      </a:br>
                      <a:r>
                        <a:rPr lang="zh-CN" sz="700"/>
                        <a:t>删除多段分区</a:t>
                      </a:r>
                      <a:endParaRPr lang="zh-CN" sz="700"/>
                    </a:p>
                  </a:txBody>
                  <a:tcPr marL="68580" marR="68580" marT="0" marB="0" anchor="ctr" anchorCtr="0"/>
                </a:tc>
                <a:tc>
                  <a:txBody>
                    <a:bodyPr/>
                    <a:p>
                      <a:pPr algn="ctr">
                        <a:lnSpc>
                          <a:spcPct val="114000"/>
                        </a:lnSpc>
                        <a:spcBef>
                          <a:spcPct val="0"/>
                        </a:spcBef>
                        <a:spcAft>
                          <a:spcPct val="0"/>
                        </a:spcAft>
                      </a:pPr>
                      <a:r>
                        <a:rPr lang="zh-CN" sz="700"/>
                        <a:t>分区切换不连续</a:t>
                      </a:r>
                      <a:br>
                        <a:rPr lang="zh-CN" altLang="en-US" sz="700"/>
                      </a:br>
                      <a:r>
                        <a:rPr lang="en-US" altLang="zh-CN" sz="700"/>
                        <a:t>"</a:t>
                      </a:r>
                      <a:r>
                        <a:rPr lang="zh-CN" altLang="en-US" sz="700"/>
                        <a:t>中间停住</a:t>
                      </a:r>
                      <a:r>
                        <a:rPr lang="en-US" altLang="zh-CN" sz="700"/>
                        <a:t>/</a:t>
                      </a:r>
                      <a:r>
                        <a:rPr lang="zh-CN" altLang="en-US" sz="700"/>
                        <a:t>单方向加速</a:t>
                      </a:r>
                      <a:r>
                        <a:rPr lang="en-US" altLang="zh-CN" sz="700"/>
                        <a:t>"</a:t>
                      </a:r>
                      <a:endParaRPr lang="en-US" altLang="zh-CN" sz="700"/>
                    </a:p>
                  </a:txBody>
                  <a:tcPr marL="68580" marR="68580" marT="0" marB="0" anchor="ctr" anchorCtr="0"/>
                </a:tc>
                <a:tc>
                  <a:txBody>
                    <a:bodyPr/>
                    <a:p>
                      <a:pPr algn="ctr">
                        <a:lnSpc>
                          <a:spcPct val="114000"/>
                        </a:lnSpc>
                        <a:spcBef>
                          <a:spcPct val="0"/>
                        </a:spcBef>
                        <a:spcAft>
                          <a:spcPct val="0"/>
                        </a:spcAft>
                      </a:pPr>
                      <a:r>
                        <a:rPr lang="zh-CN" sz="700"/>
                        <a:t>去掉切换面：</a:t>
                      </a:r>
                      <a:br>
                        <a:rPr lang="zh-CN" altLang="en-US" sz="700"/>
                      </a:br>
                      <a:r>
                        <a:rPr lang="zh-CN" sz="700"/>
                        <a:t>全程一套参数行为连续</a:t>
                      </a:r>
                      <a:br>
                        <a:rPr lang="zh-CN" altLang="en-US" sz="700"/>
                      </a:br>
                      <a:r>
                        <a:rPr lang="zh-CN" sz="700"/>
                        <a:t>救杆提前到</a:t>
                      </a:r>
                      <a:r>
                        <a:rPr lang="en-US" altLang="zh-CN" sz="700"/>
                        <a:t>1.2°</a:t>
                      </a:r>
                      <a:r>
                        <a:rPr lang="zh-CN" altLang="en-US" sz="700"/>
                        <a:t>补偿</a:t>
                      </a:r>
                      <a:endParaRPr lang="zh-CN" altLang="en-US"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V34</a:t>
                      </a:r>
                      <a:endParaRPr lang="en-US" altLang="zh-CN" sz="700"/>
                    </a:p>
                  </a:txBody>
                  <a:tcPr marL="68580" marR="68580" marT="0" marB="0" anchor="ctr" anchorCtr="0"/>
                </a:tc>
                <a:tc>
                  <a:txBody>
                    <a:bodyPr/>
                    <a:p>
                      <a:pPr algn="ctr">
                        <a:lnSpc>
                          <a:spcPct val="114000"/>
                        </a:lnSpc>
                        <a:spcBef>
                          <a:spcPct val="0"/>
                        </a:spcBef>
                        <a:spcAft>
                          <a:spcPct val="0"/>
                        </a:spcAft>
                      </a:pPr>
                      <a:r>
                        <a:rPr lang="zh-CN" sz="700"/>
                        <a:t>防倒优先策略</a:t>
                      </a:r>
                      <a:br>
                        <a:rPr lang="zh-CN" altLang="en-US" sz="700"/>
                      </a:br>
                      <a:r>
                        <a:rPr lang="en-US" altLang="zh-CN" sz="700"/>
                        <a:t>drifting</a:t>
                      </a:r>
                      <a:r>
                        <a:rPr lang="zh-CN" altLang="en-US" sz="700"/>
                        <a:t>漂移检测</a:t>
                      </a:r>
                      <a:br>
                        <a:rPr lang="zh-CN" altLang="en-US" sz="700"/>
                      </a:br>
                      <a:r>
                        <a:rPr lang="zh-CN" sz="700"/>
                        <a:t>漂移时强制刹车</a:t>
                      </a:r>
                      <a:endParaRPr lang="zh-CN" sz="700"/>
                    </a:p>
                  </a:txBody>
                  <a:tcPr marL="68580" marR="68580" marT="0" marB="0" anchor="ctr" anchorCtr="0"/>
                </a:tc>
                <a:tc>
                  <a:txBody>
                    <a:bodyPr/>
                    <a:p>
                      <a:pPr algn="ctr">
                        <a:lnSpc>
                          <a:spcPct val="114000"/>
                        </a:lnSpc>
                        <a:spcBef>
                          <a:spcPct val="0"/>
                        </a:spcBef>
                        <a:spcAft>
                          <a:spcPct val="0"/>
                        </a:spcAft>
                      </a:pPr>
                      <a:r>
                        <a:rPr lang="zh-CN" sz="700"/>
                        <a:t>越晃越跑</a:t>
                      </a:r>
                      <a:r>
                        <a:rPr lang="en-US" altLang="zh-CN" sz="700"/>
                        <a:t>→</a:t>
                      </a:r>
                      <a:br>
                        <a:rPr lang="en-US" altLang="zh-CN" sz="700"/>
                      </a:br>
                      <a:r>
                        <a:rPr lang="zh-CN" sz="700"/>
                        <a:t>速度余量耗尽</a:t>
                      </a:r>
                      <a:r>
                        <a:rPr lang="en-US" altLang="zh-CN" sz="700"/>
                        <a:t>→</a:t>
                      </a:r>
                      <a:r>
                        <a:rPr lang="zh-CN" altLang="en-US" sz="700"/>
                        <a:t>倒下</a:t>
                      </a:r>
                      <a:endParaRPr lang="zh-CN" altLang="en-US" sz="700"/>
                    </a:p>
                  </a:txBody>
                  <a:tcPr marL="68580" marR="68580" marT="0" marB="0" anchor="ctr" anchorCtr="0"/>
                </a:tc>
                <a:tc>
                  <a:txBody>
                    <a:bodyPr/>
                    <a:p>
                      <a:pPr algn="ctr">
                        <a:lnSpc>
                          <a:spcPct val="114000"/>
                        </a:lnSpc>
                        <a:spcBef>
                          <a:spcPct val="0"/>
                        </a:spcBef>
                        <a:spcAft>
                          <a:spcPct val="0"/>
                        </a:spcAft>
                      </a:pPr>
                      <a:r>
                        <a:rPr lang="zh-CN" sz="700"/>
                        <a:t>从</a:t>
                      </a:r>
                      <a:r>
                        <a:rPr lang="en-US" altLang="zh-CN" sz="700"/>
                        <a:t>"</a:t>
                      </a:r>
                      <a:r>
                        <a:rPr lang="zh-CN" altLang="en-US" sz="700"/>
                        <a:t>静稳</a:t>
                      </a:r>
                      <a:r>
                        <a:rPr lang="en-US" altLang="zh-CN" sz="700"/>
                        <a:t>"</a:t>
                      </a:r>
                      <a:r>
                        <a:rPr lang="zh-CN" altLang="en-US" sz="700"/>
                        <a:t>转</a:t>
                      </a:r>
                      <a:r>
                        <a:rPr lang="en-US" altLang="zh-CN" sz="700"/>
                        <a:t>"</a:t>
                      </a:r>
                      <a:r>
                        <a:rPr lang="zh-CN" altLang="en-US" sz="700"/>
                        <a:t>防倒</a:t>
                      </a:r>
                      <a:r>
                        <a:rPr lang="en-US" altLang="zh-CN" sz="700"/>
                        <a:t>"</a:t>
                      </a:r>
                      <a:r>
                        <a:rPr lang="zh-CN" altLang="en-US" sz="700"/>
                        <a:t>：</a:t>
                      </a:r>
                      <a:br>
                        <a:rPr lang="zh-CN" altLang="en-US" sz="700"/>
                      </a:br>
                      <a:r>
                        <a:rPr lang="zh-CN" sz="700"/>
                        <a:t>允许晃动，但打断</a:t>
                      </a:r>
                      <a:br>
                        <a:rPr lang="zh-CN" altLang="en-US" sz="700"/>
                      </a:br>
                      <a:r>
                        <a:rPr lang="en-US" altLang="zh-CN" sz="700"/>
                        <a:t>"</a:t>
                      </a:r>
                      <a:r>
                        <a:rPr lang="zh-CN" altLang="en-US" sz="700"/>
                        <a:t>单方向加速耗尽</a:t>
                      </a:r>
                      <a:r>
                        <a:rPr lang="en-US" altLang="zh-CN" sz="700"/>
                        <a:t>"</a:t>
                      </a:r>
                      <a:r>
                        <a:rPr lang="zh-CN" altLang="en-US" sz="700"/>
                        <a:t>趋势</a:t>
                      </a:r>
                      <a:endParaRPr lang="zh-CN" altLang="en-US"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V35</a:t>
                      </a:r>
                      <a:endParaRPr lang="en-US" altLang="zh-CN" sz="700"/>
                    </a:p>
                  </a:txBody>
                  <a:tcPr marL="68580" marR="68580" marT="0" marB="0" anchor="ctr" anchorCtr="0"/>
                </a:tc>
                <a:tc>
                  <a:txBody>
                    <a:bodyPr/>
                    <a:p>
                      <a:pPr algn="ctr">
                        <a:lnSpc>
                          <a:spcPct val="114000"/>
                        </a:lnSpc>
                        <a:spcBef>
                          <a:spcPct val="0"/>
                        </a:spcBef>
                        <a:spcAft>
                          <a:spcPct val="0"/>
                        </a:spcAft>
                      </a:pPr>
                      <a:r>
                        <a:rPr lang="zh-CN" sz="700"/>
                        <a:t>漂移回拉</a:t>
                      </a:r>
                      <a:br>
                        <a:rPr lang="zh-CN" altLang="en-US" sz="700"/>
                      </a:br>
                      <a:r>
                        <a:rPr lang="en-US" altLang="zh-CN" sz="700"/>
                        <a:t>Drift_Position_Kp=0.012</a:t>
                      </a:r>
                      <a:br>
                        <a:rPr lang="en-US" altLang="zh-CN" sz="700"/>
                      </a:br>
                      <a:r>
                        <a:rPr lang="en-US" altLang="zh-CN" sz="700"/>
                        <a:t>PUSH_LIMIT=900</a:t>
                      </a:r>
                      <a:endParaRPr lang="en-US" altLang="zh-CN" sz="700"/>
                    </a:p>
                  </a:txBody>
                  <a:tcPr marL="68580" marR="68580" marT="0" marB="0" anchor="ctr" anchorCtr="0"/>
                </a:tc>
                <a:tc>
                  <a:txBody>
                    <a:bodyPr/>
                    <a:p>
                      <a:pPr algn="ctr">
                        <a:lnSpc>
                          <a:spcPct val="114000"/>
                        </a:lnSpc>
                        <a:spcBef>
                          <a:spcPct val="0"/>
                        </a:spcBef>
                        <a:spcAft>
                          <a:spcPct val="0"/>
                        </a:spcAft>
                      </a:pPr>
                      <a:r>
                        <a:rPr lang="zh-CN" sz="700"/>
                        <a:t>中间晃住时间变久</a:t>
                      </a:r>
                      <a:br>
                        <a:rPr lang="zh-CN" altLang="en-US" sz="700"/>
                      </a:br>
                      <a:r>
                        <a:rPr lang="zh-CN" sz="700"/>
                        <a:t>但仍晃着晃着跑远</a:t>
                      </a:r>
                      <a:endParaRPr lang="zh-CN" sz="700"/>
                    </a:p>
                  </a:txBody>
                  <a:tcPr marL="68580" marR="68580" marT="0" marB="0" anchor="ctr" anchorCtr="0"/>
                </a:tc>
                <a:tc>
                  <a:txBody>
                    <a:bodyPr/>
                    <a:p>
                      <a:pPr algn="ctr">
                        <a:lnSpc>
                          <a:spcPct val="114000"/>
                        </a:lnSpc>
                        <a:spcBef>
                          <a:spcPct val="0"/>
                        </a:spcBef>
                        <a:spcAft>
                          <a:spcPct val="0"/>
                        </a:spcAft>
                      </a:pPr>
                      <a:r>
                        <a:rPr lang="zh-CN" sz="700"/>
                        <a:t>漂移时位置回中</a:t>
                      </a:r>
                      <a:r>
                        <a:rPr lang="en-US" altLang="zh-CN" sz="700"/>
                        <a:t>×2.4</a:t>
                      </a:r>
                      <a:br>
                        <a:rPr lang="en-US" altLang="zh-CN" sz="700"/>
                      </a:br>
                      <a:r>
                        <a:rPr lang="zh-CN" sz="700"/>
                        <a:t>同向输出强制限幅</a:t>
                      </a:r>
                      <a:br>
                        <a:rPr lang="zh-CN" altLang="en-US" sz="700"/>
                      </a:br>
                      <a:r>
                        <a:rPr lang="zh-CN" sz="700"/>
                        <a:t>打破</a:t>
                      </a:r>
                      <a:r>
                        <a:rPr lang="en-US" altLang="zh-CN" sz="700"/>
                        <a:t>"</a:t>
                      </a:r>
                      <a:r>
                        <a:rPr lang="zh-CN" altLang="en-US" sz="700"/>
                        <a:t>输出</a:t>
                      </a:r>
                      <a:r>
                        <a:rPr lang="en-US" altLang="zh-CN" sz="700"/>
                        <a:t>=</a:t>
                      </a:r>
                      <a:r>
                        <a:rPr lang="zh-CN" altLang="en-US" sz="700"/>
                        <a:t>漂移方向</a:t>
                      </a:r>
                      <a:r>
                        <a:rPr lang="en-US" altLang="zh-CN" sz="700"/>
                        <a:t>"</a:t>
                      </a:r>
                      <a:endParaRPr lang="en-US" alt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363855">
                <a:tc>
                  <a:txBody>
                    <a:bodyPr/>
                    <a:p>
                      <a:pPr algn="ctr">
                        <a:lnSpc>
                          <a:spcPct val="114000"/>
                        </a:lnSpc>
                        <a:spcBef>
                          <a:spcPct val="0"/>
                        </a:spcBef>
                        <a:spcAft>
                          <a:spcPct val="0"/>
                        </a:spcAft>
                      </a:pPr>
                      <a:r>
                        <a:rPr lang="en-US" altLang="zh-CN" sz="700"/>
                        <a:t>V36</a:t>
                      </a:r>
                      <a:endParaRPr lang="en-US" altLang="zh-CN" sz="700"/>
                    </a:p>
                  </a:txBody>
                  <a:tcPr marL="68580" marR="68580" marT="0" marB="0" anchor="ctr" anchorCtr="0"/>
                </a:tc>
                <a:tc>
                  <a:txBody>
                    <a:bodyPr/>
                    <a:p>
                      <a:pPr algn="ctr">
                        <a:lnSpc>
                          <a:spcPct val="114000"/>
                        </a:lnSpc>
                        <a:spcBef>
                          <a:spcPct val="0"/>
                        </a:spcBef>
                        <a:spcAft>
                          <a:spcPct val="0"/>
                        </a:spcAft>
                      </a:pPr>
                      <a:r>
                        <a:rPr lang="en-US" altLang="zh-CN" sz="700"/>
                        <a:t>Kick</a:t>
                      </a:r>
                      <a:r>
                        <a:rPr lang="zh-CN" altLang="en-US" sz="700"/>
                        <a:t>脉冲状态机</a:t>
                      </a:r>
                      <a:br>
                        <a:rPr lang="zh-CN" altLang="en-US" sz="700"/>
                      </a:br>
                      <a:r>
                        <a:rPr lang="en-US" altLang="zh-CN" sz="700"/>
                        <a:t>5200PWM×36ms</a:t>
                      </a:r>
                      <a:r>
                        <a:rPr lang="zh-CN" altLang="en-US" sz="700"/>
                        <a:t>急加速</a:t>
                      </a:r>
                      <a:br>
                        <a:rPr lang="zh-CN" altLang="en-US" sz="700"/>
                      </a:br>
                      <a:r>
                        <a:rPr lang="en-US" altLang="zh-CN" sz="700"/>
                        <a:t>→</a:t>
                      </a:r>
                      <a:r>
                        <a:rPr lang="zh-CN" altLang="en-US" sz="700"/>
                        <a:t>慢恢复</a:t>
                      </a:r>
                      <a:r>
                        <a:rPr lang="en-US" altLang="zh-CN" sz="700"/>
                        <a:t>→</a:t>
                      </a:r>
                      <a:r>
                        <a:rPr lang="zh-CN" altLang="en-US" sz="700"/>
                        <a:t>冷却</a:t>
                      </a:r>
                      <a:endParaRPr lang="zh-CN" altLang="en-US" sz="700"/>
                    </a:p>
                  </a:txBody>
                  <a:tcPr marL="68580" marR="68580" marT="0" marB="0" anchor="ctr" anchorCtr="0"/>
                </a:tc>
                <a:tc>
                  <a:txBody>
                    <a:bodyPr/>
                    <a:p>
                      <a:pPr algn="ctr">
                        <a:lnSpc>
                          <a:spcPct val="114000"/>
                        </a:lnSpc>
                        <a:spcBef>
                          <a:spcPct val="0"/>
                        </a:spcBef>
                        <a:spcAft>
                          <a:spcPct val="0"/>
                        </a:spcAft>
                      </a:pPr>
                      <a:r>
                        <a:rPr lang="zh-CN" sz="700"/>
                        <a:t>连续控制无法</a:t>
                      </a:r>
                      <a:br>
                        <a:rPr lang="zh-CN" altLang="en-US" sz="700"/>
                      </a:br>
                      <a:r>
                        <a:rPr lang="zh-CN" sz="700"/>
                        <a:t>把杆子甩回另一侧</a:t>
                      </a:r>
                      <a:endParaRPr lang="zh-CN" sz="700"/>
                    </a:p>
                  </a:txBody>
                  <a:tcPr marL="68580" marR="68580" marT="0" marB="0" anchor="ctr" anchorCtr="0"/>
                </a:tc>
                <a:tc>
                  <a:txBody>
                    <a:bodyPr/>
                    <a:p>
                      <a:pPr algn="ctr">
                        <a:lnSpc>
                          <a:spcPct val="114000"/>
                        </a:lnSpc>
                        <a:spcBef>
                          <a:spcPct val="0"/>
                        </a:spcBef>
                        <a:spcAft>
                          <a:spcPct val="0"/>
                        </a:spcAft>
                      </a:pPr>
                      <a:r>
                        <a:rPr lang="zh-CN" sz="700"/>
                        <a:t>短时大冲量</a:t>
                      </a:r>
                      <a:r>
                        <a:rPr lang="en-US" altLang="zh-CN" sz="700"/>
                        <a:t>(∫Fdt)→</a:t>
                      </a:r>
                      <a:br>
                        <a:rPr lang="en-US" altLang="zh-CN" sz="700"/>
                      </a:br>
                      <a:r>
                        <a:rPr lang="zh-CN" sz="700"/>
                        <a:t>给杆子足够反向速度</a:t>
                      </a:r>
                      <a:r>
                        <a:rPr lang="en-US" altLang="zh-CN" sz="700"/>
                        <a:t>→</a:t>
                      </a:r>
                      <a:br>
                        <a:rPr lang="en-US" altLang="zh-CN" sz="700"/>
                      </a:br>
                      <a:r>
                        <a:rPr lang="zh-CN" sz="700"/>
                        <a:t>慢恢复防反冲</a:t>
                      </a:r>
                      <a:r>
                        <a:rPr lang="en-US" altLang="zh-CN" sz="700"/>
                        <a:t>→</a:t>
                      </a:r>
                      <a:r>
                        <a:rPr lang="zh-CN" altLang="en-US" sz="700"/>
                        <a:t>冷却防抽动</a:t>
                      </a:r>
                      <a:endParaRPr lang="zh-CN" altLang="en-US"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r h="485140">
                <a:tc>
                  <a:txBody>
                    <a:bodyPr/>
                    <a:p>
                      <a:pPr algn="ctr">
                        <a:lnSpc>
                          <a:spcPct val="114000"/>
                        </a:lnSpc>
                        <a:spcBef>
                          <a:spcPct val="0"/>
                        </a:spcBef>
                        <a:spcAft>
                          <a:spcPct val="0"/>
                        </a:spcAft>
                      </a:pPr>
                      <a:r>
                        <a:rPr lang="en-US" altLang="zh-CN" sz="700"/>
                        <a:t>V39</a:t>
                      </a:r>
                      <a:endParaRPr lang="en-US" altLang="zh-CN" sz="700"/>
                    </a:p>
                  </a:txBody>
                  <a:tcPr marL="68580" marR="68580" marT="0" marB="0" anchor="ctr" anchorCtr="0"/>
                </a:tc>
                <a:tc>
                  <a:txBody>
                    <a:bodyPr/>
                    <a:p>
                      <a:pPr algn="ctr">
                        <a:lnSpc>
                          <a:spcPct val="114000"/>
                        </a:lnSpc>
                        <a:spcBef>
                          <a:spcPct val="0"/>
                        </a:spcBef>
                        <a:spcAft>
                          <a:spcPct val="0"/>
                        </a:spcAft>
                      </a:pPr>
                      <a:r>
                        <a:rPr lang="zh-CN" sz="700"/>
                        <a:t>多代理审查修复</a:t>
                      </a:r>
                      <a:br>
                        <a:rPr lang="zh-CN" altLang="en-US" sz="700"/>
                      </a:br>
                      <a:r>
                        <a:rPr lang="zh-CN" sz="700"/>
                        <a:t>关闭</a:t>
                      </a:r>
                      <a:r>
                        <a:rPr lang="en-US" altLang="zh-CN" sz="700"/>
                        <a:t>Auto-Bias</a:t>
                      </a:r>
                      <a:br>
                        <a:rPr lang="en-US" altLang="zh-CN" sz="700"/>
                      </a:br>
                      <a:r>
                        <a:rPr lang="zh-CN" sz="700"/>
                        <a:t>强制反向回拉</a:t>
                      </a:r>
                      <a:br>
                        <a:rPr lang="zh-CN" altLang="en-US" sz="700"/>
                      </a:br>
                      <a:r>
                        <a:rPr lang="zh-CN" sz="700"/>
                        <a:t>增加</a:t>
                      </a:r>
                      <a:r>
                        <a:rPr lang="en-US" altLang="zh-CN" sz="700"/>
                        <a:t>Pos</a:t>
                      </a:r>
                      <a:r>
                        <a:rPr lang="zh-CN" altLang="en-US" sz="700"/>
                        <a:t>串口字段</a:t>
                      </a:r>
                      <a:endParaRPr lang="zh-CN" altLang="en-US" sz="700"/>
                    </a:p>
                  </a:txBody>
                  <a:tcPr marL="68580" marR="68580" marT="0" marB="0" anchor="ctr" anchorCtr="0"/>
                </a:tc>
                <a:tc>
                  <a:txBody>
                    <a:bodyPr/>
                    <a:p>
                      <a:pPr algn="ctr">
                        <a:lnSpc>
                          <a:spcPct val="114000"/>
                        </a:lnSpc>
                        <a:spcBef>
                          <a:spcPct val="0"/>
                        </a:spcBef>
                        <a:spcAft>
                          <a:spcPct val="0"/>
                        </a:spcAft>
                      </a:pPr>
                      <a:r>
                        <a:rPr lang="zh-CN" sz="700"/>
                        <a:t>小角度越调越偏</a:t>
                      </a:r>
                      <a:br>
                        <a:rPr lang="zh-CN" altLang="en-US" sz="700"/>
                      </a:br>
                      <a:r>
                        <a:rPr lang="en-US" altLang="zh-CN" sz="700"/>
                        <a:t>(</a:t>
                      </a:r>
                      <a:r>
                        <a:rPr lang="zh-CN" altLang="en-US" sz="700"/>
                        <a:t>系统性正反馈</a:t>
                      </a:r>
                      <a:r>
                        <a:rPr lang="en-US" altLang="zh-CN" sz="700"/>
                        <a:t>bug)</a:t>
                      </a:r>
                      <a:endParaRPr lang="en-US" altLang="zh-CN" sz="700"/>
                    </a:p>
                  </a:txBody>
                  <a:tcPr marL="68580" marR="68580" marT="0" marB="0" anchor="ctr" anchorCtr="0"/>
                </a:tc>
                <a:tc>
                  <a:txBody>
                    <a:bodyPr/>
                    <a:p>
                      <a:pPr algn="ctr">
                        <a:lnSpc>
                          <a:spcPct val="114000"/>
                        </a:lnSpc>
                        <a:spcBef>
                          <a:spcPct val="0"/>
                        </a:spcBef>
                        <a:spcAft>
                          <a:spcPct val="0"/>
                        </a:spcAft>
                      </a:pPr>
                      <a:r>
                        <a:rPr lang="zh-CN" sz="700"/>
                        <a:t>切断</a:t>
                      </a:r>
                      <a:r>
                        <a:rPr lang="en-US" altLang="zh-CN" sz="700"/>
                        <a:t>auto-bias</a:t>
                      </a:r>
                      <a:r>
                        <a:rPr lang="zh-CN" altLang="en-US" sz="700"/>
                        <a:t>学习</a:t>
                      </a:r>
                      <a:r>
                        <a:rPr lang="en-US" altLang="zh-CN" sz="700"/>
                        <a:t>+</a:t>
                      </a:r>
                      <a:br>
                        <a:rPr lang="en-US" altLang="zh-CN" sz="700"/>
                      </a:br>
                      <a:r>
                        <a:rPr lang="en-US" altLang="zh-CN" sz="700"/>
                        <a:t>hold</a:t>
                      </a:r>
                      <a:r>
                        <a:rPr lang="zh-CN" altLang="en-US" sz="700"/>
                        <a:t>清零</a:t>
                      </a:r>
                      <a:r>
                        <a:rPr lang="en-US" altLang="zh-CN" sz="700"/>
                        <a:t>+</a:t>
                      </a:r>
                      <a:r>
                        <a:rPr lang="zh-CN" altLang="en-US" sz="700"/>
                        <a:t>同向输出</a:t>
                      </a:r>
                      <a:br>
                        <a:rPr lang="zh-CN" altLang="en-US" sz="700"/>
                      </a:br>
                      <a:r>
                        <a:rPr lang="zh-CN" sz="700"/>
                        <a:t>三者叠加的正反馈链</a:t>
                      </a:r>
                      <a:endParaRPr lang="zh-CN" sz="700"/>
                    </a:p>
                  </a:txBody>
                  <a:tcPr marL="68580" marR="68580" marT="0" marB="0" anchor="ctr" anchorCtr="0"/>
                </a:tc>
                <a:tc>
                  <a:txBody>
                    <a:bodyPr/>
                    <a:p>
                      <a:pPr algn="ctr">
                        <a:lnSpc>
                          <a:spcPct val="114000"/>
                        </a:lnSpc>
                        <a:spcBef>
                          <a:spcPct val="0"/>
                        </a:spcBef>
                        <a:spcAft>
                          <a:spcPct val="0"/>
                        </a:spcAft>
                      </a:pPr>
                      <a:r>
                        <a:rPr lang="zh-CN" sz="700"/>
                        <a:t>★★★★</a:t>
                      </a:r>
                      <a:endParaRPr lang="zh-CN" sz="700"/>
                    </a:p>
                  </a:txBody>
                  <a:tcPr marL="68580" marR="68580" marT="0" marB="0" anchor="ctr" anchorCtr="0"/>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533400" y="351155"/>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891B2"/>
                </a:solidFill>
                <a:latin typeface="MiSans" charset="-122"/>
                <a:ea typeface="MiSans" charset="-122"/>
                <a:cs typeface="MiSans" charset="-122"/>
                <a:sym typeface="MiSans" charset="-122"/>
              </a:rPr>
              <a:t>04 软件系统设计：</a:t>
            </a:r>
            <a:r>
              <a:rPr lang="zh-CN" altLang="en-US" sz="2600" b="1" i="0" u="none" strike="noStrike">
                <a:solidFill>
                  <a:srgbClr val="0891B2"/>
                </a:solidFill>
                <a:latin typeface="MiSans" charset="-122"/>
                <a:ea typeface="MiSans" charset="-122"/>
                <a:cs typeface="MiSans" charset="-122"/>
                <a:sym typeface="MiSans" charset="-122"/>
              </a:rPr>
              <a:t>附录</a:t>
            </a:r>
            <a:endParaRPr lang="zh-CN" altLang="en-US" sz="2600" b="1" i="0" u="none" strike="noStrike">
              <a:solidFill>
                <a:srgbClr val="0891B2"/>
              </a:solidFill>
              <a:latin typeface="MiSans" charset="-122"/>
              <a:ea typeface="MiSans" charset="-122"/>
              <a:cs typeface="MiSans" charset="-122"/>
              <a:sym typeface="MiSans" charset="-122"/>
            </a:endParaRPr>
          </a:p>
        </p:txBody>
      </p:sp>
      <p:graphicFrame>
        <p:nvGraphicFramePr>
          <p:cNvPr id="4" name="表格 3"/>
          <p:cNvGraphicFramePr/>
          <p:nvPr>
            <p:custDataLst>
              <p:tags r:id="rId1"/>
            </p:custDataLst>
          </p:nvPr>
        </p:nvGraphicFramePr>
        <p:xfrm>
          <a:off x="533400" y="1438910"/>
          <a:ext cx="11496040" cy="4134485"/>
        </p:xfrm>
        <a:graphic>
          <a:graphicData uri="http://schemas.openxmlformats.org/drawingml/2006/table">
            <a:tbl>
              <a:tblPr firstRow="1" bandRow="1">
                <a:tableStyleId>{6694F3C7-BCAB-4285-95E8-D237CD025DDE}</a:tableStyleId>
              </a:tblPr>
              <a:tblGrid>
                <a:gridCol w="1437005"/>
                <a:gridCol w="1437005"/>
                <a:gridCol w="1325880"/>
                <a:gridCol w="1483360"/>
                <a:gridCol w="1312545"/>
                <a:gridCol w="1293495"/>
                <a:gridCol w="1160145"/>
                <a:gridCol w="2046605"/>
              </a:tblGrid>
              <a:tr h="121285">
                <a:tc>
                  <a:txBody>
                    <a:bodyPr/>
                    <a:p>
                      <a:pPr algn="ctr">
                        <a:lnSpc>
                          <a:spcPct val="114000"/>
                        </a:lnSpc>
                        <a:spcBef>
                          <a:spcPct val="0"/>
                        </a:spcBef>
                        <a:spcAft>
                          <a:spcPct val="0"/>
                        </a:spcAft>
                      </a:pPr>
                      <a:r>
                        <a:rPr lang="zh-CN" sz="1400"/>
                        <a:t>阶段</a:t>
                      </a:r>
                      <a:endParaRPr lang="zh-CN" sz="1400"/>
                    </a:p>
                  </a:txBody>
                  <a:tcPr marL="68580" marR="68580" marT="0" marB="0" anchor="ctr" anchorCtr="0"/>
                </a:tc>
                <a:tc>
                  <a:txBody>
                    <a:bodyPr/>
                    <a:p>
                      <a:pPr algn="ctr">
                        <a:lnSpc>
                          <a:spcPct val="114000"/>
                        </a:lnSpc>
                        <a:spcBef>
                          <a:spcPct val="0"/>
                        </a:spcBef>
                        <a:spcAft>
                          <a:spcPct val="0"/>
                        </a:spcAft>
                      </a:pPr>
                      <a:r>
                        <a:rPr lang="en-US" altLang="zh-CN" sz="1400"/>
                        <a:t>Angle_Kp</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Angle_Kd</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Speed_Kp</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PWM_LIMIT</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Rescue_Kp</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LOOP_MS</a:t>
                      </a:r>
                      <a:endParaRPr lang="en-US" altLang="zh-CN" sz="1400"/>
                    </a:p>
                  </a:txBody>
                  <a:tcPr marL="68580" marR="68580" marT="0" marB="0" anchor="ctr" anchorCtr="0"/>
                </a:tc>
                <a:tc>
                  <a:txBody>
                    <a:bodyPr/>
                    <a:p>
                      <a:pPr algn="ctr">
                        <a:lnSpc>
                          <a:spcPct val="114000"/>
                        </a:lnSpc>
                        <a:spcBef>
                          <a:spcPct val="0"/>
                        </a:spcBef>
                        <a:spcAft>
                          <a:spcPct val="0"/>
                        </a:spcAft>
                      </a:pPr>
                      <a:r>
                        <a:rPr lang="zh-CN" sz="1400"/>
                        <a:t>核心特点</a:t>
                      </a:r>
                      <a:endParaRPr lang="zh-CN" sz="1400"/>
                    </a:p>
                  </a:txBody>
                  <a:tcPr marL="68580" marR="68580" marT="0" marB="0" anchor="ctr" anchorCtr="0"/>
                </a:tc>
              </a:tr>
              <a:tr h="128905">
                <a:tc>
                  <a:txBody>
                    <a:bodyPr/>
                    <a:p>
                      <a:pPr algn="ctr">
                        <a:lnSpc>
                          <a:spcPct val="114000"/>
                        </a:lnSpc>
                        <a:spcBef>
                          <a:spcPct val="0"/>
                        </a:spcBef>
                        <a:spcAft>
                          <a:spcPct val="0"/>
                        </a:spcAft>
                      </a:pPr>
                      <a:r>
                        <a:rPr lang="en-US" altLang="zh-CN" sz="1400"/>
                        <a:t>V1 </a:t>
                      </a:r>
                      <a:r>
                        <a:rPr lang="zh-CN" altLang="en-US" sz="1400"/>
                        <a:t>初版</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5.0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18.0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0.35</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6500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a:t>
                      </a:r>
                      <a:endParaRPr lang="en-US" altLang="zh-CN" sz="1400"/>
                    </a:p>
                  </a:txBody>
                  <a:tcPr marL="68580" marR="68580" marT="0" marB="0" anchor="ctr" anchorCtr="0"/>
                </a:tc>
                <a:tc>
                  <a:txBody>
                    <a:bodyPr/>
                    <a:p>
                      <a:pPr algn="ctr">
                        <a:lnSpc>
                          <a:spcPct val="114000"/>
                        </a:lnSpc>
                        <a:spcBef>
                          <a:spcPct val="0"/>
                        </a:spcBef>
                        <a:spcAft>
                          <a:spcPct val="0"/>
                        </a:spcAft>
                      </a:pPr>
                      <a:r>
                        <a:rPr lang="zh-CN" sz="1400"/>
                        <a:t>过于激进，方向问题</a:t>
                      </a:r>
                      <a:endParaRPr lang="zh-CN" sz="1400"/>
                    </a:p>
                  </a:txBody>
                  <a:tcPr marL="68580" marR="68580" marT="0" marB="0" anchor="ctr" anchorCtr="0"/>
                </a:tc>
              </a:tr>
              <a:tr h="129540">
                <a:tc>
                  <a:txBody>
                    <a:bodyPr/>
                    <a:p>
                      <a:pPr algn="ctr">
                        <a:lnSpc>
                          <a:spcPct val="114000"/>
                        </a:lnSpc>
                        <a:spcBef>
                          <a:spcPct val="0"/>
                        </a:spcBef>
                        <a:spcAft>
                          <a:spcPct val="0"/>
                        </a:spcAft>
                      </a:pPr>
                      <a:r>
                        <a:rPr lang="en-US" altLang="zh-CN" sz="1400"/>
                        <a:t>V3 </a:t>
                      </a:r>
                      <a:r>
                        <a:rPr lang="zh-CN" altLang="en-US" sz="1400"/>
                        <a:t>降速</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1.8</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7.0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0.55</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2500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a:t>
                      </a:r>
                      <a:endParaRPr lang="en-US" altLang="zh-CN" sz="1400"/>
                    </a:p>
                  </a:txBody>
                  <a:tcPr marL="68580" marR="68580" marT="0" marB="0" anchor="ctr" anchorCtr="0"/>
                </a:tc>
                <a:tc>
                  <a:txBody>
                    <a:bodyPr/>
                    <a:p>
                      <a:pPr algn="ctr">
                        <a:lnSpc>
                          <a:spcPct val="114000"/>
                        </a:lnSpc>
                        <a:spcBef>
                          <a:spcPct val="0"/>
                        </a:spcBef>
                        <a:spcAft>
                          <a:spcPct val="0"/>
                        </a:spcAft>
                      </a:pPr>
                      <a:r>
                        <a:rPr lang="zh-CN" sz="1400"/>
                        <a:t>太慢追不上</a:t>
                      </a:r>
                      <a:endParaRPr lang="zh-CN" sz="1400"/>
                    </a:p>
                  </a:txBody>
                  <a:tcPr marL="68580" marR="68580" marT="0" marB="0" anchor="ctr" anchorCtr="0"/>
                </a:tc>
              </a:tr>
              <a:tr h="129540">
                <a:tc>
                  <a:txBody>
                    <a:bodyPr/>
                    <a:p>
                      <a:pPr algn="ctr">
                        <a:lnSpc>
                          <a:spcPct val="114000"/>
                        </a:lnSpc>
                        <a:spcBef>
                          <a:spcPct val="0"/>
                        </a:spcBef>
                        <a:spcAft>
                          <a:spcPct val="0"/>
                        </a:spcAft>
                      </a:pPr>
                      <a:r>
                        <a:rPr lang="en-US" altLang="zh-CN" sz="1400"/>
                        <a:t>V4 </a:t>
                      </a:r>
                      <a:r>
                        <a:rPr lang="zh-CN" altLang="en-US" sz="1400"/>
                        <a:t>折中</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3.4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13.0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0.55</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a:t>
                      </a:r>
                      <a:endParaRPr lang="en-US" altLang="zh-CN" sz="1400"/>
                    </a:p>
                  </a:txBody>
                  <a:tcPr marL="68580" marR="68580" marT="0" marB="0" anchor="ctr" anchorCtr="0"/>
                </a:tc>
                <a:tc>
                  <a:txBody>
                    <a:bodyPr/>
                    <a:p>
                      <a:pPr algn="ctr">
                        <a:lnSpc>
                          <a:spcPct val="114000"/>
                        </a:lnSpc>
                        <a:spcBef>
                          <a:spcPct val="0"/>
                        </a:spcBef>
                        <a:spcAft>
                          <a:spcPct val="0"/>
                        </a:spcAft>
                      </a:pPr>
                      <a:r>
                        <a:rPr lang="zh-CN" sz="1400"/>
                        <a:t>方向正确，基本可用</a:t>
                      </a:r>
                      <a:endParaRPr lang="zh-CN" sz="1400"/>
                    </a:p>
                  </a:txBody>
                  <a:tcPr marL="68580" marR="68580" marT="0" marB="0" anchor="ctr" anchorCtr="0"/>
                </a:tc>
              </a:tr>
              <a:tr h="128905">
                <a:tc>
                  <a:txBody>
                    <a:bodyPr/>
                    <a:p>
                      <a:pPr algn="ctr">
                        <a:lnSpc>
                          <a:spcPct val="114000"/>
                        </a:lnSpc>
                        <a:spcBef>
                          <a:spcPct val="0"/>
                        </a:spcBef>
                        <a:spcAft>
                          <a:spcPct val="0"/>
                        </a:spcAft>
                      </a:pPr>
                      <a:r>
                        <a:rPr lang="en-US" altLang="zh-CN" sz="1400"/>
                        <a:t>V5 </a:t>
                      </a:r>
                      <a:r>
                        <a:rPr lang="zh-CN" altLang="en-US" sz="1400"/>
                        <a:t>重杆</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4.2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18.0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0.40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a:t>
                      </a:r>
                      <a:endParaRPr lang="en-US" altLang="zh-CN" sz="1400"/>
                    </a:p>
                  </a:txBody>
                  <a:tcPr marL="68580" marR="68580" marT="0" marB="0" anchor="ctr" anchorCtr="0"/>
                </a:tc>
                <a:tc>
                  <a:txBody>
                    <a:bodyPr/>
                    <a:p>
                      <a:pPr algn="ctr">
                        <a:lnSpc>
                          <a:spcPct val="114000"/>
                        </a:lnSpc>
                        <a:spcBef>
                          <a:spcPct val="0"/>
                        </a:spcBef>
                        <a:spcAft>
                          <a:spcPct val="0"/>
                        </a:spcAft>
                      </a:pPr>
                      <a:r>
                        <a:rPr lang="zh-CN" sz="1400"/>
                        <a:t>适配重杆物理特性</a:t>
                      </a:r>
                      <a:endParaRPr lang="zh-CN" sz="1400"/>
                    </a:p>
                  </a:txBody>
                  <a:tcPr marL="68580" marR="68580" marT="0" marB="0" anchor="ctr" anchorCtr="0"/>
                </a:tc>
              </a:tr>
              <a:tr h="129540">
                <a:tc>
                  <a:txBody>
                    <a:bodyPr/>
                    <a:p>
                      <a:pPr algn="ctr">
                        <a:lnSpc>
                          <a:spcPct val="114000"/>
                        </a:lnSpc>
                        <a:spcBef>
                          <a:spcPct val="0"/>
                        </a:spcBef>
                        <a:spcAft>
                          <a:spcPct val="0"/>
                        </a:spcAft>
                      </a:pPr>
                      <a:r>
                        <a:rPr lang="en-US" altLang="zh-CN" sz="1400"/>
                        <a:t>V8 </a:t>
                      </a:r>
                      <a:r>
                        <a:rPr lang="zh-CN" altLang="en-US" sz="1400"/>
                        <a:t>救杆</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4.0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36.0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1.10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7100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1.6</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a:t>
                      </a:r>
                      <a:endParaRPr lang="en-US" altLang="zh-CN" sz="1400"/>
                    </a:p>
                  </a:txBody>
                  <a:tcPr marL="68580" marR="68580" marT="0" marB="0" anchor="ctr" anchorCtr="0"/>
                </a:tc>
                <a:tc>
                  <a:txBody>
                    <a:bodyPr/>
                    <a:p>
                      <a:pPr algn="ctr">
                        <a:lnSpc>
                          <a:spcPct val="114000"/>
                        </a:lnSpc>
                        <a:spcBef>
                          <a:spcPct val="0"/>
                        </a:spcBef>
                        <a:spcAft>
                          <a:spcPct val="0"/>
                        </a:spcAft>
                      </a:pPr>
                      <a:r>
                        <a:rPr lang="zh-CN" sz="1400"/>
                        <a:t>非线性补偿引入</a:t>
                      </a:r>
                      <a:endParaRPr lang="zh-CN" sz="1400"/>
                    </a:p>
                  </a:txBody>
                  <a:tcPr marL="68580" marR="68580" marT="0" marB="0" anchor="ctr" anchorCtr="0"/>
                </a:tc>
              </a:tr>
              <a:tr h="129540">
                <a:tc>
                  <a:txBody>
                    <a:bodyPr/>
                    <a:p>
                      <a:pPr algn="ctr">
                        <a:lnSpc>
                          <a:spcPct val="114000"/>
                        </a:lnSpc>
                        <a:spcBef>
                          <a:spcPct val="0"/>
                        </a:spcBef>
                        <a:spcAft>
                          <a:spcPct val="0"/>
                        </a:spcAft>
                      </a:pPr>
                      <a:r>
                        <a:rPr lang="en-US" altLang="zh-CN" sz="1400"/>
                        <a:t>V9 </a:t>
                      </a:r>
                      <a:r>
                        <a:rPr lang="zh-CN" altLang="en-US" sz="1400"/>
                        <a:t>软区</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4.0/2.2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32/20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1.10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7100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1.6</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a:t>
                      </a:r>
                      <a:endParaRPr lang="en-US" altLang="zh-CN" sz="1400"/>
                    </a:p>
                  </a:txBody>
                  <a:tcPr marL="68580" marR="68580" marT="0" marB="0" anchor="ctr" anchorCtr="0"/>
                </a:tc>
                <a:tc>
                  <a:txBody>
                    <a:bodyPr/>
                    <a:p>
                      <a:pPr algn="ctr">
                        <a:lnSpc>
                          <a:spcPct val="114000"/>
                        </a:lnSpc>
                        <a:spcBef>
                          <a:spcPct val="0"/>
                        </a:spcBef>
                        <a:spcAft>
                          <a:spcPct val="0"/>
                        </a:spcAft>
                      </a:pPr>
                      <a:r>
                        <a:rPr lang="zh-CN" sz="1400"/>
                        <a:t>大小角度分离控制</a:t>
                      </a:r>
                      <a:endParaRPr lang="zh-CN" sz="1400"/>
                    </a:p>
                  </a:txBody>
                  <a:tcPr marL="68580" marR="68580" marT="0" marB="0" anchor="ctr" anchorCtr="0"/>
                </a:tc>
              </a:tr>
              <a:tr h="194310">
                <a:tc>
                  <a:txBody>
                    <a:bodyPr/>
                    <a:p>
                      <a:pPr algn="ctr">
                        <a:lnSpc>
                          <a:spcPct val="114000"/>
                        </a:lnSpc>
                        <a:spcBef>
                          <a:spcPct val="0"/>
                        </a:spcBef>
                        <a:spcAft>
                          <a:spcPct val="0"/>
                        </a:spcAft>
                      </a:pPr>
                      <a:r>
                        <a:rPr lang="en-US" altLang="zh-CN" sz="1400"/>
                        <a:t>V11 </a:t>
                      </a:r>
                      <a:r>
                        <a:rPr lang="zh-CN" altLang="en-US" sz="1400"/>
                        <a:t>起步</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4.0/2.8</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32/24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1.20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7190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a:t>
                      </a:r>
                      <a:endParaRPr lang="en-US" altLang="zh-CN" sz="1400"/>
                    </a:p>
                  </a:txBody>
                  <a:tcPr marL="68580" marR="68580" marT="0" marB="0" anchor="ctr" anchorCtr="0"/>
                </a:tc>
                <a:tc>
                  <a:txBody>
                    <a:bodyPr/>
                    <a:p>
                      <a:pPr algn="ctr">
                        <a:lnSpc>
                          <a:spcPct val="114000"/>
                        </a:lnSpc>
                        <a:spcBef>
                          <a:spcPct val="0"/>
                        </a:spcBef>
                        <a:spcAft>
                          <a:spcPct val="0"/>
                        </a:spcAft>
                      </a:pPr>
                      <a:r>
                        <a:rPr lang="zh-CN" sz="1400"/>
                        <a:t>最小输出补偿</a:t>
                      </a:r>
                      <a:r>
                        <a:rPr lang="en-US" altLang="zh-CN" sz="1400"/>
                        <a:t>+</a:t>
                      </a:r>
                      <a:r>
                        <a:rPr lang="zh-CN" altLang="en-US" sz="1400"/>
                        <a:t>分区阻尼</a:t>
                      </a:r>
                      <a:endParaRPr lang="zh-CN" altLang="en-US" sz="1400"/>
                    </a:p>
                  </a:txBody>
                  <a:tcPr marL="68580" marR="68580" marT="0" marB="0" anchor="ctr" anchorCtr="0"/>
                </a:tc>
              </a:tr>
              <a:tr h="193675">
                <a:tc>
                  <a:txBody>
                    <a:bodyPr/>
                    <a:p>
                      <a:pPr algn="ctr">
                        <a:lnSpc>
                          <a:spcPct val="114000"/>
                        </a:lnSpc>
                        <a:spcBef>
                          <a:spcPct val="0"/>
                        </a:spcBef>
                        <a:spcAft>
                          <a:spcPct val="0"/>
                        </a:spcAft>
                      </a:pPr>
                      <a:r>
                        <a:rPr lang="en-US" altLang="zh-CN" sz="1400"/>
                        <a:t>V14 </a:t>
                      </a:r>
                      <a:r>
                        <a:rPr lang="zh-CN" altLang="en-US" sz="1400"/>
                        <a:t>轻杆</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3.4/2.4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28/20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1.35</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6200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a:t>
                      </a:r>
                      <a:endParaRPr lang="en-US" altLang="zh-CN" sz="1400"/>
                    </a:p>
                  </a:txBody>
                  <a:tcPr marL="68580" marR="68580" marT="0" marB="0" anchor="ctr" anchorCtr="0"/>
                </a:tc>
                <a:tc>
                  <a:txBody>
                    <a:bodyPr/>
                    <a:p>
                      <a:pPr algn="ctr">
                        <a:lnSpc>
                          <a:spcPct val="114000"/>
                        </a:lnSpc>
                        <a:spcBef>
                          <a:spcPct val="0"/>
                        </a:spcBef>
                        <a:spcAft>
                          <a:spcPct val="0"/>
                        </a:spcAft>
                      </a:pPr>
                      <a:r>
                        <a:rPr lang="zh-CN" sz="1400"/>
                        <a:t>换成轻杆后全面降参</a:t>
                      </a:r>
                      <a:endParaRPr lang="zh-CN" sz="1400"/>
                    </a:p>
                  </a:txBody>
                  <a:tcPr marL="68580" marR="68580" marT="0" marB="0" anchor="ctr" anchorCtr="0"/>
                </a:tc>
              </a:tr>
              <a:tr h="129540">
                <a:tc>
                  <a:txBody>
                    <a:bodyPr/>
                    <a:p>
                      <a:pPr algn="ctr">
                        <a:lnSpc>
                          <a:spcPct val="114000"/>
                        </a:lnSpc>
                        <a:spcBef>
                          <a:spcPct val="0"/>
                        </a:spcBef>
                        <a:spcAft>
                          <a:spcPct val="0"/>
                        </a:spcAft>
                      </a:pPr>
                      <a:r>
                        <a:rPr lang="en-US" altLang="zh-CN" sz="1400"/>
                        <a:t>V17 </a:t>
                      </a:r>
                      <a:r>
                        <a:rPr lang="zh-CN" altLang="en-US" sz="1400"/>
                        <a:t>中断</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3.3/3.4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34/34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1.35</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5400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1.1</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a:t>
                      </a:r>
                      <a:endParaRPr lang="en-US" altLang="zh-CN" sz="1400"/>
                    </a:p>
                  </a:txBody>
                  <a:tcPr marL="68580" marR="68580" marT="0" marB="0" anchor="ctr" anchorCtr="0"/>
                </a:tc>
                <a:tc>
                  <a:txBody>
                    <a:bodyPr/>
                    <a:p>
                      <a:pPr algn="ctr">
                        <a:lnSpc>
                          <a:spcPct val="114000"/>
                        </a:lnSpc>
                        <a:spcBef>
                          <a:spcPct val="0"/>
                        </a:spcBef>
                        <a:spcAft>
                          <a:spcPct val="0"/>
                        </a:spcAft>
                      </a:pPr>
                      <a:r>
                        <a:rPr lang="zh-CN" sz="1400"/>
                        <a:t>定时中断架构重构</a:t>
                      </a:r>
                      <a:endParaRPr lang="zh-CN" sz="1400"/>
                    </a:p>
                  </a:txBody>
                  <a:tcPr marL="68580" marR="68580" marT="0" marB="0" anchor="ctr" anchorCtr="0"/>
                </a:tc>
              </a:tr>
              <a:tr h="194310">
                <a:tc>
                  <a:txBody>
                    <a:bodyPr/>
                    <a:p>
                      <a:pPr algn="ctr">
                        <a:lnSpc>
                          <a:spcPct val="114000"/>
                        </a:lnSpc>
                        <a:spcBef>
                          <a:spcPct val="0"/>
                        </a:spcBef>
                        <a:spcAft>
                          <a:spcPct val="0"/>
                        </a:spcAft>
                      </a:pPr>
                      <a:r>
                        <a:rPr lang="en-US" altLang="zh-CN" sz="1400"/>
                        <a:t>V20 </a:t>
                      </a:r>
                      <a:r>
                        <a:rPr lang="zh-CN" altLang="en-US" sz="1400"/>
                        <a:t>倒杆</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4.0/3.6</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42/40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1.10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6200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1.6</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falling_away</a:t>
                      </a:r>
                      <a:r>
                        <a:rPr lang="zh-CN" altLang="en-US" sz="1400"/>
                        <a:t>相位判断</a:t>
                      </a:r>
                      <a:endParaRPr lang="zh-CN" altLang="en-US" sz="1400"/>
                    </a:p>
                  </a:txBody>
                  <a:tcPr marL="68580" marR="68580" marT="0" marB="0" anchor="ctr" anchorCtr="0"/>
                </a:tc>
              </a:tr>
              <a:tr h="194310">
                <a:tc>
                  <a:txBody>
                    <a:bodyPr/>
                    <a:p>
                      <a:pPr algn="ctr">
                        <a:lnSpc>
                          <a:spcPct val="114000"/>
                        </a:lnSpc>
                        <a:spcBef>
                          <a:spcPct val="0"/>
                        </a:spcBef>
                        <a:spcAft>
                          <a:spcPct val="0"/>
                        </a:spcAft>
                      </a:pPr>
                      <a:r>
                        <a:rPr lang="en-US" altLang="zh-CN" sz="1400"/>
                        <a:t>V21 Hold</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4.2/2.4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48/24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1.10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6200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a:t>
                      </a:r>
                      <a:endParaRPr lang="en-US" altLang="zh-CN" sz="1400"/>
                    </a:p>
                  </a:txBody>
                  <a:tcPr marL="68580" marR="68580" marT="0" marB="0" anchor="ctr" anchorCtr="0"/>
                </a:tc>
                <a:tc>
                  <a:txBody>
                    <a:bodyPr/>
                    <a:p>
                      <a:pPr algn="ctr">
                        <a:lnSpc>
                          <a:spcPct val="114000"/>
                        </a:lnSpc>
                        <a:spcBef>
                          <a:spcPct val="0"/>
                        </a:spcBef>
                        <a:spcAft>
                          <a:spcPct val="0"/>
                        </a:spcAft>
                      </a:pPr>
                      <a:r>
                        <a:rPr lang="zh-CN" sz="1400"/>
                        <a:t>防抖</a:t>
                      </a:r>
                      <a:r>
                        <a:rPr lang="en-US" altLang="zh-CN" sz="1400"/>
                        <a:t>Hold</a:t>
                      </a:r>
                      <a:r>
                        <a:rPr lang="zh-CN" altLang="en-US" sz="1400"/>
                        <a:t>区</a:t>
                      </a:r>
                      <a:r>
                        <a:rPr lang="en-US" altLang="zh-CN" sz="1400"/>
                        <a:t>+</a:t>
                      </a:r>
                      <a:r>
                        <a:rPr lang="zh-CN" altLang="en-US" sz="1400"/>
                        <a:t>渐进死区</a:t>
                      </a:r>
                      <a:endParaRPr lang="zh-CN" altLang="en-US" sz="1400"/>
                    </a:p>
                  </a:txBody>
                  <a:tcPr marL="68580" marR="68580" marT="0" marB="0" anchor="ctr" anchorCtr="0"/>
                </a:tc>
              </a:tr>
              <a:tr h="128905">
                <a:tc>
                  <a:txBody>
                    <a:bodyPr/>
                    <a:p>
                      <a:pPr algn="ctr">
                        <a:lnSpc>
                          <a:spcPct val="114000"/>
                        </a:lnSpc>
                        <a:spcBef>
                          <a:spcPct val="0"/>
                        </a:spcBef>
                        <a:spcAft>
                          <a:spcPct val="0"/>
                        </a:spcAft>
                      </a:pPr>
                      <a:r>
                        <a:rPr lang="en-US" altLang="zh-CN" sz="1400"/>
                        <a:t>V33 </a:t>
                      </a:r>
                      <a:r>
                        <a:rPr lang="zh-CN" altLang="en-US" sz="1400"/>
                        <a:t>统一</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4.2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48.0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1.10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6200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a:t>
                      </a:r>
                      <a:endParaRPr lang="en-US" altLang="zh-CN" sz="1400"/>
                    </a:p>
                  </a:txBody>
                  <a:tcPr marL="68580" marR="68580" marT="0" marB="0" anchor="ctr" anchorCtr="0"/>
                </a:tc>
                <a:tc>
                  <a:txBody>
                    <a:bodyPr/>
                    <a:p>
                      <a:pPr algn="ctr">
                        <a:lnSpc>
                          <a:spcPct val="114000"/>
                        </a:lnSpc>
                        <a:spcBef>
                          <a:spcPct val="0"/>
                        </a:spcBef>
                        <a:spcAft>
                          <a:spcPct val="0"/>
                        </a:spcAft>
                      </a:pPr>
                      <a:r>
                        <a:rPr lang="zh-CN" sz="1400"/>
                        <a:t>删除软区统一策略</a:t>
                      </a:r>
                      <a:endParaRPr lang="zh-CN" sz="1400"/>
                    </a:p>
                  </a:txBody>
                  <a:tcPr marL="68580" marR="68580" marT="0" marB="0" anchor="ctr" anchorCtr="0"/>
                </a:tc>
              </a:tr>
              <a:tr h="129540">
                <a:tc>
                  <a:txBody>
                    <a:bodyPr/>
                    <a:p>
                      <a:pPr algn="ctr">
                        <a:lnSpc>
                          <a:spcPct val="114000"/>
                        </a:lnSpc>
                        <a:spcBef>
                          <a:spcPct val="0"/>
                        </a:spcBef>
                        <a:spcAft>
                          <a:spcPct val="0"/>
                        </a:spcAft>
                      </a:pPr>
                      <a:r>
                        <a:rPr lang="en-US" altLang="zh-CN" sz="1400"/>
                        <a:t>V34 </a:t>
                      </a:r>
                      <a:r>
                        <a:rPr lang="zh-CN" altLang="en-US" sz="1400"/>
                        <a:t>防倒</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4.2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48.0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1.10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6200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a:t>
                      </a:r>
                      <a:endParaRPr lang="en-US" altLang="zh-CN" sz="1400"/>
                    </a:p>
                  </a:txBody>
                  <a:tcPr marL="68580" marR="68580" marT="0" marB="0" anchor="ctr" anchorCtr="0"/>
                </a:tc>
                <a:tc>
                  <a:txBody>
                    <a:bodyPr/>
                    <a:p>
                      <a:pPr algn="ctr">
                        <a:lnSpc>
                          <a:spcPct val="114000"/>
                        </a:lnSpc>
                        <a:spcBef>
                          <a:spcPct val="0"/>
                        </a:spcBef>
                        <a:spcAft>
                          <a:spcPct val="0"/>
                        </a:spcAft>
                      </a:pPr>
                      <a:r>
                        <a:rPr lang="zh-CN" sz="1400"/>
                        <a:t>防倒优先</a:t>
                      </a:r>
                      <a:r>
                        <a:rPr lang="en-US" altLang="zh-CN" sz="1400"/>
                        <a:t>+</a:t>
                      </a:r>
                      <a:r>
                        <a:rPr lang="zh-CN" altLang="en-US" sz="1400"/>
                        <a:t>漂移检测</a:t>
                      </a:r>
                      <a:endParaRPr lang="zh-CN" altLang="en-US" sz="1400"/>
                    </a:p>
                  </a:txBody>
                  <a:tcPr marL="68580" marR="68580" marT="0" marB="0" anchor="ctr" anchorCtr="0"/>
                </a:tc>
              </a:tr>
              <a:tr h="129540">
                <a:tc>
                  <a:txBody>
                    <a:bodyPr/>
                    <a:p>
                      <a:pPr algn="ctr">
                        <a:lnSpc>
                          <a:spcPct val="114000"/>
                        </a:lnSpc>
                        <a:spcBef>
                          <a:spcPct val="0"/>
                        </a:spcBef>
                        <a:spcAft>
                          <a:spcPct val="0"/>
                        </a:spcAft>
                      </a:pPr>
                      <a:r>
                        <a:rPr lang="en-US" altLang="zh-CN" sz="1400"/>
                        <a:t>V36 Kick</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48.0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1.10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6200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Kick</a:t>
                      </a:r>
                      <a:r>
                        <a:rPr lang="zh-CN" altLang="en-US" sz="1400"/>
                        <a:t>脉冲状态机</a:t>
                      </a:r>
                      <a:endParaRPr lang="zh-CN" altLang="en-US" sz="1400"/>
                    </a:p>
                  </a:txBody>
                  <a:tcPr marL="68580" marR="68580" marT="0" marB="0" anchor="ctr" anchorCtr="0"/>
                </a:tc>
              </a:tr>
              <a:tr h="193675">
                <a:tc>
                  <a:txBody>
                    <a:bodyPr/>
                    <a:p>
                      <a:pPr algn="ctr">
                        <a:lnSpc>
                          <a:spcPct val="114000"/>
                        </a:lnSpc>
                        <a:spcBef>
                          <a:spcPct val="0"/>
                        </a:spcBef>
                        <a:spcAft>
                          <a:spcPct val="0"/>
                        </a:spcAft>
                      </a:pPr>
                      <a:r>
                        <a:rPr lang="en-US" altLang="zh-CN" sz="1400"/>
                        <a:t>V39 </a:t>
                      </a:r>
                      <a:r>
                        <a:rPr lang="zh-CN" altLang="en-US" sz="1400"/>
                        <a:t>修复</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4.2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48.0</a:t>
                      </a:r>
                      <a:endParaRPr lang="en-US" altLang="zh-CN" sz="1400"/>
                    </a:p>
                  </a:txBody>
                  <a:tcPr marL="68580" marR="68580" marT="0" marB="0" anchor="ctr" anchorCtr="0"/>
                </a:tc>
                <a:tc>
                  <a:txBody>
                    <a:bodyPr/>
                    <a:p>
                      <a:pPr algn="ctr">
                        <a:lnSpc>
                          <a:spcPct val="114000"/>
                        </a:lnSpc>
                        <a:spcBef>
                          <a:spcPct val="0"/>
                        </a:spcBef>
                        <a:spcAft>
                          <a:spcPct val="0"/>
                        </a:spcAft>
                      </a:pPr>
                      <a:r>
                        <a:rPr lang="zh-CN" sz="1400"/>
                        <a:t>动态</a:t>
                      </a:r>
                      <a:r>
                        <a:rPr lang="en-US" altLang="zh-CN" sz="1400"/>
                        <a:t>5</a:t>
                      </a:r>
                      <a:r>
                        <a:rPr lang="zh-CN" altLang="en-US" sz="1400"/>
                        <a:t>种</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6200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a:t>
                      </a:r>
                      <a:endParaRPr lang="en-US" altLang="zh-CN" sz="1400"/>
                    </a:p>
                  </a:txBody>
                  <a:tcPr marL="68580" marR="68580" marT="0" marB="0" anchor="ctr" anchorCtr="0"/>
                </a:tc>
                <a:tc>
                  <a:txBody>
                    <a:bodyPr/>
                    <a:p>
                      <a:pPr algn="ctr">
                        <a:lnSpc>
                          <a:spcPct val="114000"/>
                        </a:lnSpc>
                        <a:spcBef>
                          <a:spcPct val="0"/>
                        </a:spcBef>
                        <a:spcAft>
                          <a:spcPct val="0"/>
                        </a:spcAft>
                      </a:pPr>
                      <a:r>
                        <a:rPr lang="zh-CN" sz="1400"/>
                        <a:t>修复正反馈</a:t>
                      </a:r>
                      <a:r>
                        <a:rPr lang="en-US" altLang="zh-CN" sz="1400"/>
                        <a:t>+</a:t>
                      </a:r>
                      <a:r>
                        <a:rPr lang="zh-CN" altLang="en-US" sz="1400"/>
                        <a:t>强制回拉</a:t>
                      </a:r>
                      <a:endParaRPr lang="zh-CN" altLang="en-US" sz="1400"/>
                    </a:p>
                  </a:txBody>
                  <a:tcPr marL="68580" marR="68580" marT="0" marB="0" anchor="ctr" anchorCtr="0"/>
                </a:tc>
              </a:tr>
              <a:tr h="129540">
                <a:tc>
                  <a:txBody>
                    <a:bodyPr/>
                    <a:p>
                      <a:pPr algn="ctr">
                        <a:lnSpc>
                          <a:spcPct val="114000"/>
                        </a:lnSpc>
                        <a:spcBef>
                          <a:spcPct val="0"/>
                        </a:spcBef>
                        <a:spcAft>
                          <a:spcPct val="0"/>
                        </a:spcAft>
                      </a:pPr>
                      <a:r>
                        <a:rPr lang="zh-CN" sz="1400"/>
                        <a:t>最终版</a:t>
                      </a:r>
                      <a:endParaRPr lang="zh-CN" sz="1400"/>
                    </a:p>
                  </a:txBody>
                  <a:tcPr marL="68580" marR="68580" marT="0" marB="0" anchor="ctr" anchorCtr="0"/>
                </a:tc>
                <a:tc>
                  <a:txBody>
                    <a:bodyPr/>
                    <a:p>
                      <a:pPr algn="ctr">
                        <a:lnSpc>
                          <a:spcPct val="114000"/>
                        </a:lnSpc>
                        <a:spcBef>
                          <a:spcPct val="0"/>
                        </a:spcBef>
                        <a:spcAft>
                          <a:spcPct val="0"/>
                        </a:spcAft>
                      </a:pPr>
                      <a:r>
                        <a:rPr lang="en-US" altLang="zh-CN" sz="1400"/>
                        <a:t>4.2</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48.0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0.04~2.20</a:t>
                      </a:r>
                      <a:r>
                        <a:rPr lang="zh-CN" altLang="en-US" sz="1400"/>
                        <a:t>动态</a:t>
                      </a:r>
                      <a:endParaRPr lang="zh-CN" altLang="en-US" sz="1400"/>
                    </a:p>
                  </a:txBody>
                  <a:tcPr marL="68580" marR="68580" marT="0" marB="0" anchor="ctr" anchorCtr="0"/>
                </a:tc>
                <a:tc>
                  <a:txBody>
                    <a:bodyPr/>
                    <a:p>
                      <a:pPr algn="ctr">
                        <a:lnSpc>
                          <a:spcPct val="114000"/>
                        </a:lnSpc>
                        <a:spcBef>
                          <a:spcPct val="0"/>
                        </a:spcBef>
                        <a:spcAft>
                          <a:spcPct val="0"/>
                        </a:spcAft>
                      </a:pPr>
                      <a:r>
                        <a:rPr lang="en-US" altLang="zh-CN" sz="1400"/>
                        <a:t>6200</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2.4</a:t>
                      </a:r>
                      <a:endParaRPr lang="en-US" altLang="zh-CN" sz="1400"/>
                    </a:p>
                  </a:txBody>
                  <a:tcPr marL="68580" marR="68580" marT="0" marB="0" anchor="ctr" anchorCtr="0"/>
                </a:tc>
                <a:tc>
                  <a:txBody>
                    <a:bodyPr/>
                    <a:p>
                      <a:pPr algn="ctr">
                        <a:lnSpc>
                          <a:spcPct val="114000"/>
                        </a:lnSpc>
                        <a:spcBef>
                          <a:spcPct val="0"/>
                        </a:spcBef>
                        <a:spcAft>
                          <a:spcPct val="0"/>
                        </a:spcAft>
                      </a:pPr>
                      <a:r>
                        <a:rPr lang="en-US" altLang="zh-CN" sz="1400"/>
                        <a:t>2</a:t>
                      </a:r>
                      <a:endParaRPr lang="en-US" altLang="zh-CN" sz="1400"/>
                    </a:p>
                  </a:txBody>
                  <a:tcPr marL="68580" marR="68580" marT="0" marB="0" anchor="ctr" anchorCtr="0"/>
                </a:tc>
                <a:tc>
                  <a:txBody>
                    <a:bodyPr/>
                    <a:p>
                      <a:pPr algn="ctr">
                        <a:lnSpc>
                          <a:spcPct val="114000"/>
                        </a:lnSpc>
                        <a:spcBef>
                          <a:spcPct val="0"/>
                        </a:spcBef>
                        <a:spcAft>
                          <a:spcPct val="0"/>
                        </a:spcAft>
                      </a:pPr>
                      <a:r>
                        <a:rPr lang="zh-CN" sz="1400"/>
                        <a:t>复合策略全貌</a:t>
                      </a:r>
                      <a:endParaRPr lang="zh-CN" sz="1400"/>
                    </a:p>
                  </a:txBody>
                  <a:tcPr marL="68580" marR="68580" marT="0" marB="0" anchor="ctr" anchorCtr="0"/>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4354195" y="1160145"/>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参数整定方法</a:t>
            </a:r>
            <a:endPar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762000" y="1938655"/>
            <a:ext cx="10668000" cy="1016000"/>
          </a:xfrm>
          <a:prstGeom prst="roundRect">
            <a:avLst>
              <a:gd name="adj" fmla="val 0"/>
            </a:avLst>
          </a:prstGeom>
          <a:noFill/>
          <a:ln w="12700" cap="flat" cmpd="sng">
            <a:solidFill>
              <a:schemeClr val="accent1">
                <a:alpha val="60000"/>
              </a:scheme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5" name="AutoShape 5"/>
          <p:cNvSpPr/>
          <p:nvPr/>
        </p:nvSpPr>
        <p:spPr>
          <a:xfrm>
            <a:off x="762000" y="1938655"/>
            <a:ext cx="76200" cy="10160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6" name="AutoShape 6"/>
          <p:cNvSpPr/>
          <p:nvPr/>
        </p:nvSpPr>
        <p:spPr>
          <a:xfrm>
            <a:off x="1016000" y="2040255"/>
            <a:ext cx="10160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核心原则：先内环，后外环。</a:t>
            </a:r>
            <a:r>
              <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内环是系统稳定的基石，若内环参数未调试至最佳状态，外环无论如何调整都无法实现稳定平衡，甚至会引发系统剧烈震荡。</a:t>
            </a:r>
            <a:endPar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1"/>
            </p:custDataLst>
          </p:nvPr>
        </p:nvSpPr>
        <p:spPr>
          <a:xfrm>
            <a:off x="762000" y="3048000"/>
            <a:ext cx="5270500" cy="29210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solidFill>
                <a:schemeClr val="tx1"/>
              </a:solidFill>
              <a:latin typeface="微软雅黑" panose="020B0503020204020204" charset="-122"/>
              <a:ea typeface="微软雅黑" panose="020B0503020204020204" charset="-122"/>
            </a:endParaRPr>
          </a:p>
        </p:txBody>
      </p:sp>
      <p:sp>
        <p:nvSpPr>
          <p:cNvPr id="9" name="AutoShape 9"/>
          <p:cNvSpPr/>
          <p:nvPr>
            <p:custDataLst>
              <p:tags r:id="rId2"/>
            </p:custDataLst>
          </p:nvPr>
        </p:nvSpPr>
        <p:spPr>
          <a:xfrm>
            <a:off x="952500" y="3238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STEP 01 · 整定内环速度 PI</a:t>
            </a:r>
            <a:endParaRPr lang="en-US" sz="20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0" name="Connector 10"/>
          <p:cNvCxnSpPr/>
          <p:nvPr>
            <p:custDataLst>
              <p:tags r:id="rId3"/>
            </p:custDataLst>
          </p:nvPr>
        </p:nvCxnSpPr>
        <p:spPr>
          <a:xfrm rot="-8929">
            <a:off x="952508" y="3803650"/>
            <a:ext cx="4889500" cy="12700"/>
          </a:xfrm>
          <a:prstGeom prst="straightConnector1">
            <a:avLst/>
          </a:prstGeom>
          <a:noFill/>
          <a:ln w="12700" cap="flat" cmpd="sng">
            <a:solidFill>
              <a:srgbClr val="FFFFFF">
                <a:alpha val="20000"/>
              </a:srgbClr>
            </a:solidFill>
            <a:prstDash val="dash"/>
            <a:round/>
            <a:headEnd type="none" w="med" len="med"/>
            <a:tailEnd type="none" w="med" len="med"/>
          </a:ln>
        </p:spPr>
      </p:cxnSp>
      <p:sp>
        <p:nvSpPr>
          <p:cNvPr id="11" name="AutoShape 11"/>
          <p:cNvSpPr/>
          <p:nvPr>
            <p:custDataLst>
              <p:tags r:id="rId4"/>
            </p:custDataLst>
          </p:nvPr>
        </p:nvSpPr>
        <p:spPr>
          <a:xfrm>
            <a:off x="952500" y="4000500"/>
            <a:ext cx="4889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01. 初始化：</a:t>
            </a:r>
            <a:r>
              <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关闭外环角度控制（Kp_ang=0, Kd_ang=0），手动设定固定的目标速度值。</a:t>
            </a: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marL="0" indent="0" algn="l">
              <a:lnSpc>
                <a:spcPct val="125000"/>
              </a:lnSpc>
            </a:pPr>
            <a:r>
              <a:rPr lang="en-US" sz="14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02. 调比例项 Kp：</a:t>
            </a:r>
            <a:r>
              <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逐步增大Kp_vel，使电机对指令快速响应，并观察到转速出现轻微超冲。</a:t>
            </a:r>
            <a:endPar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25000"/>
              </a:lnSpc>
            </a:pPr>
            <a:r>
              <a:rPr lang="en-US" sz="14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03. 调积分项 $K_i$：</a:t>
            </a:r>
            <a:r>
              <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增大Ki_vel直至实际速度稳定在目标值的±10范围内，消除静差。</a:t>
            </a:r>
            <a:endPar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2" name="AutoShape 12"/>
          <p:cNvSpPr/>
          <p:nvPr>
            <p:custDataLst>
              <p:tags r:id="rId5"/>
            </p:custDataLst>
          </p:nvPr>
        </p:nvSpPr>
        <p:spPr>
          <a:xfrm>
            <a:off x="6286500" y="3048000"/>
            <a:ext cx="5270500" cy="29210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solidFill>
                <a:schemeClr val="tx1"/>
              </a:solidFill>
              <a:latin typeface="微软雅黑" panose="020B0503020204020204" charset="-122"/>
              <a:ea typeface="微软雅黑" panose="020B0503020204020204" charset="-122"/>
            </a:endParaRPr>
          </a:p>
        </p:txBody>
      </p:sp>
      <p:sp>
        <p:nvSpPr>
          <p:cNvPr id="13" name="AutoShape 13"/>
          <p:cNvSpPr/>
          <p:nvPr>
            <p:custDataLst>
              <p:tags r:id="rId6"/>
            </p:custDataLst>
          </p:nvPr>
        </p:nvSpPr>
        <p:spPr>
          <a:xfrm>
            <a:off x="6286500" y="3048000"/>
            <a:ext cx="5270500" cy="508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solidFill>
                <a:schemeClr val="tx1"/>
              </a:solidFill>
              <a:latin typeface="微软雅黑" panose="020B0503020204020204" charset="-122"/>
              <a:ea typeface="微软雅黑" panose="020B0503020204020204" charset="-122"/>
            </a:endParaRPr>
          </a:p>
        </p:txBody>
      </p:sp>
      <p:sp>
        <p:nvSpPr>
          <p:cNvPr id="14" name="AutoShape 14"/>
          <p:cNvSpPr/>
          <p:nvPr>
            <p:custDataLst>
              <p:tags r:id="rId7"/>
            </p:custDataLst>
          </p:nvPr>
        </p:nvSpPr>
        <p:spPr>
          <a:xfrm>
            <a:off x="6477000" y="3238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STEP 02 · 整定外环角度 PD</a:t>
            </a:r>
            <a:endParaRPr lang="en-US" sz="20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5" name="Connector 15"/>
          <p:cNvCxnSpPr/>
          <p:nvPr>
            <p:custDataLst>
              <p:tags r:id="rId8"/>
            </p:custDataLst>
          </p:nvPr>
        </p:nvCxnSpPr>
        <p:spPr>
          <a:xfrm rot="-8929">
            <a:off x="6477008" y="3803650"/>
            <a:ext cx="4889500" cy="12700"/>
          </a:xfrm>
          <a:prstGeom prst="straightConnector1">
            <a:avLst/>
          </a:prstGeom>
          <a:noFill/>
          <a:ln w="12700" cap="flat" cmpd="sng">
            <a:solidFill>
              <a:srgbClr val="FFFFFF">
                <a:alpha val="20000"/>
              </a:srgbClr>
            </a:solidFill>
            <a:prstDash val="dash"/>
            <a:round/>
            <a:headEnd type="none" w="med" len="med"/>
            <a:tailEnd type="none" w="med" len="med"/>
          </a:ln>
        </p:spPr>
      </p:cxnSp>
      <p:sp>
        <p:nvSpPr>
          <p:cNvPr id="16" name="AutoShape 16"/>
          <p:cNvSpPr/>
          <p:nvPr>
            <p:custDataLst>
              <p:tags r:id="rId9"/>
            </p:custDataLst>
          </p:nvPr>
        </p:nvSpPr>
        <p:spPr>
          <a:xfrm>
            <a:off x="6477000" y="4000500"/>
            <a:ext cx="4889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01. 比例先行：</a:t>
            </a:r>
            <a:r>
              <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保持内环参数不变，置Kd_ang=0，增大Kp_ang至摆杆能拉回平衡位但有小幅摆动。</a:t>
            </a: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marL="0" indent="0" algn="l">
              <a:lnSpc>
                <a:spcPct val="125000"/>
              </a:lnSpc>
            </a:pPr>
            <a:r>
              <a:rPr lang="en-US" sz="14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02. 微分抑振：</a:t>
            </a:r>
            <a:r>
              <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缓慢增大Kd_ang以抑制摆动，使摆杆平稳回中，不产生震荡。</a:t>
            </a:r>
            <a:endPar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25000"/>
              </a:lnSpc>
            </a:pPr>
            <a:r>
              <a:rPr lang="en-US" sz="14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03. 落地微调：</a:t>
            </a:r>
            <a:r>
              <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实际落地后，可将Kp_ang再增大10%-20%，以克服地面摩擦力影响。</a:t>
            </a:r>
            <a:endParaRPr lang="en-US" sz="1400" b="0" i="0" u="none" strike="noStrike">
              <a:solidFill>
                <a:schemeClr val="tx1">
                  <a:alpha val="85098"/>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7" name="AutoShape 17"/>
          <p:cNvSpPr/>
          <p:nvPr/>
        </p:nvSpPr>
        <p:spPr>
          <a:xfrm>
            <a:off x="762000" y="6223000"/>
            <a:ext cx="10668000" cy="3810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solidFill>
                <a:schemeClr val="tx1"/>
              </a:solidFill>
              <a:latin typeface="微软雅黑" panose="020B0503020204020204" charset="-122"/>
              <a:ea typeface="微软雅黑" panose="020B0503020204020204" charset="-122"/>
            </a:endParaRPr>
          </a:p>
        </p:txBody>
      </p:sp>
      <p:sp>
        <p:nvSpPr>
          <p:cNvPr id="18" name="AutoShape 18"/>
          <p:cNvSpPr/>
          <p:nvPr/>
        </p:nvSpPr>
        <p:spPr>
          <a:xfrm>
            <a:off x="762000" y="6273800"/>
            <a:ext cx="10668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chemeClr val="tx1">
                    <a:alpha val="90196"/>
                  </a:schemeClr>
                </a:solidFill>
                <a:latin typeface="微软雅黑" panose="020B0503020204020204" charset="-122"/>
                <a:ea typeface="微软雅黑" panose="020B0503020204020204" charset="-122"/>
                <a:cs typeface="Noto Sans SC" panose="020B0200000000000000" charset="-122"/>
                <a:sym typeface="Noto Sans SC" panose="020B0200000000000000" charset="-122"/>
              </a:rPr>
              <a:t>关键提示：参数整定需反复迭代，切勿一次性大幅修改参数，以免损坏设备或引发危险。</a:t>
            </a:r>
            <a:endParaRPr lang="en-US" sz="1300" b="0" i="0" u="none" strike="noStrike">
              <a:solidFill>
                <a:schemeClr val="tx1">
                  <a:alpha val="90196"/>
                </a:scheme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 name="AutoShape 3"/>
          <p:cNvSpPr/>
          <p:nvPr/>
        </p:nvSpPr>
        <p:spPr>
          <a:xfrm>
            <a:off x="698500" y="381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05 实验调试与结果分析</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05 实验调试与结果分析</a:t>
            </a:r>
            <a:endParaRPr lang="en-US" sz="1100"/>
          </a:p>
        </p:txBody>
      </p:sp>
      <p:sp>
        <p:nvSpPr>
          <p:cNvPr id="5" name="AutoShape 5"/>
          <p:cNvSpPr/>
          <p:nvPr/>
        </p:nvSpPr>
        <p:spPr>
          <a:xfrm>
            <a:off x="761963" y="5452455"/>
            <a:ext cx="355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基于Wheeltec二阶直线倒立摆实验平台，通过实物运行与参数迭代，验证了算法在处理死区、振荡及漂移问题上的有效性。</a:t>
            </a:r>
            <a:endParaRPr lang="en-US" sz="1100"/>
          </a:p>
        </p:txBody>
      </p:sp>
      <p:cxnSp>
        <p:nvCxnSpPr>
          <p:cNvPr id="6" name="Connector 6"/>
          <p:cNvCxnSpPr/>
          <p:nvPr/>
        </p:nvCxnSpPr>
        <p:spPr>
          <a:xfrm rot="5390450">
            <a:off x="2540000" y="3742569"/>
            <a:ext cx="4572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7" name="AutoShape 7"/>
          <p:cNvSpPr/>
          <p:nvPr>
            <p:custDataLst>
              <p:tags r:id="rId2"/>
            </p:custDataLst>
          </p:nvPr>
        </p:nvSpPr>
        <p:spPr>
          <a:xfrm>
            <a:off x="5080000" y="1462910"/>
            <a:ext cx="6350000" cy="1460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8" name="AutoShape 8"/>
          <p:cNvSpPr/>
          <p:nvPr>
            <p:custDataLst>
              <p:tags r:id="rId3"/>
            </p:custDataLst>
          </p:nvPr>
        </p:nvSpPr>
        <p:spPr>
          <a:xfrm>
            <a:off x="5080000" y="1462910"/>
            <a:ext cx="76200" cy="1460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custDataLst>
              <p:tags r:id="rId4"/>
            </p:custDataLst>
          </p:nvPr>
        </p:nvSpPr>
        <p:spPr>
          <a:xfrm>
            <a:off x="5334000" y="1589910"/>
            <a:ext cx="584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问题一：小角度时有输出但车不动</a:t>
            </a:r>
            <a:endParaRPr lang="en-US" sz="1100"/>
          </a:p>
        </p:txBody>
      </p:sp>
      <p:cxnSp>
        <p:nvCxnSpPr>
          <p:cNvPr id="10" name="Connector 10"/>
          <p:cNvCxnSpPr/>
          <p:nvPr>
            <p:custDataLst>
              <p:tags r:id="rId5"/>
            </p:custDataLst>
          </p:nvPr>
        </p:nvCxnSpPr>
        <p:spPr>
          <a:xfrm rot="-7473">
            <a:off x="5334025" y="1990551"/>
            <a:ext cx="5842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1" name="AutoShape 11"/>
          <p:cNvSpPr/>
          <p:nvPr>
            <p:custDataLst>
              <p:tags r:id="rId6"/>
            </p:custDataLst>
          </p:nvPr>
        </p:nvSpPr>
        <p:spPr>
          <a:xfrm>
            <a:off x="5334000" y="2097910"/>
            <a:ext cx="584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现象为PWM有输出但小车静止、摆杆倾倒，核心因电机静摩擦存在</a:t>
            </a:r>
            <a:r>
              <a:rPr lang="en-US" sz="13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执行机构死区</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。解决方案是增加最小输出补偿算法，设定PWM阈值，确保驱动信号能有效克服静摩擦。</a:t>
            </a:r>
            <a:endParaRPr lang="en-US" sz="1100"/>
          </a:p>
        </p:txBody>
      </p:sp>
      <p:pic>
        <p:nvPicPr>
          <p:cNvPr id="22" name="图片 21" descr="post_object_image_3284527892"/>
          <p:cNvPicPr>
            <a:picLocks noChangeAspect="1"/>
          </p:cNvPicPr>
          <p:nvPr/>
        </p:nvPicPr>
        <p:blipFill>
          <a:blip r:embed="rId7"/>
          <a:stretch>
            <a:fillRect/>
          </a:stretch>
        </p:blipFill>
        <p:spPr>
          <a:xfrm>
            <a:off x="1087444" y="1397056"/>
            <a:ext cx="2905111" cy="3873481"/>
          </a:xfrm>
          <a:prstGeom prst="rect">
            <a:avLst/>
          </a:prstGeom>
        </p:spPr>
      </p:pic>
      <p:sp>
        <p:nvSpPr>
          <p:cNvPr id="4" name="AutoShape 12"/>
          <p:cNvSpPr/>
          <p:nvPr>
            <p:custDataLst>
              <p:tags r:id="rId8"/>
            </p:custDataLst>
          </p:nvPr>
        </p:nvSpPr>
        <p:spPr>
          <a:xfrm>
            <a:off x="5080000" y="3177410"/>
            <a:ext cx="6350000" cy="1460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23" name="AutoShape 13"/>
          <p:cNvSpPr/>
          <p:nvPr>
            <p:custDataLst>
              <p:tags r:id="rId9"/>
            </p:custDataLst>
          </p:nvPr>
        </p:nvSpPr>
        <p:spPr>
          <a:xfrm>
            <a:off x="5080000" y="3177410"/>
            <a:ext cx="76200" cy="1460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24" name="AutoShape 14"/>
          <p:cNvSpPr/>
          <p:nvPr>
            <p:custDataLst>
              <p:tags r:id="rId10"/>
            </p:custDataLst>
          </p:nvPr>
        </p:nvSpPr>
        <p:spPr>
          <a:xfrm>
            <a:off x="5334000" y="3304410"/>
            <a:ext cx="584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问题二：小车冲得过快，过冲严重</a:t>
            </a:r>
            <a:endParaRPr lang="en-US" sz="1100"/>
          </a:p>
        </p:txBody>
      </p:sp>
      <p:cxnSp>
        <p:nvCxnSpPr>
          <p:cNvPr id="25" name="Connector 15"/>
          <p:cNvCxnSpPr/>
          <p:nvPr>
            <p:custDataLst>
              <p:tags r:id="rId11"/>
            </p:custDataLst>
          </p:nvPr>
        </p:nvCxnSpPr>
        <p:spPr>
          <a:xfrm rot="-7473">
            <a:off x="5334007" y="3704460"/>
            <a:ext cx="5842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6" name="AutoShape 16"/>
          <p:cNvSpPr/>
          <p:nvPr>
            <p:custDataLst>
              <p:tags r:id="rId12"/>
            </p:custDataLst>
          </p:nvPr>
        </p:nvSpPr>
        <p:spPr>
          <a:xfrm>
            <a:off x="5334000" y="3812410"/>
            <a:ext cx="584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摆杆微小偏离即引发小车猛冲与剧烈振荡，根源是角度比例系数(Kp)过大且速度阻尼项(Kv)不足。通过</a:t>
            </a:r>
            <a:r>
              <a:rPr lang="en-US" sz="13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减小Kp、增大Kv</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，并降低PWM最大限幅值，有效抑制了系统的超调量。</a:t>
            </a:r>
            <a:endParaRPr lang="en-US" sz="1100"/>
          </a:p>
        </p:txBody>
      </p:sp>
      <p:sp>
        <p:nvSpPr>
          <p:cNvPr id="27" name="AutoShape 17"/>
          <p:cNvSpPr/>
          <p:nvPr>
            <p:custDataLst>
              <p:tags r:id="rId13"/>
            </p:custDataLst>
          </p:nvPr>
        </p:nvSpPr>
        <p:spPr>
          <a:xfrm>
            <a:off x="5080000" y="4828410"/>
            <a:ext cx="6350000" cy="1397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28" name="AutoShape 18"/>
          <p:cNvSpPr/>
          <p:nvPr>
            <p:custDataLst>
              <p:tags r:id="rId14"/>
            </p:custDataLst>
          </p:nvPr>
        </p:nvSpPr>
        <p:spPr>
          <a:xfrm>
            <a:off x="5080000" y="4828410"/>
            <a:ext cx="76200" cy="13970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29" name="AutoShape 19"/>
          <p:cNvSpPr/>
          <p:nvPr>
            <p:custDataLst>
              <p:tags r:id="rId15"/>
            </p:custDataLst>
          </p:nvPr>
        </p:nvSpPr>
        <p:spPr>
          <a:xfrm>
            <a:off x="5334000" y="4955410"/>
            <a:ext cx="584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问题三：小角度时小车持续向一侧慢跑</a:t>
            </a:r>
            <a:endParaRPr lang="en-US" sz="1100"/>
          </a:p>
        </p:txBody>
      </p:sp>
      <p:cxnSp>
        <p:nvCxnSpPr>
          <p:cNvPr id="30" name="Connector 20"/>
          <p:cNvCxnSpPr/>
          <p:nvPr>
            <p:custDataLst>
              <p:tags r:id="rId16"/>
            </p:custDataLst>
          </p:nvPr>
        </p:nvCxnSpPr>
        <p:spPr>
          <a:xfrm rot="-7473">
            <a:off x="5334007" y="5355460"/>
            <a:ext cx="5842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31" name="AutoShape 21"/>
          <p:cNvSpPr/>
          <p:nvPr>
            <p:custDataLst>
              <p:tags r:id="rId17"/>
            </p:custDataLst>
          </p:nvPr>
        </p:nvSpPr>
        <p:spPr>
          <a:xfrm>
            <a:off x="5334000" y="5463410"/>
            <a:ext cx="584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由机械误差、轮差及位置回中增益不足叠加导致。引入</a:t>
            </a:r>
            <a:r>
              <a:rPr lang="en-US" sz="13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漂移检测与反向回拉算法</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，实时识别微小跑偏并主动施加反向修正力，实现了系统的精准回中。</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硬件特性影响：高摩擦与大阻尼</a:t>
            </a:r>
            <a:endPar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chemeClr val="accent1">
                <a:alpha val="60000"/>
              </a:schemeClr>
            </a:solidFill>
            <a:prstDash val="solid"/>
            <a:round/>
            <a:headEnd type="none" w="med" len="med"/>
            <a:tailEnd type="none" w="med" len="med"/>
          </a:ln>
        </p:spPr>
      </p:cxnSp>
      <p:sp>
        <p:nvSpPr>
          <p:cNvPr id="5" name="AutoShape 5"/>
          <p:cNvSpPr/>
          <p:nvPr/>
        </p:nvSpPr>
        <p:spPr>
          <a:xfrm>
            <a:off x="762000" y="1905000"/>
            <a:ext cx="5207000" cy="1333500"/>
          </a:xfrm>
          <a:prstGeom prst="roundRect">
            <a:avLst>
              <a:gd name="adj" fmla="val 0"/>
            </a:avLst>
          </a:prstGeom>
          <a:solidFill>
            <a:schemeClr val="accent1">
              <a:alpha val="8000"/>
            </a:schemeClr>
          </a:solidFill>
          <a:ln w="12700" cap="flat" cmpd="sng">
            <a:solidFill>
              <a:schemeClr val="accent1">
                <a:lumMod val="75000"/>
                <a:alpha val="30000"/>
              </a:scheme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6" name="AutoShape 6"/>
          <p:cNvSpPr/>
          <p:nvPr/>
        </p:nvSpPr>
        <p:spPr>
          <a:xfrm>
            <a:off x="762000" y="1905000"/>
            <a:ext cx="76200" cy="1333500"/>
          </a:xfrm>
          <a:prstGeom prst="roundRect">
            <a:avLst>
              <a:gd name="adj" fmla="val 0"/>
            </a:avLst>
          </a:prstGeom>
          <a:solidFill>
            <a:schemeClr val="accent1">
              <a:alpha val="100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7" name="AutoShape 7"/>
          <p:cNvSpPr/>
          <p:nvPr/>
        </p:nvSpPr>
        <p:spPr>
          <a:xfrm>
            <a:off x="1016000" y="2032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01. 静摩擦：死区的核心成因</a:t>
            </a:r>
            <a:endParaRPr lang="en-US" sz="1100">
              <a:solidFill>
                <a:schemeClr val="tx1"/>
              </a:solidFill>
            </a:endParaRPr>
          </a:p>
          <a:p>
            <a:pPr marL="0" indent="0" algn="l">
              <a:lnSpc>
                <a:spcPct val="108000"/>
              </a:lnSpc>
            </a:pPr>
            <a:r>
              <a:rPr lang="en-US" sz="1300" b="0" i="0" u="none" strike="noStrike">
                <a:solidFill>
                  <a:schemeClr val="tx1">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小车启动的最大阻力，实测单轮静摩擦阈值约为120PWM，是导致控制系统出现“死区”的根本原因。</a:t>
            </a:r>
            <a:endParaRPr lang="en-US" sz="1300" b="0" i="0" u="none" strike="noStrike">
              <a:solidFill>
                <a:schemeClr val="tx1">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3556000"/>
            <a:ext cx="5207000" cy="1333500"/>
          </a:xfrm>
          <a:prstGeom prst="roundRect">
            <a:avLst>
              <a:gd name="adj" fmla="val 0"/>
            </a:avLst>
          </a:prstGeom>
          <a:solidFill>
            <a:schemeClr val="accent1">
              <a:alpha val="8000"/>
            </a:schemeClr>
          </a:solidFill>
          <a:ln w="12700" cap="flat" cmpd="sng">
            <a:solidFill>
              <a:schemeClr val="accent1">
                <a:lumMod val="75000"/>
                <a:alpha val="30000"/>
              </a:scheme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9" name="AutoShape 9"/>
          <p:cNvSpPr/>
          <p:nvPr/>
        </p:nvSpPr>
        <p:spPr>
          <a:xfrm>
            <a:off x="762000" y="3556000"/>
            <a:ext cx="76200" cy="1333500"/>
          </a:xfrm>
          <a:prstGeom prst="roundRect">
            <a:avLst>
              <a:gd name="adj" fmla="val 0"/>
            </a:avLst>
          </a:prstGeom>
          <a:solidFill>
            <a:schemeClr val="accent1">
              <a:alpha val="70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10" name="AutoShape 10"/>
          <p:cNvSpPr/>
          <p:nvPr/>
        </p:nvSpPr>
        <p:spPr>
          <a:xfrm>
            <a:off x="1016000" y="3683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02. 动摩擦：稳态速度的损耗</a:t>
            </a:r>
            <a:endParaRPr lang="en-US" sz="1100">
              <a:solidFill>
                <a:schemeClr val="tx1"/>
              </a:solidFill>
            </a:endParaRPr>
          </a:p>
          <a:p>
            <a:pPr marL="0" indent="0" algn="l">
              <a:lnSpc>
                <a:spcPct val="108000"/>
              </a:lnSpc>
            </a:pPr>
            <a:r>
              <a:rPr lang="en-US" sz="1300" b="0" i="0" u="none" strike="noStrike">
                <a:solidFill>
                  <a:schemeClr val="tx1">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运动过程中持续存在的阻力负载，直接导致电机实际输出速度低于目标指令速度，降低了系统的速度跟踪精度。</a:t>
            </a:r>
            <a:endParaRPr lang="en-US" sz="1300" b="0" i="0" u="none" strike="noStrike">
              <a:solidFill>
                <a:schemeClr val="tx1">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762000" y="5080000"/>
            <a:ext cx="5207000" cy="1333500"/>
          </a:xfrm>
          <a:prstGeom prst="roundRect">
            <a:avLst>
              <a:gd name="adj" fmla="val 0"/>
            </a:avLst>
          </a:prstGeom>
          <a:solidFill>
            <a:schemeClr val="accent1">
              <a:alpha val="8000"/>
            </a:schemeClr>
          </a:solidFill>
          <a:ln w="12700" cap="flat" cmpd="sng">
            <a:solidFill>
              <a:schemeClr val="accent1">
                <a:alpha val="30000"/>
              </a:scheme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12" name="AutoShape 12"/>
          <p:cNvSpPr/>
          <p:nvPr/>
        </p:nvSpPr>
        <p:spPr>
          <a:xfrm>
            <a:off x="762000" y="5080000"/>
            <a:ext cx="76200" cy="1333500"/>
          </a:xfrm>
          <a:prstGeom prst="roundRect">
            <a:avLst>
              <a:gd name="adj" fmla="val 0"/>
            </a:avLst>
          </a:prstGeom>
          <a:solidFill>
            <a:schemeClr val="accent1">
              <a:alpha val="40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13" name="AutoShape 13"/>
          <p:cNvSpPr/>
          <p:nvPr/>
        </p:nvSpPr>
        <p:spPr>
          <a:xfrm>
            <a:off x="1016000" y="5207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03. 电机阻尼：动态响应的迟滞</a:t>
            </a:r>
            <a:endParaRPr lang="en-US" sz="1100">
              <a:solidFill>
                <a:schemeClr val="tx1"/>
              </a:solidFill>
            </a:endParaRPr>
          </a:p>
          <a:p>
            <a:pPr marL="0" indent="0" algn="l">
              <a:lnSpc>
                <a:spcPct val="108000"/>
              </a:lnSpc>
            </a:pPr>
            <a:r>
              <a:rPr lang="en-US" sz="1300" b="0" i="0" u="none" strike="noStrike">
                <a:solidFill>
                  <a:schemeClr val="tx1">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减速箱齿轮间的摩擦阻力形成电机阻尼，显著延缓了电机的加减速过程，造成系统动态响应滞后，控制带宽受限。</a:t>
            </a:r>
            <a:endParaRPr lang="en-US" sz="1300" b="0" i="0" u="none" strike="noStrike">
              <a:solidFill>
                <a:schemeClr val="tx1">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nvCxnSpPr>
        <p:spPr>
          <a:xfrm rot="5390316">
            <a:off x="4095750" y="4152909"/>
            <a:ext cx="4508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pic>
        <p:nvPicPr>
          <p:cNvPr id="15" name="Picture 15"/>
          <p:cNvPicPr>
            <a:picLocks noChangeAspect="1"/>
          </p:cNvPicPr>
          <p:nvPr/>
        </p:nvPicPr>
        <p:blipFill>
          <a:blip r:embed="rId1"/>
          <a:srcRect t="20194" b="20194"/>
          <a:stretch>
            <a:fillRect/>
          </a:stretch>
        </p:blipFill>
        <p:spPr>
          <a:xfrm>
            <a:off x="6604000" y="1905000"/>
            <a:ext cx="4826000" cy="2222500"/>
          </a:xfrm>
          <a:prstGeom prst="rect">
            <a:avLst/>
          </a:prstGeom>
          <a:noFill/>
          <a:ln w="12700" cap="flat" cmpd="sng">
            <a:solidFill>
              <a:srgbClr val="FFFFFF">
                <a:alpha val="20000"/>
              </a:srgbClr>
            </a:solidFill>
            <a:prstDash val="solid"/>
            <a:round/>
          </a:ln>
        </p:spPr>
      </p:pic>
      <p:sp>
        <p:nvSpPr>
          <p:cNvPr id="16" name="AutoShape 16"/>
          <p:cNvSpPr/>
          <p:nvPr>
            <p:custDataLst>
              <p:tags r:id="rId2"/>
            </p:custDataLst>
          </p:nvPr>
        </p:nvSpPr>
        <p:spPr>
          <a:xfrm>
            <a:off x="6604000" y="4381500"/>
            <a:ext cx="2349500" cy="2032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pic>
        <p:nvPicPr>
          <p:cNvPr id="17" name="Picture 1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1000" y="4508500"/>
            <a:ext cx="304800" cy="304800"/>
          </a:xfrm>
          <a:prstGeom prst="rect">
            <a:avLst/>
          </a:prstGeom>
        </p:spPr>
      </p:pic>
      <p:sp>
        <p:nvSpPr>
          <p:cNvPr id="18" name="AutoShape 18"/>
          <p:cNvSpPr/>
          <p:nvPr>
            <p:custDataLst>
              <p:tags r:id="rId6"/>
            </p:custDataLst>
          </p:nvPr>
        </p:nvSpPr>
        <p:spPr>
          <a:xfrm>
            <a:off x="7112000" y="44704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死区效应</a:t>
            </a:r>
            <a:endPar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9" name="Connector 19"/>
          <p:cNvCxnSpPr/>
          <p:nvPr>
            <p:custDataLst>
              <p:tags r:id="rId7"/>
            </p:custDataLst>
          </p:nvPr>
        </p:nvCxnSpPr>
        <p:spPr>
          <a:xfrm rot="-20834">
            <a:off x="6731019" y="4946650"/>
            <a:ext cx="209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0" name="AutoShape 20"/>
          <p:cNvSpPr/>
          <p:nvPr>
            <p:custDataLst>
              <p:tags r:id="rId8"/>
            </p:custDataLst>
          </p:nvPr>
        </p:nvSpPr>
        <p:spPr>
          <a:xfrm>
            <a:off x="6731000" y="5080000"/>
            <a:ext cx="2095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PWM低于阈值电机不动，一旦超过阈值则突然猛冲，形成“不动则已，一动就冲”的非线性失控现象。</a:t>
            </a:r>
            <a:endPar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custDataLst>
              <p:tags r:id="rId9"/>
            </p:custDataLst>
          </p:nvPr>
        </p:nvSpPr>
        <p:spPr>
          <a:xfrm>
            <a:off x="9080500" y="4381500"/>
            <a:ext cx="2349500" cy="2032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pic>
        <p:nvPicPr>
          <p:cNvPr id="22" name="Picture 22"/>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07500" y="4508500"/>
            <a:ext cx="304800" cy="304800"/>
          </a:xfrm>
          <a:prstGeom prst="rect">
            <a:avLst/>
          </a:prstGeom>
        </p:spPr>
      </p:pic>
      <p:sp>
        <p:nvSpPr>
          <p:cNvPr id="23" name="AutoShape 23"/>
          <p:cNvSpPr/>
          <p:nvPr>
            <p:custDataLst>
              <p:tags r:id="rId13"/>
            </p:custDataLst>
          </p:nvPr>
        </p:nvSpPr>
        <p:spPr>
          <a:xfrm>
            <a:off x="9588500" y="44704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性能劣化</a:t>
            </a:r>
            <a:endPar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4" name="Connector 24"/>
          <p:cNvCxnSpPr/>
          <p:nvPr>
            <p:custDataLst>
              <p:tags r:id="rId14"/>
            </p:custDataLst>
          </p:nvPr>
        </p:nvCxnSpPr>
        <p:spPr>
          <a:xfrm rot="-20834">
            <a:off x="9207519" y="4946650"/>
            <a:ext cx="209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5" name="AutoShape 25"/>
          <p:cNvSpPr/>
          <p:nvPr>
            <p:custDataLst>
              <p:tags r:id="rId15"/>
            </p:custDataLst>
          </p:nvPr>
        </p:nvSpPr>
        <p:spPr>
          <a:xfrm>
            <a:off x="9207500" y="5080000"/>
            <a:ext cx="2095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死区导致偏差累积引发积分饱和，大阻尼使加速时间增至0.4s，系统带宽大幅降低，稳定性严重下降。</a:t>
            </a:r>
            <a:endPar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死区补偿</a:t>
            </a:r>
            <a:endPar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762000" y="1651000"/>
            <a:ext cx="5207000" cy="1905000"/>
          </a:xfrm>
          <a:prstGeom prst="roundRect">
            <a:avLst>
              <a:gd name="adj" fmla="val 0"/>
            </a:avLst>
          </a:prstGeom>
          <a:solidFill>
            <a:srgbClr val="FFFFFF">
              <a:alpha val="10000"/>
            </a:srgbClr>
          </a:solidFill>
          <a:ln w="12700" cap="flat" cmpd="sng">
            <a:solidFill>
              <a:schemeClr val="accent1">
                <a:alpha val="50000"/>
              </a:scheme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5" name="AutoShape 5"/>
          <p:cNvSpPr/>
          <p:nvPr/>
        </p:nvSpPr>
        <p:spPr>
          <a:xfrm>
            <a:off x="762000" y="1651000"/>
            <a:ext cx="76200" cy="1905000"/>
          </a:xfrm>
          <a:prstGeom prst="roundRect">
            <a:avLst>
              <a:gd name="adj" fmla="val 0"/>
            </a:avLst>
          </a:prstGeom>
          <a:solidFill>
            <a:schemeClr val="accent1">
              <a:lumMod val="75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6" name="AutoShape 6"/>
          <p:cNvSpPr/>
          <p:nvPr/>
        </p:nvSpPr>
        <p:spPr>
          <a:xfrm>
            <a:off x="1016000" y="177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▍技术原理：突破静摩擦壁垒</a:t>
            </a:r>
            <a:endPar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1016000" y="2349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在PID输出的基础上，额外叠加一个预设的固定PWM补偿值，该值恰好能克服电机的静摩擦力，确保微小控制信号也能有效驱动电机转动，彻底消除控制死区带来的响应滞后问题。</a:t>
            </a:r>
            <a:endParaRPr lang="en-US" sz="14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1"/>
          <a:srcRect/>
          <a:stretch>
            <a:fillRect/>
          </a:stretch>
        </p:blipFill>
        <p:spPr>
          <a:xfrm>
            <a:off x="762000" y="4064000"/>
            <a:ext cx="2032000" cy="2032000"/>
          </a:xfrm>
          <a:prstGeom prst="rect">
            <a:avLst/>
          </a:prstGeom>
          <a:noFill/>
          <a:ln w="25400" cap="flat" cmpd="sng">
            <a:noFill/>
            <a:prstDash val="solid"/>
            <a:round/>
          </a:ln>
        </p:spPr>
      </p:pic>
      <p:sp>
        <p:nvSpPr>
          <p:cNvPr id="9" name="AutoShape 9"/>
          <p:cNvSpPr/>
          <p:nvPr/>
        </p:nvSpPr>
        <p:spPr>
          <a:xfrm>
            <a:off x="3048000" y="4064000"/>
            <a:ext cx="2921000" cy="2032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10" name="AutoShape 10"/>
          <p:cNvSpPr/>
          <p:nvPr/>
        </p:nvSpPr>
        <p:spPr>
          <a:xfrm>
            <a:off x="3175000" y="4254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硬件适配：TB6612驱动板</a:t>
            </a:r>
            <a:endPar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1" name="Connector 11"/>
          <p:cNvCxnSpPr/>
          <p:nvPr/>
        </p:nvCxnSpPr>
        <p:spPr>
          <a:xfrm rot="-17188">
            <a:off x="3175016" y="4756150"/>
            <a:ext cx="2540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12"/>
          <p:cNvSpPr/>
          <p:nvPr/>
        </p:nvSpPr>
        <p:spPr>
          <a:xfrm>
            <a:off x="3175000" y="4953000"/>
            <a:ext cx="266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针对C轮负载特性，单独标定死区阈值，通过驱动板精准输出补偿后的PWM信号，实现电机从静止到运动的无缝衔接。</a:t>
            </a:r>
            <a:endParaRPr lang="en-US" sz="13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nvCxnSpPr>
        <p:spPr>
          <a:xfrm rot="5390450">
            <a:off x="4064000" y="3930659"/>
            <a:ext cx="4572000" cy="12700"/>
          </a:xfrm>
          <a:prstGeom prst="straightConnector1">
            <a:avLst/>
          </a:prstGeom>
          <a:solidFill>
            <a:schemeClr val="accent1">
              <a:alpha val="10000"/>
            </a:schemeClr>
          </a:solidFill>
          <a:ln w="12700" cap="flat" cmpd="sng">
            <a:solidFill>
              <a:srgbClr val="FFFFFF">
                <a:alpha val="20000"/>
              </a:srgbClr>
            </a:solidFill>
            <a:prstDash val="dash"/>
            <a:round/>
            <a:headEnd type="none" w="med" len="med"/>
            <a:tailEnd type="none" w="med" len="med"/>
          </a:ln>
        </p:spPr>
      </p:cxnSp>
      <p:sp>
        <p:nvSpPr>
          <p:cNvPr id="14" name="AutoShape 14"/>
          <p:cNvSpPr/>
          <p:nvPr/>
        </p:nvSpPr>
        <p:spPr>
          <a:xfrm>
            <a:off x="6604000" y="1651000"/>
            <a:ext cx="4826000" cy="2286000"/>
          </a:xfrm>
          <a:prstGeom prst="roundRect">
            <a:avLst>
              <a:gd name="adj" fmla="val 0"/>
            </a:avLst>
          </a:prstGeom>
          <a:solidFill>
            <a:schemeClr val="accent1">
              <a:alpha val="10000"/>
            </a:schemeClr>
          </a:solidFill>
          <a:ln w="12700" cap="flat" cmpd="sng">
            <a:solidFill>
              <a:schemeClr val="accent1">
                <a:alpha val="40000"/>
              </a:schemeClr>
            </a:solidFill>
            <a:prstDash val="solid"/>
            <a:round/>
          </a:ln>
        </p:spPr>
        <p:txBody>
          <a:bodyPr vert="horz" wrap="square" lIns="63500" tIns="63500" rIns="63500" bIns="63500" rtlCol="0" anchor="ctr"/>
          <a:lstStyle/>
          <a:p>
            <a:pPr algn="ctr">
              <a:defRPr/>
            </a:pPr>
            <a:endParaRPr>
              <a:solidFill>
                <a:srgbClr val="F85208"/>
              </a:solidFill>
              <a:latin typeface="微软雅黑" panose="020B0503020204020204" charset="-122"/>
              <a:ea typeface="微软雅黑" panose="020B0503020204020204" charset="-122"/>
            </a:endParaRPr>
          </a:p>
        </p:txBody>
      </p:sp>
      <p:sp>
        <p:nvSpPr>
          <p:cNvPr id="15" name="AutoShape 15"/>
          <p:cNvSpPr/>
          <p:nvPr/>
        </p:nvSpPr>
        <p:spPr>
          <a:xfrm>
            <a:off x="6604000" y="1651000"/>
            <a:ext cx="4826000" cy="355600"/>
          </a:xfrm>
          <a:prstGeom prst="roundRect">
            <a:avLst>
              <a:gd name="adj" fmla="val 0"/>
            </a:avLst>
          </a:prstGeom>
          <a:solidFill>
            <a:schemeClr val="accent1">
              <a:alpha val="10000"/>
            </a:schemeClr>
          </a:solidFill>
          <a:ln w="25400" cap="flat" cmpd="sng">
            <a:noFill/>
            <a:prstDash val="solid"/>
            <a:round/>
          </a:ln>
        </p:spPr>
        <p:txBody>
          <a:bodyPr vert="horz" wrap="square" lIns="63500" tIns="63500" rIns="63500" bIns="63500" rtlCol="0" anchor="ctr"/>
          <a:lstStyle/>
          <a:p>
            <a:pPr algn="ctr">
              <a:defRPr/>
            </a:pPr>
            <a:endParaRPr>
              <a:solidFill>
                <a:srgbClr val="F85208"/>
              </a:solidFill>
              <a:latin typeface="微软雅黑" panose="020B0503020204020204" charset="-122"/>
              <a:ea typeface="微软雅黑" panose="020B0503020204020204" charset="-122"/>
            </a:endParaRPr>
          </a:p>
        </p:txBody>
      </p:sp>
      <p:sp>
        <p:nvSpPr>
          <p:cNvPr id="16" name="AutoShape 16"/>
          <p:cNvSpPr/>
          <p:nvPr/>
        </p:nvSpPr>
        <p:spPr>
          <a:xfrm>
            <a:off x="6731000" y="1701800"/>
            <a:ext cx="4572000" cy="254000"/>
          </a:xfrm>
          <a:prstGeom prst="rect">
            <a:avLst/>
          </a:prstGeom>
          <a:solidFill>
            <a:schemeClr val="accent1">
              <a:alpha val="10000"/>
            </a:schemeClr>
          </a:solid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chemeClr val="tx1">
                    <a:alpha val="70196"/>
                  </a:schemeClr>
                </a:solidFill>
                <a:latin typeface="微软雅黑" panose="020B0503020204020204" charset="-122"/>
                <a:ea typeface="微软雅黑" panose="020B0503020204020204" charset="-122"/>
                <a:cs typeface="Roboto Mono"/>
                <a:sym typeface="Roboto Mono"/>
              </a:rPr>
              <a:t>Velocity_C.c — Dead Zone Compensation Logic</a:t>
            </a:r>
            <a:endParaRPr lang="en-US" sz="1200" b="0" i="0" u="none" strike="noStrike">
              <a:solidFill>
                <a:schemeClr val="tx1">
                  <a:alpha val="70196"/>
                </a:schemeClr>
              </a:solidFill>
              <a:latin typeface="微软雅黑" panose="020B0503020204020204" charset="-122"/>
              <a:ea typeface="微软雅黑" panose="020B0503020204020204" charset="-122"/>
              <a:cs typeface="Roboto Mono"/>
              <a:sym typeface="Roboto Mono"/>
            </a:endParaRPr>
          </a:p>
        </p:txBody>
      </p:sp>
      <p:sp>
        <p:nvSpPr>
          <p:cNvPr id="17" name="AutoShape 17"/>
          <p:cNvSpPr/>
          <p:nvPr/>
        </p:nvSpPr>
        <p:spPr>
          <a:xfrm>
            <a:off x="6731000" y="2159000"/>
            <a:ext cx="4572000" cy="1651000"/>
          </a:xfrm>
          <a:prstGeom prst="rect">
            <a:avLst/>
          </a:prstGeom>
          <a:solidFill>
            <a:schemeClr val="accent1">
              <a:alpha val="10000"/>
            </a:schemeClr>
          </a:solid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Roboto Mono"/>
              </a:rPr>
              <a:t>#define DEAD_ZONE_C 280</a:t>
            </a:r>
            <a:r>
              <a:rPr lang="en-US" sz="1200" b="0" i="0" u="none" strike="noStrike">
                <a:solidFill>
                  <a:schemeClr val="tx1">
                    <a:alpha val="50196"/>
                  </a:schemeClr>
                </a:solidFill>
                <a:latin typeface="微软雅黑" panose="020B0503020204020204" charset="-122"/>
                <a:ea typeface="微软雅黑" panose="020B0503020204020204" charset="-122"/>
                <a:cs typeface="微软雅黑" panose="020B0503020204020204" charset="-122"/>
                <a:sym typeface="Roboto Mono"/>
              </a:rPr>
              <a:t>// C轮死区独立标定</a:t>
            </a: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Roboto Mono"/>
              </a:rPr>
              <a:t>int pwm = Kp*error + Ki*integral; // 基础PI计算</a:t>
            </a:r>
            <a:endPar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Roboto Mono"/>
            </a:endParaRPr>
          </a:p>
          <a:p>
            <a:pPr marL="0" indent="0" algn="l">
              <a:lnSpc>
                <a:spcPct val="108000"/>
              </a:lnSpc>
            </a:pPr>
            <a:r>
              <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Roboto Mono"/>
              </a:rPr>
              <a:t>if(pwm &gt; 0) pwm += DEAD_ZONE_C; // 正向补偿</a:t>
            </a:r>
            <a:endPar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Roboto Mono"/>
            </a:endParaRPr>
          </a:p>
          <a:p>
            <a:pPr marL="0" indent="0" algn="l">
              <a:lnSpc>
                <a:spcPct val="108000"/>
              </a:lnSpc>
            </a:pPr>
            <a:r>
              <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Roboto Mono"/>
              </a:rPr>
              <a:t>else if(pwm &lt; 0) pwm -= DEAD_ZONE_C; // 反向补偿</a:t>
            </a:r>
            <a:endPar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Roboto Mono"/>
            </a:endParaRPr>
          </a:p>
        </p:txBody>
      </p:sp>
      <p:sp>
        <p:nvSpPr>
          <p:cNvPr id="18" name="AutoShape 18"/>
          <p:cNvSpPr/>
          <p:nvPr/>
        </p:nvSpPr>
        <p:spPr>
          <a:xfrm>
            <a:off x="6604000" y="4191000"/>
            <a:ext cx="4826000" cy="1905000"/>
          </a:xfrm>
          <a:prstGeom prst="roundRect">
            <a:avLst>
              <a:gd name="adj" fmla="val 0"/>
            </a:avLst>
          </a:prstGeom>
          <a:solidFill>
            <a:schemeClr val="accent1">
              <a:alpha val="10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19" name="AutoShape 19"/>
          <p:cNvSpPr/>
          <p:nvPr/>
        </p:nvSpPr>
        <p:spPr>
          <a:xfrm>
            <a:off x="6731000" y="4318000"/>
            <a:ext cx="4572000" cy="317500"/>
          </a:xfrm>
          <a:prstGeom prst="rect">
            <a:avLst/>
          </a:prstGeom>
          <a:solidFill>
            <a:schemeClr val="accent1">
              <a:alpha val="10000"/>
            </a:schemeClr>
          </a:solid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▍死区阈值精准测量法</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9549">
            <a:off x="6731009" y="4756150"/>
            <a:ext cx="4572000" cy="12700"/>
          </a:xfrm>
          <a:prstGeom prst="straightConnector1">
            <a:avLst/>
          </a:prstGeom>
          <a:solidFill>
            <a:schemeClr val="accent1">
              <a:alpha val="10000"/>
            </a:schemeClr>
          </a:solidFill>
          <a:ln w="12700" cap="flat" cmpd="sng">
            <a:solidFill>
              <a:srgbClr val="FFFFFF">
                <a:alpha val="15000"/>
              </a:srgbClr>
            </a:solidFill>
            <a:prstDash val="solid"/>
            <a:round/>
            <a:headEnd type="none" w="med" len="med"/>
            <a:tailEnd type="none" w="med" len="med"/>
          </a:ln>
        </p:spPr>
      </p:cxnSp>
      <p:sp>
        <p:nvSpPr>
          <p:cNvPr id="21" name="AutoShape 21"/>
          <p:cNvSpPr/>
          <p:nvPr/>
        </p:nvSpPr>
        <p:spPr>
          <a:xfrm>
            <a:off x="6731000" y="4953000"/>
            <a:ext cx="1460500" cy="1016000"/>
          </a:xfrm>
          <a:prstGeom prst="roundRect">
            <a:avLst>
              <a:gd name="adj" fmla="val 0"/>
            </a:avLst>
          </a:prstGeom>
          <a:solidFill>
            <a:schemeClr val="accent1">
              <a:alpha val="10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22" name="AutoShape 22"/>
          <p:cNvSpPr/>
          <p:nvPr/>
        </p:nvSpPr>
        <p:spPr>
          <a:xfrm>
            <a:off x="6794500" y="5016500"/>
            <a:ext cx="1333500" cy="889000"/>
          </a:xfrm>
          <a:prstGeom prst="rect">
            <a:avLst/>
          </a:prstGeom>
          <a:solidFill>
            <a:schemeClr val="accent1">
              <a:alpha val="10000"/>
            </a:schemeClr>
          </a:solid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屏蔽PID</a:t>
            </a:r>
            <a:endParaRPr lang="en-US" sz="1100">
              <a:solidFill>
                <a:schemeClr val="tx1"/>
              </a:solidFill>
            </a:endParaRPr>
          </a:p>
          <a:p>
            <a:pPr marL="0" indent="0" algn="l">
              <a:lnSpc>
                <a:spcPct val="100000"/>
              </a:lnSpc>
            </a:pPr>
            <a:r>
              <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切断PID闭环控制，直接向电机输出固定占空比的PWM信号。</a:t>
            </a:r>
            <a:endPar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8318500" y="4953000"/>
            <a:ext cx="1460500" cy="1016000"/>
          </a:xfrm>
          <a:prstGeom prst="roundRect">
            <a:avLst>
              <a:gd name="adj" fmla="val 0"/>
            </a:avLst>
          </a:prstGeom>
          <a:solidFill>
            <a:schemeClr val="accent1">
              <a:alpha val="10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24" name="AutoShape 24"/>
          <p:cNvSpPr/>
          <p:nvPr/>
        </p:nvSpPr>
        <p:spPr>
          <a:xfrm>
            <a:off x="8382000" y="5016500"/>
            <a:ext cx="1333500" cy="889000"/>
          </a:xfrm>
          <a:prstGeom prst="rect">
            <a:avLst/>
          </a:prstGeom>
          <a:solidFill>
            <a:schemeClr val="accent1">
              <a:alpha val="10000"/>
            </a:schemeClr>
          </a:solid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02. 临界捕捉</a:t>
            </a:r>
            <a:endParaRPr lang="en-US" sz="1100">
              <a:solidFill>
                <a:schemeClr val="tx1"/>
              </a:solidFill>
            </a:endParaRPr>
          </a:p>
          <a:p>
            <a:pPr marL="0" indent="0" algn="l">
              <a:lnSpc>
                <a:spcPct val="100000"/>
              </a:lnSpc>
            </a:pPr>
            <a:r>
              <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逐步增大PWM值，记录电机从静止到刚好发生转动的临界数值。</a:t>
            </a:r>
            <a:endPar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9842500" y="4953000"/>
            <a:ext cx="1460500" cy="1016000"/>
          </a:xfrm>
          <a:prstGeom prst="roundRect">
            <a:avLst>
              <a:gd name="adj" fmla="val 0"/>
            </a:avLst>
          </a:prstGeom>
          <a:solidFill>
            <a:schemeClr val="accent1">
              <a:alpha val="10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26" name="AutoShape 26"/>
          <p:cNvSpPr/>
          <p:nvPr/>
        </p:nvSpPr>
        <p:spPr>
          <a:xfrm>
            <a:off x="9906000" y="5016500"/>
            <a:ext cx="1333500" cy="889000"/>
          </a:xfrm>
          <a:prstGeom prst="rect">
            <a:avLst/>
          </a:prstGeom>
          <a:solidFill>
            <a:schemeClr val="accent1">
              <a:alpha val="10000"/>
            </a:schemeClr>
          </a:solid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03. 双向校准</a:t>
            </a:r>
            <a:endParaRPr lang="en-US" sz="1100">
              <a:solidFill>
                <a:schemeClr val="tx1"/>
              </a:solidFill>
            </a:endParaRPr>
          </a:p>
          <a:p>
            <a:pPr marL="0" indent="0" algn="l">
              <a:lnSpc>
                <a:spcPct val="100000"/>
              </a:lnSpc>
            </a:pPr>
            <a:r>
              <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分别测量正、反转死区阈值，取平均值作为最终补偿参数写入代码。</a:t>
            </a:r>
            <a:endParaRPr lang="en-US" sz="12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)参数整定方法</a:t>
            </a:r>
            <a:endPar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文本框 18"/>
          <p:cNvSpPr txBox="1"/>
          <p:nvPr/>
        </p:nvSpPr>
        <p:spPr>
          <a:xfrm>
            <a:off x="1146810" y="2926080"/>
            <a:ext cx="9908540" cy="325120"/>
          </a:xfrm>
          <a:prstGeom prst="rect">
            <a:avLst/>
          </a:prstGeom>
          <a:noFill/>
        </p:spPr>
        <p:txBody>
          <a:bodyPr wrap="square" rtlCol="0" anchor="t">
            <a:spAutoFit/>
          </a:bodyPr>
          <a:p>
            <a:pPr marL="0" indent="0" algn="l">
              <a:lnSpc>
                <a:spcPct val="117000"/>
              </a:lnSpc>
              <a:defRPr/>
            </a:pPr>
            <a:r>
              <a:rPr 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根源是角度比例系数(Kp)过大且速度阻尼项(Kv)不足。通过</a:t>
            </a:r>
            <a:r>
              <a:rPr lang="en-US" sz="1300" b="1">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减小Kp、增大Kv</a:t>
            </a:r>
            <a:r>
              <a:rPr 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，并降低PWM最大限幅值，有效抑制了系统的超调量。</a:t>
            </a:r>
            <a:endParaRPr lang="en-US" alt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20" name="表格 19"/>
          <p:cNvGraphicFramePr/>
          <p:nvPr/>
        </p:nvGraphicFramePr>
        <p:xfrm>
          <a:off x="762000" y="3826510"/>
          <a:ext cx="10485120" cy="0"/>
        </p:xfrm>
        <a:graphic>
          <a:graphicData uri="http://schemas.openxmlformats.org/drawingml/2006/table">
            <a:tbl>
              <a:tblPr/>
              <a:tblGrid>
                <a:gridCol w="3495040"/>
                <a:gridCol w="3495040"/>
                <a:gridCol w="3495040"/>
              </a:tblGrid>
              <a:tr h="0">
                <a:tc>
                  <a:txBody>
                    <a:bodyPr/>
                    <a:p>
                      <a:pPr algn="l"/>
                      <a:r>
                        <a:rPr lang="zh-CN" altLang="en-US" sz="1100"/>
                        <a:t>措施</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原理</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效果</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marL="0" indent="0" algn="l"/>
                      <a:r>
                        <a:rPr lang="zh-CN" altLang="en-US" sz="1100"/>
                        <a:t>减小 </a:t>
                      </a:r>
                      <a:r>
                        <a:rPr lang="en-US" altLang="zh-CN" sz="1100"/>
                        <a:t>K</a:t>
                      </a:r>
                      <a:r>
                        <a:rPr lang="en-US" altLang="zh-CN" sz="1100"/>
                        <a:t>p</a:t>
                      </a:r>
                      <a:r>
                        <a:rPr lang="en-US" altLang="zh-CN" sz="1100"/>
                        <a:t>_</a:t>
                      </a:r>
                      <a:r>
                        <a:rPr lang="en-US" altLang="zh-CN" sz="1100"/>
                        <a:t>an</a:t>
                      </a:r>
                      <a:r>
                        <a:rPr lang="en-US" altLang="zh-CN" sz="1100"/>
                        <a:t>g</a:t>
                      </a:r>
                      <a:r>
                        <a:rPr lang="en-US" altLang="zh-CN" sz="1100"/>
                        <a:t>​</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降低外环的 “扶正力度”，微小偏差不再输出超大目标速度</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小车不会一触发就猛冲</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marL="0" indent="0" algn="l"/>
                      <a:r>
                        <a:rPr lang="zh-CN" altLang="en-US" sz="1100"/>
                        <a:t>增大 </a:t>
                      </a:r>
                      <a:r>
                        <a:rPr lang="en-US" altLang="zh-CN" sz="1100"/>
                        <a:t>K</a:t>
                      </a:r>
                      <a:r>
                        <a:rPr lang="en-US" altLang="zh-CN" sz="1100"/>
                        <a:t>v</a:t>
                      </a:r>
                      <a:r>
                        <a:rPr lang="en-US" altLang="zh-CN" sz="1100"/>
                        <a:t>​</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增强速度阻尼，让小车加速更平缓，接近目标速度时提前收油</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消除惯性过冲，不会甩杆</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zh-CN" altLang="en-US" sz="1100"/>
                        <a:t>降低 </a:t>
                      </a:r>
                      <a:r>
                        <a:rPr lang="en-US" altLang="zh-CN" sz="1100"/>
                        <a:t>PWM </a:t>
                      </a:r>
                      <a:r>
                        <a:rPr lang="zh-CN" altLang="en-US" sz="1100"/>
                        <a:t>最大限幅</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从物理上限制电机的最大速度（比如从 </a:t>
                      </a:r>
                      <a:r>
                        <a:rPr lang="en-US" altLang="zh-CN" sz="1100"/>
                        <a:t>1000 </a:t>
                      </a:r>
                      <a:r>
                        <a:rPr lang="zh-CN" altLang="en-US" sz="1100"/>
                        <a:t>降到 </a:t>
                      </a:r>
                      <a:r>
                        <a:rPr lang="en-US" altLang="zh-CN" sz="1100"/>
                        <a:t>600</a:t>
                      </a:r>
                      <a:r>
                        <a:rPr lang="zh-CN" altLang="en-US" sz="1100"/>
                        <a:t>）</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即使参数失调，也不会出现失控狂奔</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bl>
          </a:graphicData>
        </a:graphic>
      </p:graphicFrame>
      <p:sp>
        <p:nvSpPr>
          <p:cNvPr id="21" name="文本框 20"/>
          <p:cNvSpPr txBox="1"/>
          <p:nvPr/>
        </p:nvSpPr>
        <p:spPr>
          <a:xfrm>
            <a:off x="495300" y="1447800"/>
            <a:ext cx="8785225" cy="629920"/>
          </a:xfrm>
          <a:prstGeom prst="rect">
            <a:avLst/>
          </a:prstGeom>
          <a:noFill/>
        </p:spPr>
        <p:txBody>
          <a:bodyPr wrap="square" rtlCol="0" anchor="t">
            <a:spAutoFit/>
          </a:bodyPr>
          <a:p>
            <a:pPr marL="0" indent="0" algn="l">
              <a:lnSpc>
                <a:spcPct val="125000"/>
              </a:lnSpc>
              <a:defRPr/>
            </a:pPr>
            <a:r>
              <a:rPr lang="en-US" sz="2800" b="1">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问题二：小车冲得过快，过冲严重</a:t>
            </a:r>
            <a:endParaRPr lang="en-US" altLang="en-US" sz="2800" b="1">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三</a:t>
            </a: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小角度时小车漂移</a:t>
            </a:r>
            <a:endParaRPr lang="zh-CN" alt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文本框 29"/>
          <p:cNvSpPr txBox="1"/>
          <p:nvPr/>
        </p:nvSpPr>
        <p:spPr>
          <a:xfrm>
            <a:off x="1016000" y="1514475"/>
            <a:ext cx="10101580" cy="645160"/>
          </a:xfrm>
          <a:prstGeom prst="rect">
            <a:avLst/>
          </a:prstGeom>
        </p:spPr>
        <p:txBody>
          <a:bodyPr wrap="square">
            <a:spAutoFit/>
          </a:bodyPr>
          <a:p>
            <a:r>
              <a:rPr lang="zh-CN" altLang="en-US" sz="1800">
                <a:latin typeface="微软雅黑" panose="020B0503020204020204" charset="-122"/>
                <a:ea typeface="微软雅黑" panose="020B0503020204020204" charset="-122"/>
                <a:cs typeface="微软雅黑" panose="020B0503020204020204" charset="-122"/>
              </a:rPr>
              <a:t>现象：摆杆已经立得很稳（角度波动 </a:t>
            </a:r>
            <a:r>
              <a:rPr lang="en-US" altLang="zh-CN" sz="1800">
                <a:latin typeface="微软雅黑" panose="020B0503020204020204" charset="-122"/>
                <a:ea typeface="微软雅黑" panose="020B0503020204020204" charset="-122"/>
                <a:cs typeface="微软雅黑" panose="020B0503020204020204" charset="-122"/>
              </a:rPr>
              <a:t>±2° </a:t>
            </a:r>
            <a:r>
              <a:rPr lang="zh-CN" altLang="en-US" sz="1800">
                <a:latin typeface="微软雅黑" panose="020B0503020204020204" charset="-122"/>
                <a:ea typeface="微软雅黑" panose="020B0503020204020204" charset="-122"/>
                <a:cs typeface="微软雅黑" panose="020B0503020204020204" charset="-122"/>
              </a:rPr>
              <a:t>以内），但小车会</a:t>
            </a:r>
            <a:r>
              <a:rPr lang="zh-CN" altLang="en-US" sz="1800" b="0">
                <a:solidFill>
                  <a:srgbClr val="000000"/>
                </a:solidFill>
                <a:latin typeface="微软雅黑" panose="020B0503020204020204" charset="-122"/>
                <a:ea typeface="微软雅黑" panose="020B0503020204020204" charset="-122"/>
                <a:cs typeface="微软雅黑" panose="020B0503020204020204" charset="-122"/>
              </a:rPr>
              <a:t>慢慢、匀速地往一个方向跑</a:t>
            </a:r>
            <a:r>
              <a:rPr lang="zh-CN" altLang="en-US" sz="1800">
                <a:latin typeface="微软雅黑" panose="020B0503020204020204" charset="-122"/>
                <a:ea typeface="微软雅黑" panose="020B0503020204020204" charset="-122"/>
                <a:cs typeface="微软雅黑" panose="020B0503020204020204" charset="-122"/>
              </a:rPr>
              <a:t>，越跑越远，最终跑出实验台范围，摆杆倒地；大角度救摆时不会漂移，只有小角度平衡时才会出现。</a:t>
            </a:r>
            <a:endParaRPr lang="zh-CN" altLang="en-US" sz="1800">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519430" y="2323782"/>
            <a:ext cx="5080000" cy="3169285"/>
          </a:xfrm>
          <a:prstGeom prst="rect">
            <a:avLst/>
          </a:prstGeom>
        </p:spPr>
        <p:txBody>
          <a:bodyPr>
            <a:spAutoFit/>
          </a:bodyPr>
          <a:p>
            <a:pPr indent="0" eaLnBrk="1" fontAlgn="auto" latinLnBrk="0" hangingPunct="1">
              <a:lnSpc>
                <a:spcPts val="2400"/>
              </a:lnSpc>
              <a:spcBef>
                <a:spcPct val="0"/>
              </a:spcBef>
              <a:spcAft>
                <a:spcPct val="0"/>
              </a:spcAft>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原因：</a:t>
            </a:r>
            <a:br>
              <a:rPr lang="zh-CN" altLang="en-US" sz="1600" b="0">
                <a:solidFill>
                  <a:srgbClr val="000000"/>
                </a:solidFill>
                <a:latin typeface="微软雅黑" panose="020B0503020204020204" charset="-122"/>
                <a:ea typeface="微软雅黑" panose="020B0503020204020204" charset="-122"/>
                <a:cs typeface="微软雅黑" panose="020B0503020204020204" charset="-122"/>
              </a:rPr>
            </a:b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a:t>
            </a:r>
            <a:r>
              <a:rPr lang="en-US" altLang="zh-CN" sz="1600" b="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）机械安装误差</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indent="0" eaLnBrk="1" fontAlgn="auto" latinLnBrk="0" hangingPunct="1">
              <a:lnSpc>
                <a:spcPts val="2400"/>
              </a:lnSpc>
              <a:spcBef>
                <a:spcPct val="0"/>
              </a:spcBef>
              <a:spcAft>
                <a:spcPct val="0"/>
              </a:spcAft>
              <a:buFont typeface="Arial" panose="020B0604020202020204"/>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摆杆没有绝对竖直安装，零点标定存在微小偏差（比如真实竖直位置是 </a:t>
            </a:r>
            <a:r>
              <a:rPr lang="en-US" altLang="zh-CN" sz="1600" b="0">
                <a:solidFill>
                  <a:srgbClr val="000000"/>
                </a:solidFill>
                <a:latin typeface="微软雅黑" panose="020B0503020204020204" charset="-122"/>
                <a:ea typeface="微软雅黑" panose="020B0503020204020204" charset="-122"/>
                <a:cs typeface="微软雅黑" panose="020B0503020204020204" charset="-122"/>
              </a:rPr>
              <a:t>0.5°</a:t>
            </a: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，但你标定成了 </a:t>
            </a:r>
            <a:r>
              <a:rPr lang="en-US" altLang="zh-CN" sz="1600" b="0">
                <a:solidFill>
                  <a:srgbClr val="000000"/>
                </a:solidFill>
                <a:latin typeface="微软雅黑" panose="020B0503020204020204" charset="-122"/>
                <a:ea typeface="微软雅黑" panose="020B0503020204020204" charset="-122"/>
                <a:cs typeface="微软雅黑" panose="020B0503020204020204" charset="-122"/>
              </a:rPr>
              <a:t>0°</a:t>
            </a: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indent="0" eaLnBrk="1" fontAlgn="auto" latinLnBrk="0" hangingPunct="1">
              <a:lnSpc>
                <a:spcPts val="2400"/>
              </a:lnSpc>
              <a:spcBef>
                <a:spcPct val="0"/>
              </a:spcBef>
              <a:spcAft>
                <a:spcPct val="0"/>
              </a:spcAft>
              <a:buFont typeface="Arial" panose="020B0604020202020204"/>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系统会认为 “</a:t>
            </a:r>
            <a:r>
              <a:rPr lang="en-US" altLang="zh-CN" sz="1600" b="0">
                <a:solidFill>
                  <a:srgbClr val="000000"/>
                </a:solidFill>
                <a:latin typeface="微软雅黑" panose="020B0503020204020204" charset="-122"/>
                <a:ea typeface="微软雅黑" panose="020B0503020204020204" charset="-122"/>
                <a:cs typeface="微软雅黑" panose="020B0503020204020204" charset="-122"/>
              </a:rPr>
              <a:t>0.5° </a:t>
            </a: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才是平衡位置”，一直输出一个微小的同向速度，让小车慢慢跑。</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indent="0" eaLnBrk="1" fontAlgn="auto" latinLnBrk="0" hangingPunct="1">
              <a:lnSpc>
                <a:spcPts val="2400"/>
              </a:lnSpc>
              <a:spcBef>
                <a:spcPct val="0"/>
              </a:spcBef>
              <a:spcAft>
                <a:spcPct val="0"/>
              </a:spcAft>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a:t>
            </a:r>
            <a:r>
              <a:rPr lang="en-US" altLang="zh-CN" sz="1600" b="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）四轮轮差（你们的 </a:t>
            </a:r>
            <a:r>
              <a:rPr lang="en-US" altLang="zh-CN" sz="1600" b="0">
                <a:solidFill>
                  <a:srgbClr val="000000"/>
                </a:solidFill>
                <a:latin typeface="微软雅黑" panose="020B0503020204020204" charset="-122"/>
                <a:ea typeface="微软雅黑" panose="020B0503020204020204" charset="-122"/>
                <a:cs typeface="微软雅黑" panose="020B0503020204020204" charset="-122"/>
              </a:rPr>
              <a:t>C </a:t>
            </a: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轮问题就是典型）</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indent="0" eaLnBrk="1" fontAlgn="auto" latinLnBrk="0" hangingPunct="1">
              <a:lnSpc>
                <a:spcPts val="2400"/>
              </a:lnSpc>
              <a:spcBef>
                <a:spcPct val="0"/>
              </a:spcBef>
              <a:spcAft>
                <a:spcPct val="0"/>
              </a:spcAft>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四个轮子的摩擦、电机性能、死区不可能完全一致：</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indent="0" eaLnBrk="1" fontAlgn="auto" latinLnBrk="0" hangingPunct="1">
              <a:lnSpc>
                <a:spcPts val="2400"/>
              </a:lnSpc>
              <a:spcBef>
                <a:spcPct val="0"/>
              </a:spcBef>
              <a:spcAft>
                <a:spcPct val="0"/>
              </a:spcAft>
              <a:buFont typeface="Arial" panose="020B0604020202020204"/>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比如</a:t>
            </a:r>
            <a:r>
              <a:rPr lang="en-US" altLang="zh-CN" sz="1600" b="0">
                <a:solidFill>
                  <a:srgbClr val="000000"/>
                </a:solidFill>
                <a:latin typeface="微软雅黑" panose="020B0503020204020204" charset="-122"/>
                <a:ea typeface="微软雅黑" panose="020B0503020204020204" charset="-122"/>
                <a:cs typeface="微软雅黑" panose="020B0503020204020204" charset="-122"/>
              </a:rPr>
              <a:t>C </a:t>
            </a: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轮死区比其他轮大</a:t>
            </a:r>
            <a:r>
              <a:rPr lang="zh-CN" sz="1600" b="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小车整体就会往 </a:t>
            </a:r>
            <a:r>
              <a:rPr lang="en-US" altLang="zh-CN" sz="1600" b="0">
                <a:solidFill>
                  <a:srgbClr val="000000"/>
                </a:solidFill>
                <a:latin typeface="微软雅黑" panose="020B0503020204020204" charset="-122"/>
                <a:ea typeface="微软雅黑" panose="020B0503020204020204" charset="-122"/>
                <a:cs typeface="微软雅黑" panose="020B0503020204020204" charset="-122"/>
              </a:rPr>
              <a:t>C </a:t>
            </a: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轮一侧慢慢跑偏，而且角度越小，这种轮差的影响越明显。</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6282055" y="2323465"/>
            <a:ext cx="5080000" cy="4092575"/>
          </a:xfrm>
          <a:prstGeom prst="rect">
            <a:avLst/>
          </a:prstGeom>
        </p:spPr>
        <p:txBody>
          <a:bodyPr>
            <a:spAutoFit/>
          </a:bodyPr>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解决方法：</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（1）漂移检测</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系统实时监控两个指标：</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小车的累计位置；</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小车的平均速度。</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 当 “位置超过阈值” 且 “速度持续同向” 时，判定为 “发生漂移”。</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（2）反向回拉</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判定漂移后，系统会临时强制输出一个反向的 PWM，把小车往初始位置拉；</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只在小角度时触发（角度 &gt; 5° 时自动关闭，不影响大角度救摆）；</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400"/>
              </a:lnSpc>
              <a:buSzTx/>
              <a:buNone/>
            </a:pPr>
            <a:r>
              <a:rPr lang="zh-CN" altLang="en-US" sz="1600" b="0">
                <a:solidFill>
                  <a:srgbClr val="000000"/>
                </a:solidFill>
                <a:latin typeface="微软雅黑" panose="020B0503020204020204" charset="-122"/>
                <a:ea typeface="微软雅黑" panose="020B0503020204020204" charset="-122"/>
                <a:cs typeface="微软雅黑" panose="020B0503020204020204" charset="-122"/>
              </a:rPr>
              <a:t>回拉力度很小，不会把摆杆拉倒，只是慢慢修正位置。</a:t>
            </a:r>
            <a:endParaRPr lang="zh-CN" altLang="en-US" sz="1600" b="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05 实验调试与结果分析</a:t>
            </a:r>
            <a:endParaRPr lang="en-US" sz="1100"/>
          </a:p>
        </p:txBody>
      </p:sp>
      <p:sp>
        <p:nvSpPr>
          <p:cNvPr id="5" name="AutoShape 5"/>
          <p:cNvSpPr/>
          <p:nvPr/>
        </p:nvSpPr>
        <p:spPr>
          <a:xfrm>
            <a:off x="762000" y="4825528"/>
            <a:ext cx="3048000" cy="1524000"/>
          </a:xfrm>
          <a:prstGeom prst="roundRect">
            <a:avLst>
              <a:gd name="adj" fmla="val 0"/>
            </a:avLst>
          </a:prstGeom>
          <a:solidFill>
            <a:srgbClr val="FFFFFF">
              <a:alpha val="100000"/>
            </a:srgbClr>
          </a:solidFill>
          <a:ln w="12700" cap="flat" cmpd="sng">
            <a:solidFill>
              <a:srgbClr val="0891B2">
                <a:alpha val="30000"/>
              </a:srgbClr>
            </a:solidFill>
            <a:prstDash val="solid"/>
            <a:round/>
          </a:ln>
        </p:spPr>
        <p:txBody>
          <a:bodyPr vert="horz" wrap="square" lIns="0" tIns="0" rIns="0" bIns="0" rtlCol="0" anchor="ctr" anchorCtr="0"/>
          <a:lstStyle/>
          <a:p>
            <a:pPr algn="ctr">
              <a:defRPr/>
            </a:pPr>
          </a:p>
        </p:txBody>
      </p:sp>
      <p:sp>
        <p:nvSpPr>
          <p:cNvPr id="6" name="AutoShape 6"/>
          <p:cNvSpPr/>
          <p:nvPr/>
        </p:nvSpPr>
        <p:spPr>
          <a:xfrm>
            <a:off x="889000" y="4939875"/>
            <a:ext cx="279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嵌入式系统中软硬件高度耦合，调试链路的稳定性本身也是系统工程的一部分。解决LCD白屏与调试口失联问题，是对系统底层配置的一次深度实践。</a:t>
            </a:r>
            <a:endParaRPr lang="en-US" sz="1100"/>
          </a:p>
        </p:txBody>
      </p:sp>
      <p:cxnSp>
        <p:nvCxnSpPr>
          <p:cNvPr id="7" name="Connector 7"/>
          <p:cNvCxnSpPr/>
          <p:nvPr/>
        </p:nvCxnSpPr>
        <p:spPr>
          <a:xfrm rot="5390450">
            <a:off x="2032000" y="3930659"/>
            <a:ext cx="4572000" cy="12700"/>
          </a:xfrm>
          <a:prstGeom prst="straightConnector1">
            <a:avLst/>
          </a:prstGeom>
          <a:solidFill>
            <a:srgbClr val="DEE0E3">
              <a:alpha val="100000"/>
            </a:srgbClr>
          </a:solidFill>
          <a:ln w="12700" cap="flat" cmpd="sng">
            <a:solidFill>
              <a:srgbClr val="0891B2">
                <a:alpha val="20000"/>
              </a:srgbClr>
            </a:solidFill>
            <a:prstDash val="solid"/>
            <a:round/>
            <a:headEnd type="none" w="med" len="med"/>
            <a:tailEnd type="none" w="med" len="med"/>
          </a:ln>
        </p:spPr>
      </p:cxnSp>
      <p:sp>
        <p:nvSpPr>
          <p:cNvPr id="8" name="AutoShape 8"/>
          <p:cNvSpPr/>
          <p:nvPr/>
        </p:nvSpPr>
        <p:spPr>
          <a:xfrm>
            <a:off x="4572000" y="1651000"/>
            <a:ext cx="6858000" cy="2349500"/>
          </a:xfrm>
          <a:prstGeom prst="roundRect">
            <a:avLst>
              <a:gd name="adj" fmla="val 0"/>
            </a:avLst>
          </a:prstGeom>
          <a:solidFill>
            <a:srgbClr val="FFFFFF">
              <a:alpha val="100000"/>
            </a:srgbClr>
          </a:solidFill>
          <a:ln w="12700" cap="flat" cmpd="sng">
            <a:solidFill>
              <a:srgbClr val="0891B2">
                <a:alpha val="1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4572000" y="1651000"/>
            <a:ext cx="76200" cy="2349500"/>
          </a:xfrm>
          <a:prstGeom prst="roundRect">
            <a:avLst>
              <a:gd name="adj" fmla="val 0"/>
            </a:avLst>
          </a:prstGeom>
          <a:solidFill>
            <a:srgbClr val="0891B2">
              <a:alpha val="100000"/>
            </a:srgb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4826000" y="17780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问题四：LCD白屏 &amp; SWD调试口失联</a:t>
            </a:r>
            <a:endParaRPr lang="en-US" sz="1100"/>
          </a:p>
        </p:txBody>
      </p:sp>
      <p:cxnSp>
        <p:nvCxnSpPr>
          <p:cNvPr id="11" name="Connector 11"/>
          <p:cNvCxnSpPr/>
          <p:nvPr/>
        </p:nvCxnSpPr>
        <p:spPr>
          <a:xfrm rot="-6875">
            <a:off x="4826006" y="2279650"/>
            <a:ext cx="6350000" cy="12700"/>
          </a:xfrm>
          <a:prstGeom prst="straightConnector1">
            <a:avLst/>
          </a:prstGeom>
          <a:solidFill>
            <a:srgbClr val="DEE0E3">
              <a:alpha val="100000"/>
            </a:srgbClr>
          </a:solidFill>
          <a:ln w="12700" cap="flat" cmpd="sng">
            <a:solidFill>
              <a:srgbClr val="0891B2">
                <a:alpha val="20000"/>
              </a:srgbClr>
            </a:solidFill>
            <a:prstDash val="solid"/>
            <a:round/>
            <a:headEnd type="none" w="med" len="med"/>
            <a:tailEnd type="none" w="med" len="med"/>
          </a:ln>
        </p:spPr>
      </p:cxnSp>
      <p:sp>
        <p:nvSpPr>
          <p:cNvPr id="12" name="AutoShape 12"/>
          <p:cNvSpPr/>
          <p:nvPr/>
        </p:nvSpPr>
        <p:spPr>
          <a:xfrm>
            <a:off x="4826000" y="2476500"/>
            <a:ext cx="203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▍异常现象</a:t>
            </a:r>
            <a:endParaRPr lang="en-US" sz="1100"/>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LCD屏幕显示全白无内容，ST-Link调试器无法识别目标设备，完全失联。</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nvCxnSpPr>
        <p:spPr>
          <a:xfrm rot="5365623">
            <a:off x="6286500" y="3168682"/>
            <a:ext cx="1270000" cy="12700"/>
          </a:xfrm>
          <a:prstGeom prst="straightConnector1">
            <a:avLst/>
          </a:prstGeom>
          <a:solidFill>
            <a:srgbClr val="DEE0E3">
              <a:alpha val="100000"/>
            </a:srgbClr>
          </a:solidFill>
          <a:ln w="12700" cap="flat" cmpd="sng">
            <a:solidFill>
              <a:srgbClr val="0891B2">
                <a:alpha val="20000"/>
              </a:srgbClr>
            </a:solidFill>
            <a:prstDash val="solid"/>
            <a:round/>
            <a:headEnd type="none" w="med" len="med"/>
            <a:tailEnd type="none" w="med" len="med"/>
          </a:ln>
        </p:spPr>
      </p:cxnSp>
      <p:sp>
        <p:nvSpPr>
          <p:cNvPr id="14" name="AutoShape 14"/>
          <p:cNvSpPr/>
          <p:nvPr/>
        </p:nvSpPr>
        <p:spPr>
          <a:xfrm>
            <a:off x="7048500" y="2476500"/>
            <a:ext cx="2095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▍根因分析</a:t>
            </a:r>
            <a:endParaRPr lang="en-US" sz="1100"/>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LCD时钟线(PB4)与JTAG复用，代码错误调用`GPIO_Remap_SWJ_Disable`，直接关闭了SWD接口，引发冲突。</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5" name="Connector 15"/>
          <p:cNvCxnSpPr/>
          <p:nvPr/>
        </p:nvCxnSpPr>
        <p:spPr>
          <a:xfrm rot="5365623">
            <a:off x="8572500" y="3168682"/>
            <a:ext cx="1270000" cy="12700"/>
          </a:xfrm>
          <a:prstGeom prst="straightConnector1">
            <a:avLst/>
          </a:prstGeom>
          <a:solidFill>
            <a:srgbClr val="DEE0E3">
              <a:alpha val="100000"/>
            </a:srgbClr>
          </a:solidFill>
          <a:ln w="12700" cap="flat" cmpd="sng">
            <a:solidFill>
              <a:srgbClr val="0891B2">
                <a:alpha val="20000"/>
              </a:srgbClr>
            </a:solidFill>
            <a:prstDash val="solid"/>
            <a:round/>
            <a:headEnd type="none" w="med" len="med"/>
            <a:tailEnd type="none" w="med" len="med"/>
          </a:ln>
        </p:spPr>
      </p:cxnSp>
      <p:sp>
        <p:nvSpPr>
          <p:cNvPr id="16" name="AutoShape 16"/>
          <p:cNvSpPr/>
          <p:nvPr/>
        </p:nvSpPr>
        <p:spPr>
          <a:xfrm>
            <a:off x="9334500" y="2476500"/>
            <a:ext cx="203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▍解决方案</a:t>
            </a:r>
            <a:endParaRPr lang="en-US" sz="1100"/>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替换为`GPIO_Remap_SWJ_JTAGDisable`仅关闭JTAG保留SWD；正确配置AFIO复用映射，解决引脚占用。</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4572000" y="4318000"/>
            <a:ext cx="3365500" cy="1079500"/>
          </a:xfrm>
          <a:prstGeom prst="roundRect">
            <a:avLst>
              <a:gd name="adj" fmla="val 0"/>
            </a:avLst>
          </a:prstGeom>
          <a:solidFill>
            <a:srgbClr val="FFFFFF">
              <a:alpha val="100000"/>
            </a:srgbClr>
          </a:solidFill>
          <a:ln w="12700" cap="flat" cmpd="sng">
            <a:solidFill>
              <a:srgbClr val="0891B2">
                <a:alpha val="20000"/>
              </a:srgbClr>
            </a:solid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699000" y="4508500"/>
            <a:ext cx="304800" cy="304800"/>
          </a:xfrm>
          <a:prstGeom prst="rect">
            <a:avLst/>
          </a:prstGeom>
        </p:spPr>
      </p:pic>
      <p:sp>
        <p:nvSpPr>
          <p:cNvPr id="19" name="AutoShape 19"/>
          <p:cNvSpPr/>
          <p:nvPr/>
        </p:nvSpPr>
        <p:spPr>
          <a:xfrm>
            <a:off x="5143500" y="4419600"/>
            <a:ext cx="266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执行机构物理特性</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控制器设计必须充分考量电机死区、摩擦等物理参数，否则控制算法将无法达到预期效果。</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8064500" y="4318000"/>
            <a:ext cx="3365500" cy="1079500"/>
          </a:xfrm>
          <a:prstGeom prst="roundRect">
            <a:avLst>
              <a:gd name="adj" fmla="val 0"/>
            </a:avLst>
          </a:prstGeom>
          <a:solidFill>
            <a:srgbClr val="FFFFFF">
              <a:alpha val="100000"/>
            </a:srgbClr>
          </a:solidFill>
          <a:ln w="12700" cap="flat" cmpd="sng">
            <a:solidFill>
              <a:srgbClr val="0891B2">
                <a:alpha val="20000"/>
              </a:srgbClr>
            </a:solidFill>
            <a:prstDash val="solid"/>
            <a:round/>
          </a:ln>
        </p:spPr>
        <p:txBody>
          <a:bodyPr vert="horz" wrap="square" lIns="0" tIns="0" rIns="0" bIns="0" rtlCol="0" anchor="ctr" anchorCtr="0"/>
          <a:lstStyle/>
          <a:p>
            <a:pPr algn="ctr">
              <a:defRPr/>
            </a:pPr>
          </a:p>
        </p:txBody>
      </p:sp>
      <p:pic>
        <p:nvPicPr>
          <p:cNvPr id="21" name="Picture 2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91500" y="4508500"/>
            <a:ext cx="304800" cy="304800"/>
          </a:xfrm>
          <a:prstGeom prst="rect">
            <a:avLst/>
          </a:prstGeom>
        </p:spPr>
      </p:pic>
      <p:sp>
        <p:nvSpPr>
          <p:cNvPr id="22" name="AutoShape 22"/>
          <p:cNvSpPr/>
          <p:nvPr/>
        </p:nvSpPr>
        <p:spPr>
          <a:xfrm>
            <a:off x="8636000" y="4419600"/>
            <a:ext cx="266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稳定性与快速性的权衡</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二者是控制系统的固有矛盾，需通过PID参数整定寻找平衡点，避免系统振荡或响应滞后。</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4572000" y="5524500"/>
            <a:ext cx="3365500" cy="1079500"/>
          </a:xfrm>
          <a:prstGeom prst="roundRect">
            <a:avLst>
              <a:gd name="adj" fmla="val 0"/>
            </a:avLst>
          </a:prstGeom>
          <a:solidFill>
            <a:srgbClr val="FFFFFF">
              <a:alpha val="100000"/>
            </a:srgbClr>
          </a:solidFill>
          <a:ln w="12700" cap="flat" cmpd="sng">
            <a:solidFill>
              <a:srgbClr val="0891B2">
                <a:alpha val="20000"/>
              </a:srgbClr>
            </a:solidFill>
            <a:prstDash val="solid"/>
            <a:round/>
          </a:ln>
        </p:spPr>
        <p:txBody>
          <a:bodyPr vert="horz" wrap="square" lIns="0" tIns="0" rIns="0" bIns="0" rtlCol="0" anchor="ctr" anchorCtr="0"/>
          <a:lstStyle/>
          <a:p>
            <a:pPr algn="ctr">
              <a:defRPr/>
            </a:pPr>
          </a:p>
        </p:txBody>
      </p:sp>
      <p:pic>
        <p:nvPicPr>
          <p:cNvPr id="24" name="Picture 2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5651500"/>
            <a:ext cx="304800" cy="304800"/>
          </a:xfrm>
          <a:prstGeom prst="rect">
            <a:avLst/>
          </a:prstGeom>
        </p:spPr>
      </p:pic>
      <p:sp>
        <p:nvSpPr>
          <p:cNvPr id="25" name="AutoShape 25"/>
          <p:cNvSpPr/>
          <p:nvPr/>
        </p:nvSpPr>
        <p:spPr>
          <a:xfrm>
            <a:off x="5143500" y="5588000"/>
            <a:ext cx="266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复杂系统的涌现性问题</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系统故障往往并非单一模块失效，而是多模块相互作用的结果，需建立全局视角排查问题。</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8064500" y="5524500"/>
            <a:ext cx="3365500" cy="1079500"/>
          </a:xfrm>
          <a:prstGeom prst="roundRect">
            <a:avLst>
              <a:gd name="adj" fmla="val 0"/>
            </a:avLst>
          </a:prstGeom>
          <a:solidFill>
            <a:srgbClr val="FFFFFF">
              <a:alpha val="100000"/>
            </a:srgbClr>
          </a:solidFill>
          <a:ln w="12700" cap="flat" cmpd="sng">
            <a:solidFill>
              <a:srgbClr val="0891B2">
                <a:alpha val="20000"/>
              </a:srgbClr>
            </a:solidFill>
            <a:prstDash val="solid"/>
            <a:round/>
          </a:ln>
        </p:spPr>
        <p:txBody>
          <a:bodyPr vert="horz" wrap="square" lIns="0" tIns="0" rIns="0" bIns="0" rtlCol="0" anchor="ctr" anchorCtr="0"/>
          <a:lstStyle/>
          <a:p>
            <a:pPr algn="ctr">
              <a:defRPr/>
            </a:pPr>
          </a:p>
        </p:txBody>
      </p:sp>
      <p:pic>
        <p:nvPicPr>
          <p:cNvPr id="27" name="Picture 2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91500" y="5651500"/>
            <a:ext cx="304800" cy="304800"/>
          </a:xfrm>
          <a:prstGeom prst="rect">
            <a:avLst/>
          </a:prstGeom>
        </p:spPr>
      </p:pic>
      <p:sp>
        <p:nvSpPr>
          <p:cNvPr id="28" name="AutoShape 28"/>
          <p:cNvSpPr/>
          <p:nvPr/>
        </p:nvSpPr>
        <p:spPr>
          <a:xfrm>
            <a:off x="8636000" y="5588000"/>
            <a:ext cx="266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软硬件边界的模糊性</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很多看似是软件逻辑的Bug，其根源在于硬件引脚配置、电平匹配等底层硬件设计问题。</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9" name="图片 28" descr="post_object_image_2692683777"/>
          <p:cNvPicPr>
            <a:picLocks noChangeAspect="1"/>
          </p:cNvPicPr>
          <p:nvPr/>
        </p:nvPicPr>
        <p:blipFill>
          <a:blip r:embed="rId9"/>
          <a:stretch>
            <a:fillRect/>
          </a:stretch>
        </p:blipFill>
        <p:spPr>
          <a:xfrm>
            <a:off x="1112504" y="1561003"/>
            <a:ext cx="2346941" cy="294755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a:t>
            </a:r>
            <a:endParaRPr lang="en-US" sz="1100"/>
          </a:p>
        </p:txBody>
      </p:sp>
      <p:sp>
        <p:nvSpPr>
          <p:cNvPr id="3" name="AutoShape 3"/>
          <p:cNvSpPr/>
          <p:nvPr/>
        </p:nvSpPr>
        <p:spPr>
          <a:xfrm>
            <a:off x="762000" y="1524000"/>
            <a:ext cx="5334000" cy="2286000"/>
          </a:xfrm>
          <a:prstGeom prst="roundRect">
            <a:avLst>
              <a:gd name="adj" fmla="val 0"/>
            </a:avLst>
          </a:prstGeom>
          <a:solidFill>
            <a:srgbClr val="FFFFFF">
              <a:alpha val="100000"/>
            </a:srgbClr>
          </a:solidFill>
          <a:ln w="12700" cap="flat" cmpd="sng">
            <a:solidFill>
              <a:srgbClr val="0891B2">
                <a:alpha val="40000"/>
              </a:srgbClr>
            </a:solidFill>
            <a:prstDash val="solid"/>
            <a:round/>
          </a:ln>
        </p:spPr>
        <p:txBody>
          <a:bodyPr vert="horz" wrap="square" lIns="0" tIns="0" rIns="0" bIns="0" rtlCol="0" anchor="ctr" anchorCtr="0"/>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304800" cy="304800"/>
          </a:xfrm>
          <a:prstGeom prst="rect">
            <a:avLst/>
          </a:prstGeom>
        </p:spPr>
      </p:pic>
      <p:sp>
        <p:nvSpPr>
          <p:cNvPr id="5" name="AutoShape 5"/>
          <p:cNvSpPr/>
          <p:nvPr/>
        </p:nvSpPr>
        <p:spPr>
          <a:xfrm>
            <a:off x="1460500" y="1752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项目核心成果回顾</a:t>
            </a:r>
            <a:endParaRPr lang="en-US" sz="1100"/>
          </a:p>
        </p:txBody>
      </p:sp>
      <p:cxnSp>
        <p:nvCxnSpPr>
          <p:cNvPr id="6" name="Connector 6"/>
          <p:cNvCxnSpPr/>
          <p:nvPr/>
        </p:nvCxnSpPr>
        <p:spPr>
          <a:xfrm rot="-9046">
            <a:off x="1016008" y="2279650"/>
            <a:ext cx="4826000" cy="12700"/>
          </a:xfrm>
          <a:prstGeom prst="straightConnector1">
            <a:avLst/>
          </a:prstGeom>
          <a:solidFill>
            <a:srgbClr val="DEE0E3">
              <a:alpha val="100000"/>
            </a:srgbClr>
          </a:solidFill>
          <a:ln w="12700" cap="flat" cmpd="sng">
            <a:solidFill>
              <a:srgbClr val="0891B2">
                <a:alpha val="20000"/>
              </a:srgbClr>
            </a:solidFill>
            <a:prstDash val="solid"/>
            <a:round/>
            <a:headEnd type="none" w="med" len="med"/>
            <a:tailEnd type="none" w="med" len="med"/>
          </a:ln>
        </p:spPr>
      </p:cxnSp>
      <p:sp>
        <p:nvSpPr>
          <p:cNvPr id="7" name="AutoShape 7"/>
          <p:cNvSpPr/>
          <p:nvPr/>
        </p:nvSpPr>
        <p:spPr>
          <a:xfrm>
            <a:off x="1016000" y="2476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成功集成全模块实现完整功能，经历了从理论设计到工程落地的全流程。针对系统非理想现象完成了深度问题分析与补偿，并显著提升了硬件调试、实时编程及控制系统分析的综合工程能力。</a:t>
            </a:r>
            <a:endParaRPr lang="en-US" sz="1100"/>
          </a:p>
        </p:txBody>
      </p:sp>
      <p:sp>
        <p:nvSpPr>
          <p:cNvPr id="8" name="AutoShape 8"/>
          <p:cNvSpPr/>
          <p:nvPr/>
        </p:nvSpPr>
        <p:spPr>
          <a:xfrm>
            <a:off x="762000" y="4064000"/>
            <a:ext cx="5334000" cy="2286000"/>
          </a:xfrm>
          <a:prstGeom prst="roundRect">
            <a:avLst>
              <a:gd name="adj" fmla="val 0"/>
            </a:avLst>
          </a:prstGeom>
          <a:solidFill>
            <a:srgbClr val="FFFFFF">
              <a:alpha val="100000"/>
            </a:srgbClr>
          </a:solidFill>
          <a:ln w="12700" cap="flat" cmpd="sng">
            <a:solidFill>
              <a:srgbClr val="0891B2">
                <a:alpha val="40000"/>
              </a:srgbClr>
            </a:solidFill>
            <a:prstDash val="solid"/>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318000"/>
            <a:ext cx="304800" cy="304800"/>
          </a:xfrm>
          <a:prstGeom prst="rect">
            <a:avLst/>
          </a:prstGeom>
        </p:spPr>
      </p:pic>
      <p:sp>
        <p:nvSpPr>
          <p:cNvPr id="10" name="AutoShape 10"/>
          <p:cNvSpPr/>
          <p:nvPr/>
        </p:nvSpPr>
        <p:spPr>
          <a:xfrm>
            <a:off x="1460500" y="4292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当前系统局限与不足</a:t>
            </a:r>
            <a:endParaRPr lang="en-US" sz="1100"/>
          </a:p>
        </p:txBody>
      </p:sp>
      <p:cxnSp>
        <p:nvCxnSpPr>
          <p:cNvPr id="11" name="Connector 11"/>
          <p:cNvCxnSpPr/>
          <p:nvPr/>
        </p:nvCxnSpPr>
        <p:spPr>
          <a:xfrm rot="-9046">
            <a:off x="1016008" y="4819650"/>
            <a:ext cx="4826000" cy="12700"/>
          </a:xfrm>
          <a:prstGeom prst="straightConnector1">
            <a:avLst/>
          </a:prstGeom>
          <a:solidFill>
            <a:srgbClr val="DEE0E3">
              <a:alpha val="100000"/>
            </a:srgbClr>
          </a:solidFill>
          <a:ln w="12700" cap="flat" cmpd="sng">
            <a:solidFill>
              <a:srgbClr val="0891B2">
                <a:alpha val="20000"/>
              </a:srgbClr>
            </a:solidFill>
            <a:prstDash val="solid"/>
            <a:round/>
            <a:headEnd type="none" w="med" len="med"/>
            <a:tailEnd type="none" w="med" len="med"/>
          </a:ln>
        </p:spPr>
      </p:cxnSp>
      <p:sp>
        <p:nvSpPr>
          <p:cNvPr id="12" name="AutoShape 12"/>
          <p:cNvSpPr/>
          <p:nvPr/>
        </p:nvSpPr>
        <p:spPr>
          <a:xfrm>
            <a:off x="1016000" y="5016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系统存在长期漂移的稳定性问题；控制效果对摆杆质量、长度等机械参数过于敏感；且缺乏严格的数学模型支撑，现有算法更多依赖经验调试，缺乏系统性的理论基础。</a:t>
            </a:r>
            <a:endParaRPr lang="en-US" sz="1100"/>
          </a:p>
        </p:txBody>
      </p:sp>
      <p:cxnSp>
        <p:nvCxnSpPr>
          <p:cNvPr id="13" name="Connector 13"/>
          <p:cNvCxnSpPr/>
          <p:nvPr/>
        </p:nvCxnSpPr>
        <p:spPr>
          <a:xfrm rot="5390953">
            <a:off x="3937000" y="3930658"/>
            <a:ext cx="4826000" cy="12700"/>
          </a:xfrm>
          <a:prstGeom prst="straightConnector1">
            <a:avLst/>
          </a:prstGeom>
          <a:solidFill>
            <a:srgbClr val="DEE0E3">
              <a:alpha val="100000"/>
            </a:srgbClr>
          </a:solidFill>
          <a:ln w="12700" cap="flat" cmpd="sng">
            <a:solidFill>
              <a:srgbClr val="0891B2">
                <a:alpha val="30000"/>
              </a:srgbClr>
            </a:solidFill>
            <a:prstDash val="dash"/>
            <a:round/>
            <a:headEnd type="none" w="med" len="med"/>
            <a:tailEnd type="none" w="med" len="med"/>
          </a:ln>
        </p:spPr>
      </p:cxnSp>
      <p:pic>
        <p:nvPicPr>
          <p:cNvPr id="14" name="Picture 14"/>
          <p:cNvPicPr>
            <a:picLocks noChangeAspect="1"/>
          </p:cNvPicPr>
          <p:nvPr/>
        </p:nvPicPr>
        <p:blipFill>
          <a:blip r:embed="rId5"/>
          <a:srcRect l="4912" r="4912"/>
          <a:stretch>
            <a:fillRect/>
          </a:stretch>
        </p:blipFill>
        <p:spPr>
          <a:xfrm>
            <a:off x="6604000" y="1778000"/>
            <a:ext cx="2667000" cy="1778000"/>
          </a:xfrm>
          <a:prstGeom prst="rect">
            <a:avLst/>
          </a:prstGeom>
          <a:noFill/>
          <a:ln w="25400" cap="flat" cmpd="sng">
            <a:noFill/>
            <a:prstDash val="solid"/>
            <a:round/>
          </a:ln>
        </p:spPr>
      </p:pic>
      <p:sp>
        <p:nvSpPr>
          <p:cNvPr id="15" name="AutoShape 15"/>
          <p:cNvSpPr/>
          <p:nvPr/>
        </p:nvSpPr>
        <p:spPr>
          <a:xfrm>
            <a:off x="9461500" y="1778000"/>
            <a:ext cx="2222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算法优化示意</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引入卡尔曼滤波算法处理传感器噪声，结合预测与更新环节，能有效提升状态估计的准确性，为系统提供更可靠的反馈数据。</a:t>
            </a:r>
            <a:endParaRPr lang="en-US" sz="1100"/>
          </a:p>
        </p:txBody>
      </p:sp>
      <p:sp>
        <p:nvSpPr>
          <p:cNvPr id="16" name="AutoShape 16"/>
          <p:cNvSpPr/>
          <p:nvPr/>
        </p:nvSpPr>
        <p:spPr>
          <a:xfrm>
            <a:off x="6604000" y="4064000"/>
            <a:ext cx="1600200" cy="2286000"/>
          </a:xfrm>
          <a:prstGeom prst="roundRect">
            <a:avLst>
              <a:gd name="adj" fmla="val 0"/>
            </a:avLst>
          </a:prstGeom>
          <a:solidFill>
            <a:srgbClr val="0891B2">
              <a:alpha val="8000"/>
            </a:srgbClr>
          </a:solidFill>
          <a:ln w="25400" cap="flat" cmpd="sng">
            <a:noFill/>
            <a:prstDash val="solid"/>
            <a:round/>
          </a:ln>
        </p:spPr>
        <p:txBody>
          <a:bodyPr vert="horz" wrap="square" lIns="0" tIns="0" rIns="0" bIns="0" rtlCol="0" anchor="ctr" anchorCtr="0"/>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56400" y="4318000"/>
            <a:ext cx="355600" cy="355600"/>
          </a:xfrm>
          <a:prstGeom prst="rect">
            <a:avLst/>
          </a:prstGeom>
        </p:spPr>
      </p:pic>
      <p:sp>
        <p:nvSpPr>
          <p:cNvPr id="18" name="AutoShape 18"/>
          <p:cNvSpPr/>
          <p:nvPr/>
        </p:nvSpPr>
        <p:spPr>
          <a:xfrm>
            <a:off x="6731000" y="4826000"/>
            <a:ext cx="1346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机械结构优化</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重新设计摆杆结构，选用更轻质材料，提高小车机械参数的一致性，降低硬件差异带来的影响。</a:t>
            </a:r>
            <a:endParaRPr lang="en-US" sz="1100"/>
          </a:p>
        </p:txBody>
      </p:sp>
      <p:sp>
        <p:nvSpPr>
          <p:cNvPr id="19" name="AutoShape 19"/>
          <p:cNvSpPr/>
          <p:nvPr/>
        </p:nvSpPr>
        <p:spPr>
          <a:xfrm>
            <a:off x="8356600" y="4064000"/>
            <a:ext cx="1600200" cy="2286000"/>
          </a:xfrm>
          <a:prstGeom prst="roundRect">
            <a:avLst>
              <a:gd name="adj" fmla="val 0"/>
            </a:avLst>
          </a:prstGeom>
          <a:solidFill>
            <a:srgbClr val="0891B2">
              <a:alpha val="8000"/>
            </a:srgbClr>
          </a:solidFill>
          <a:ln w="25400" cap="flat" cmpd="sng">
            <a:noFill/>
            <a:prstDash val="solid"/>
            <a:round/>
          </a:ln>
        </p:spPr>
        <p:txBody>
          <a:bodyPr vert="horz" wrap="square" lIns="0" tIns="0" rIns="0" bIns="0" rtlCol="0" anchor="ctr" anchorCtr="0"/>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09000" y="4318000"/>
            <a:ext cx="355600" cy="355600"/>
          </a:xfrm>
          <a:prstGeom prst="rect">
            <a:avLst/>
          </a:prstGeom>
        </p:spPr>
      </p:pic>
      <p:sp>
        <p:nvSpPr>
          <p:cNvPr id="21" name="AutoShape 21"/>
          <p:cNvSpPr/>
          <p:nvPr/>
        </p:nvSpPr>
        <p:spPr>
          <a:xfrm>
            <a:off x="8458200" y="4826000"/>
            <a:ext cx="1346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传感融合升级</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引入陀螺仪辅助测量角速度，结合卡尔曼滤波融合多传感器数据，抑制噪声，提升角度检测精度。</a:t>
            </a:r>
            <a:endParaRPr lang="en-US" sz="1100"/>
          </a:p>
        </p:txBody>
      </p:sp>
      <p:sp>
        <p:nvSpPr>
          <p:cNvPr id="22" name="AutoShape 22"/>
          <p:cNvSpPr/>
          <p:nvPr/>
        </p:nvSpPr>
        <p:spPr>
          <a:xfrm>
            <a:off x="10033000" y="4064000"/>
            <a:ext cx="1600200" cy="2286000"/>
          </a:xfrm>
          <a:prstGeom prst="roundRect">
            <a:avLst>
              <a:gd name="adj" fmla="val 0"/>
            </a:avLst>
          </a:prstGeom>
          <a:solidFill>
            <a:srgbClr val="0891B2">
              <a:alpha val="8000"/>
            </a:srgbClr>
          </a:solidFill>
          <a:ln w="25400" cap="flat" cmpd="sng">
            <a:noFill/>
            <a:prstDash val="solid"/>
            <a:round/>
          </a:ln>
        </p:spPr>
        <p:txBody>
          <a:bodyPr vert="horz" wrap="square" lIns="0" tIns="0" rIns="0" bIns="0" rtlCol="0" anchor="ctr" anchorCtr="0"/>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85400" y="4318000"/>
            <a:ext cx="355600" cy="355600"/>
          </a:xfrm>
          <a:prstGeom prst="rect">
            <a:avLst/>
          </a:prstGeom>
        </p:spPr>
      </p:pic>
      <p:sp>
        <p:nvSpPr>
          <p:cNvPr id="24" name="AutoShape 24"/>
          <p:cNvSpPr/>
          <p:nvPr/>
        </p:nvSpPr>
        <p:spPr>
          <a:xfrm>
            <a:off x="10134600" y="4826000"/>
            <a:ext cx="1346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控制策略迭代</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建立系统精确的线性化数学模型，尝试LQR线性二次型调节器等现代控制算法，实现更优的控制性能。</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2921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55,&quot;left&quot;:60,&quot;top&quot;:130,&quot;width&quot;:850}"/>
</p:tagLst>
</file>

<file path=ppt/tags/tag2.xml><?xml version="1.0" encoding="utf-8"?>
<p:tagLst xmlns:p="http://schemas.openxmlformats.org/presentationml/2006/main">
  <p:tag name="KSO_WM_DIAGRAM_VIRTUALLY_FRAME" val="{&quot;height&quot;:355,&quot;left&quot;:60,&quot;top&quot;:130,&quot;width&quot;:850}"/>
</p:tagLst>
</file>

<file path=ppt/tags/tag3.xml><?xml version="1.0" encoding="utf-8"?>
<p:tagLst xmlns:p="http://schemas.openxmlformats.org/presentationml/2006/main">
  <p:tag name="KSO_WM_DIAGRAM_VIRTUALLY_FRAME" val="{&quot;height&quot;:355,&quot;left&quot;:60,&quot;top&quot;:130,&quot;width&quot;:850}"/>
</p:tagLst>
</file>

<file path=ppt/tags/tag4.xml><?xml version="1.0" encoding="utf-8"?>
<p:tagLst xmlns:p="http://schemas.openxmlformats.org/presentationml/2006/main">
  <p:tag name="KSO_WM_DIAGRAM_VIRTUALLY_FRAME" val="{&quot;height&quot;:355,&quot;left&quot;:60,&quot;top&quot;:130,&quot;width&quot;:850}"/>
</p:tagLst>
</file>

<file path=ppt/tags/tag5.xml><?xml version="1.0" encoding="utf-8"?>
<p:tagLst xmlns:p="http://schemas.openxmlformats.org/presentationml/2006/main">
  <p:tag name="KSO_WM_DIAGRAM_VIRTUALLY_FRAME" val="{&quot;height&quot;:355,&quot;left&quot;:60,&quot;top&quot;:130,&quot;width&quot;:850}"/>
</p:tagLst>
</file>

<file path=ppt/tags/tag6.xml><?xml version="1.0" encoding="utf-8"?>
<p:tagLst xmlns:p="http://schemas.openxmlformats.org/presentationml/2006/main">
  <p:tag name="KSO_WM_DIAGRAM_VIRTUALLY_FRAME" val="{&quot;height&quot;:355,&quot;left&quot;:60,&quot;top&quot;:130,&quot;width&quot;:850}"/>
</p:tagLst>
</file>

<file path=ppt/tags/tag7.xml><?xml version="1.0" encoding="utf-8"?>
<p:tagLst xmlns:p="http://schemas.openxmlformats.org/presentationml/2006/main">
  <p:tag name="KSO_WM_DIAGRAM_VIRTUALLY_FRAME" val="{&quot;height&quot;:355,&quot;left&quot;:60,&quot;top&quot;:130,&quot;width&quot;:850}"/>
</p:tagLst>
</file>

<file path=ppt/tags/tag8.xml><?xml version="1.0" encoding="utf-8"?>
<p:tagLst xmlns:p="http://schemas.openxmlformats.org/presentationml/2006/main">
  <p:tag name="KSO_WM_DIAGRAM_VIRTUALLY_FRAME" val="{&quot;height&quot;:355,&quot;left&quot;:60,&quot;top&quot;:130,&quot;width&quot;:850}"/>
</p:tagLst>
</file>

<file path=ppt/tags/tag9.xml><?xml version="1.0" encoding="utf-8"?>
<p:tagLst xmlns:p="http://schemas.openxmlformats.org/presentationml/2006/main">
  <p:tag name="KSO_WM_DIAGRAM_VIRTUALLY_FRAME" val="{&quot;height&quot;:355,&quot;left&quot;:60,&quot;top&quot;:130,&quot;width&quot;:850}"/>
</p:tagLst>
</file>

<file path=ppt/tags/tag10.xml><?xml version="1.0" encoding="utf-8"?>
<p:tagLst xmlns:p="http://schemas.openxmlformats.org/presentationml/2006/main">
  <p:tag name="KSO_WM_DIAGRAM_VIRTUALLY_FRAME" val="{&quot;height&quot;:355,&quot;left&quot;:60,&quot;top&quot;:130,&quot;width&quot;:850}"/>
</p:tagLst>
</file>

<file path=ppt/tags/tag11.xml><?xml version="1.0" encoding="utf-8"?>
<p:tagLst xmlns:p="http://schemas.openxmlformats.org/presentationml/2006/main">
  <p:tag name="KSO_WM_DIAGRAM_VIRTUALLY_FRAME" val="{&quot;height&quot;:355,&quot;left&quot;:60,&quot;top&quot;:130,&quot;width&quot;:850}"/>
</p:tagLst>
</file>

<file path=ppt/tags/tag12.xml><?xml version="1.0" encoding="utf-8"?>
<p:tagLst xmlns:p="http://schemas.openxmlformats.org/presentationml/2006/main">
  <p:tag name="KSO_WM_DIAGRAM_VIRTUALLY_FRAME" val="{&quot;height&quot;:355,&quot;left&quot;:60,&quot;top&quot;:130,&quot;width&quot;:850}"/>
</p:tagLst>
</file>

<file path=ppt/tags/tag13.xml><?xml version="1.0" encoding="utf-8"?>
<p:tagLst xmlns:p="http://schemas.openxmlformats.org/presentationml/2006/main">
  <p:tag name="KSO_WM_DIAGRAM_VIRTUALLY_FRAME" val="{&quot;height&quot;:355,&quot;left&quot;:60,&quot;top&quot;:130,&quot;width&quot;:850}"/>
</p:tagLst>
</file>

<file path=ppt/tags/tag14.xml><?xml version="1.0" encoding="utf-8"?>
<p:tagLst xmlns:p="http://schemas.openxmlformats.org/presentationml/2006/main">
  <p:tag name="KSO_WM_DIAGRAM_VIRTUALLY_FRAME" val="{&quot;height&quot;:355,&quot;left&quot;:60,&quot;top&quot;:130,&quot;width&quot;:850}"/>
</p:tagLst>
</file>

<file path=ppt/tags/tag15.xml><?xml version="1.0" encoding="utf-8"?>
<p:tagLst xmlns:p="http://schemas.openxmlformats.org/presentationml/2006/main">
  <p:tag name="KSO_WM_DIAGRAM_VIRTUALLY_FRAME" val="{&quot;height&quot;:355,&quot;left&quot;:60,&quot;top&quot;:130,&quot;width&quot;:850}"/>
</p:tagLst>
</file>

<file path=ppt/tags/tag16.xml><?xml version="1.0" encoding="utf-8"?>
<p:tagLst xmlns:p="http://schemas.openxmlformats.org/presentationml/2006/main">
  <p:tag name="KSO_WM_DIAGRAM_VIRTUALLY_FRAME" val="{&quot;height&quot;:355,&quot;left&quot;:60,&quot;top&quot;:130,&quot;width&quot;:850}"/>
</p:tagLst>
</file>

<file path=ppt/tags/tag17.xml><?xml version="1.0" encoding="utf-8"?>
<p:tagLst xmlns:p="http://schemas.openxmlformats.org/presentationml/2006/main">
  <p:tag name="KSO_WM_DIAGRAM_VIRTUALLY_FRAME" val="{&quot;height&quot;:355,&quot;left&quot;:60,&quot;top&quot;:130,&quot;width&quot;:850}"/>
</p:tagLst>
</file>

<file path=ppt/tags/tag18.xml><?xml version="1.0" encoding="utf-8"?>
<p:tagLst xmlns:p="http://schemas.openxmlformats.org/presentationml/2006/main">
  <p:tag name="KSO_WM_DIAGRAM_VIRTUALLY_FRAME" val="{&quot;height&quot;:355,&quot;left&quot;:60,&quot;top&quot;:130,&quot;width&quot;:850}"/>
</p:tagLst>
</file>

<file path=ppt/tags/tag19.xml><?xml version="1.0" encoding="utf-8"?>
<p:tagLst xmlns:p="http://schemas.openxmlformats.org/presentationml/2006/main">
  <p:tag name="KSO_WM_DIAGRAM_VIRTUALLY_FRAME" val="{&quot;height&quot;:355,&quot;left&quot;:60,&quot;top&quot;:130,&quot;width&quot;:850}"/>
</p:tagLst>
</file>

<file path=ppt/tags/tag20.xml><?xml version="1.0" encoding="utf-8"?>
<p:tagLst xmlns:p="http://schemas.openxmlformats.org/presentationml/2006/main">
  <p:tag name="KSO_WM_DIAGRAM_VIRTUALLY_FRAME" val="{&quot;height&quot;:355,&quot;left&quot;:60,&quot;top&quot;:130,&quot;width&quot;:850}"/>
</p:tagLst>
</file>

<file path=ppt/tags/tag21.xml><?xml version="1.0" encoding="utf-8"?>
<p:tagLst xmlns:p="http://schemas.openxmlformats.org/presentationml/2006/main">
  <p:tag name="KSO_WM_DIAGRAM_VIRTUALLY_FRAME" val="{&quot;height&quot;:355,&quot;left&quot;:60,&quot;top&quot;:130,&quot;width&quot;:850}"/>
</p:tagLst>
</file>

<file path=ppt/tags/tag22.xml><?xml version="1.0" encoding="utf-8"?>
<p:tagLst xmlns:p="http://schemas.openxmlformats.org/presentationml/2006/main">
  <p:tag name="KSO_WM_DIAGRAM_VIRTUALLY_FRAME" val="{&quot;height&quot;:355,&quot;left&quot;:60,&quot;top&quot;:130,&quot;width&quot;:850}"/>
</p:tagLst>
</file>

<file path=ppt/tags/tag23.xml><?xml version="1.0" encoding="utf-8"?>
<p:tagLst xmlns:p="http://schemas.openxmlformats.org/presentationml/2006/main">
  <p:tag name="KSO_WM_DIAGRAM_VIRTUALLY_FRAME" val="{&quot;height&quot;:355,&quot;left&quot;:60,&quot;top&quot;:130,&quot;width&quot;:850}"/>
</p:tagLst>
</file>

<file path=ppt/tags/tag24.xml><?xml version="1.0" encoding="utf-8"?>
<p:tagLst xmlns:p="http://schemas.openxmlformats.org/presentationml/2006/main">
  <p:tag name="KSO_WM_DIAGRAM_VIRTUALLY_FRAME" val="{&quot;height&quot;:355,&quot;left&quot;:60,&quot;top&quot;:130,&quot;width&quot;:850}"/>
</p:tagLst>
</file>

<file path=ppt/tags/tag25.xml><?xml version="1.0" encoding="utf-8"?>
<p:tagLst xmlns:p="http://schemas.openxmlformats.org/presentationml/2006/main">
  <p:tag name="TABLE_ENDDRAG_ORIGIN_RECT" val="750*291"/>
  <p:tag name="TABLE_ENDDRAG_RECT" val="86*159*750*291"/>
</p:tagLst>
</file>

<file path=ppt/tags/tag26.xml><?xml version="1.0" encoding="utf-8"?>
<p:tagLst xmlns:p="http://schemas.openxmlformats.org/presentationml/2006/main">
  <p:tag name="TABLE_ENDDRAG_ORIGIN_RECT" val="383*150"/>
  <p:tag name="TABLE_ENDDRAG_RECT" val="49*222*383*150"/>
</p:tagLst>
</file>

<file path=ppt/tags/tag27.xml><?xml version="1.0" encoding="utf-8"?>
<p:tagLst xmlns:p="http://schemas.openxmlformats.org/presentationml/2006/main">
  <p:tag name="TABLE_ENDDRAG_ORIGIN_RECT" val="383*111"/>
  <p:tag name="TABLE_ENDDRAG_RECT" val="49*417*383*111"/>
</p:tagLst>
</file>

<file path=ppt/tags/tag28.xml><?xml version="1.0" encoding="utf-8"?>
<p:tagLst xmlns:p="http://schemas.openxmlformats.org/presentationml/2006/main">
  <p:tag name="TABLE_ENDDRAG_ORIGIN_RECT" val="496*226"/>
  <p:tag name="TABLE_ENDDRAG_RECT" val="440*166*496*226"/>
</p:tagLst>
</file>

<file path=ppt/tags/tag29.xml><?xml version="1.0" encoding="utf-8"?>
<p:tagLst xmlns:p="http://schemas.openxmlformats.org/presentationml/2006/main">
  <p:tag name="TABLE_ENDDRAG_ORIGIN_RECT" val="897*421"/>
  <p:tag name="TABLE_ENDDRAG_RECT" val="31*89*897*421"/>
</p:tagLst>
</file>

<file path=ppt/tags/tag30.xml><?xml version="1.0" encoding="utf-8"?>
<p:tagLst xmlns:p="http://schemas.openxmlformats.org/presentationml/2006/main">
  <p:tag name="TABLE_ENDDRAG_ORIGIN_RECT" val="905*193"/>
  <p:tag name="TABLE_ENDDRAG_RECT" val="42*113*905*193"/>
</p:tagLst>
</file>

<file path=ppt/tags/tag31.xml><?xml version="1.0" encoding="utf-8"?>
<p:tagLst xmlns:p="http://schemas.openxmlformats.org/presentationml/2006/main">
  <p:tag name="KSO_WM_DIAGRAM_VIRTUALLY_FRAME" val="{&quot;height&quot;:230,&quot;left&quot;:60,&quot;top&quot;:240,&quot;width&quot;:850}"/>
</p:tagLst>
</file>

<file path=ppt/tags/tag32.xml><?xml version="1.0" encoding="utf-8"?>
<p:tagLst xmlns:p="http://schemas.openxmlformats.org/presentationml/2006/main">
  <p:tag name="KSO_WM_DIAGRAM_VIRTUALLY_FRAME" val="{&quot;height&quot;:230,&quot;left&quot;:60,&quot;top&quot;:240,&quot;width&quot;:850}"/>
</p:tagLst>
</file>

<file path=ppt/tags/tag33.xml><?xml version="1.0" encoding="utf-8"?>
<p:tagLst xmlns:p="http://schemas.openxmlformats.org/presentationml/2006/main">
  <p:tag name="KSO_WM_DIAGRAM_VIRTUALLY_FRAME" val="{&quot;height&quot;:230,&quot;left&quot;:60,&quot;top&quot;:240,&quot;width&quot;:850}"/>
</p:tagLst>
</file>

<file path=ppt/tags/tag34.xml><?xml version="1.0" encoding="utf-8"?>
<p:tagLst xmlns:p="http://schemas.openxmlformats.org/presentationml/2006/main">
  <p:tag name="KSO_WM_DIAGRAM_VIRTUALLY_FRAME" val="{&quot;height&quot;:230,&quot;left&quot;:60,&quot;top&quot;:240,&quot;width&quot;:850}"/>
</p:tagLst>
</file>

<file path=ppt/tags/tag35.xml><?xml version="1.0" encoding="utf-8"?>
<p:tagLst xmlns:p="http://schemas.openxmlformats.org/presentationml/2006/main">
  <p:tag name="KSO_WM_DIAGRAM_VIRTUALLY_FRAME" val="{&quot;height&quot;:230,&quot;left&quot;:60,&quot;top&quot;:240,&quot;width&quot;:850}"/>
</p:tagLst>
</file>

<file path=ppt/tags/tag36.xml><?xml version="1.0" encoding="utf-8"?>
<p:tagLst xmlns:p="http://schemas.openxmlformats.org/presentationml/2006/main">
  <p:tag name="KSO_WM_DIAGRAM_VIRTUALLY_FRAME" val="{&quot;height&quot;:230,&quot;left&quot;:60,&quot;top&quot;:240,&quot;width&quot;:850}"/>
</p:tagLst>
</file>

<file path=ppt/tags/tag37.xml><?xml version="1.0" encoding="utf-8"?>
<p:tagLst xmlns:p="http://schemas.openxmlformats.org/presentationml/2006/main">
  <p:tag name="KSO_WM_DIAGRAM_VIRTUALLY_FRAME" val="{&quot;height&quot;:230,&quot;left&quot;:60,&quot;top&quot;:240,&quot;width&quot;:850}"/>
</p:tagLst>
</file>

<file path=ppt/tags/tag38.xml><?xml version="1.0" encoding="utf-8"?>
<p:tagLst xmlns:p="http://schemas.openxmlformats.org/presentationml/2006/main">
  <p:tag name="KSO_WM_DIAGRAM_VIRTUALLY_FRAME" val="{&quot;height&quot;:230,&quot;left&quot;:60,&quot;top&quot;:240,&quot;width&quot;:850}"/>
</p:tagLst>
</file>

<file path=ppt/tags/tag39.xml><?xml version="1.0" encoding="utf-8"?>
<p:tagLst xmlns:p="http://schemas.openxmlformats.org/presentationml/2006/main">
  <p:tag name="KSO_WM_DIAGRAM_VIRTUALLY_FRAME" val="{&quot;height&quot;:230,&quot;left&quot;:60,&quot;top&quot;:240,&quot;width&quot;:850}"/>
</p:tagLst>
</file>

<file path=ppt/tags/tag40.xml><?xml version="1.0" encoding="utf-8"?>
<p:tagLst xmlns:p="http://schemas.openxmlformats.org/presentationml/2006/main">
  <p:tag name="KSO_WM_DIAGRAM_VIRTUALLY_FRAME" val="{&quot;height&quot;:374.9999999999999,&quot;left&quot;:400,&quot;top&quot;:115.18976377952757,&quot;width&quot;:500}"/>
</p:tagLst>
</file>

<file path=ppt/tags/tag41.xml><?xml version="1.0" encoding="utf-8"?>
<p:tagLst xmlns:p="http://schemas.openxmlformats.org/presentationml/2006/main">
  <p:tag name="KSO_WM_DIAGRAM_VIRTUALLY_FRAME" val="{&quot;height&quot;:374.9999999999999,&quot;left&quot;:400,&quot;top&quot;:115.18976377952757,&quot;width&quot;:500}"/>
</p:tagLst>
</file>

<file path=ppt/tags/tag42.xml><?xml version="1.0" encoding="utf-8"?>
<p:tagLst xmlns:p="http://schemas.openxmlformats.org/presentationml/2006/main">
  <p:tag name="KSO_WM_DIAGRAM_VIRTUALLY_FRAME" val="{&quot;height&quot;:374.9999999999999,&quot;left&quot;:400,&quot;top&quot;:115.18976377952757,&quot;width&quot;:500}"/>
</p:tagLst>
</file>

<file path=ppt/tags/tag43.xml><?xml version="1.0" encoding="utf-8"?>
<p:tagLst xmlns:p="http://schemas.openxmlformats.org/presentationml/2006/main">
  <p:tag name="KSO_WM_DIAGRAM_VIRTUALLY_FRAME" val="{&quot;height&quot;:374.9999999999999,&quot;left&quot;:400,&quot;top&quot;:115.18976377952757,&quot;width&quot;:500}"/>
</p:tagLst>
</file>

<file path=ppt/tags/tag44.xml><?xml version="1.0" encoding="utf-8"?>
<p:tagLst xmlns:p="http://schemas.openxmlformats.org/presentationml/2006/main">
  <p:tag name="KSO_WM_DIAGRAM_VIRTUALLY_FRAME" val="{&quot;height&quot;:374.9999999999999,&quot;left&quot;:400,&quot;top&quot;:115.18976377952757,&quot;width&quot;:500}"/>
</p:tagLst>
</file>

<file path=ppt/tags/tag45.xml><?xml version="1.0" encoding="utf-8"?>
<p:tagLst xmlns:p="http://schemas.openxmlformats.org/presentationml/2006/main">
  <p:tag name="KSO_WM_DIAGRAM_VIRTUALLY_FRAME" val="{&quot;height&quot;:374.9999999999999,&quot;left&quot;:400,&quot;top&quot;:115.18976377952757,&quot;width&quot;:500}"/>
</p:tagLst>
</file>

<file path=ppt/tags/tag46.xml><?xml version="1.0" encoding="utf-8"?>
<p:tagLst xmlns:p="http://schemas.openxmlformats.org/presentationml/2006/main">
  <p:tag name="KSO_WM_DIAGRAM_VIRTUALLY_FRAME" val="{&quot;height&quot;:374.9999999999999,&quot;left&quot;:400,&quot;top&quot;:115.18976377952757,&quot;width&quot;:500}"/>
</p:tagLst>
</file>

<file path=ppt/tags/tag47.xml><?xml version="1.0" encoding="utf-8"?>
<p:tagLst xmlns:p="http://schemas.openxmlformats.org/presentationml/2006/main">
  <p:tag name="KSO_WM_DIAGRAM_VIRTUALLY_FRAME" val="{&quot;height&quot;:374.9999999999999,&quot;left&quot;:400,&quot;top&quot;:115.18976377952757,&quot;width&quot;:500}"/>
</p:tagLst>
</file>

<file path=ppt/tags/tag48.xml><?xml version="1.0" encoding="utf-8"?>
<p:tagLst xmlns:p="http://schemas.openxmlformats.org/presentationml/2006/main">
  <p:tag name="KSO_WM_DIAGRAM_VIRTUALLY_FRAME" val="{&quot;height&quot;:374.9999999999999,&quot;left&quot;:400,&quot;top&quot;:115.18976377952757,&quot;width&quot;:500}"/>
</p:tagLst>
</file>

<file path=ppt/tags/tag49.xml><?xml version="1.0" encoding="utf-8"?>
<p:tagLst xmlns:p="http://schemas.openxmlformats.org/presentationml/2006/main">
  <p:tag name="KSO_WM_DIAGRAM_VIRTUALLY_FRAME" val="{&quot;height&quot;:374.9999999999999,&quot;left&quot;:400,&quot;top&quot;:115.18976377952757,&quot;width&quot;:500}"/>
</p:tagLst>
</file>

<file path=ppt/tags/tag50.xml><?xml version="1.0" encoding="utf-8"?>
<p:tagLst xmlns:p="http://schemas.openxmlformats.org/presentationml/2006/main">
  <p:tag name="KSO_WM_DIAGRAM_VIRTUALLY_FRAME" val="{&quot;height&quot;:374.9999999999999,&quot;left&quot;:400,&quot;top&quot;:115.18976377952757,&quot;width&quot;:500}"/>
</p:tagLst>
</file>

<file path=ppt/tags/tag51.xml><?xml version="1.0" encoding="utf-8"?>
<p:tagLst xmlns:p="http://schemas.openxmlformats.org/presentationml/2006/main">
  <p:tag name="KSO_WM_DIAGRAM_VIRTUALLY_FRAME" val="{&quot;height&quot;:374.9999999999999,&quot;left&quot;:400,&quot;top&quot;:115.18976377952757,&quot;width&quot;:500}"/>
</p:tagLst>
</file>

<file path=ppt/tags/tag52.xml><?xml version="1.0" encoding="utf-8"?>
<p:tagLst xmlns:p="http://schemas.openxmlformats.org/presentationml/2006/main">
  <p:tag name="KSO_WM_DIAGRAM_VIRTUALLY_FRAME" val="{&quot;height&quot;:374.9999999999999,&quot;left&quot;:400,&quot;top&quot;:115.18976377952757,&quot;width&quot;:500}"/>
</p:tagLst>
</file>

<file path=ppt/tags/tag53.xml><?xml version="1.0" encoding="utf-8"?>
<p:tagLst xmlns:p="http://schemas.openxmlformats.org/presentationml/2006/main">
  <p:tag name="KSO_WM_DIAGRAM_VIRTUALLY_FRAME" val="{&quot;height&quot;:374.9999999999999,&quot;left&quot;:400,&quot;top&quot;:115.18976377952757,&quot;width&quot;:500}"/>
</p:tagLst>
</file>

<file path=ppt/tags/tag54.xml><?xml version="1.0" encoding="utf-8"?>
<p:tagLst xmlns:p="http://schemas.openxmlformats.org/presentationml/2006/main">
  <p:tag name="KSO_WM_DIAGRAM_VIRTUALLY_FRAME" val="{&quot;height&quot;:374.9999999999999,&quot;left&quot;:400,&quot;top&quot;:115.18976377952757,&quot;width&quot;:500}"/>
</p:tagLst>
</file>

<file path=ppt/tags/tag55.xml><?xml version="1.0" encoding="utf-8"?>
<p:tagLst xmlns:p="http://schemas.openxmlformats.org/presentationml/2006/main">
  <p:tag name="KSO_WM_DIAGRAM_VIRTUALLY_FRAME" val="{&quot;height&quot;:160,&quot;left&quot;:520,&quot;top&quot;:345,&quot;width&quot;:380}"/>
</p:tagLst>
</file>

<file path=ppt/tags/tag56.xml><?xml version="1.0" encoding="utf-8"?>
<p:tagLst xmlns:p="http://schemas.openxmlformats.org/presentationml/2006/main">
  <p:tag name="KSO_WM_DIAGRAM_VIRTUALLY_FRAME" val="{&quot;height&quot;:160,&quot;left&quot;:520,&quot;top&quot;:345,&quot;width&quot;:380}"/>
</p:tagLst>
</file>

<file path=ppt/tags/tag57.xml><?xml version="1.0" encoding="utf-8"?>
<p:tagLst xmlns:p="http://schemas.openxmlformats.org/presentationml/2006/main">
  <p:tag name="KSO_WM_DIAGRAM_VIRTUALLY_FRAME" val="{&quot;height&quot;:160,&quot;left&quot;:520,&quot;top&quot;:345,&quot;width&quot;:380}"/>
</p:tagLst>
</file>

<file path=ppt/tags/tag58.xml><?xml version="1.0" encoding="utf-8"?>
<p:tagLst xmlns:p="http://schemas.openxmlformats.org/presentationml/2006/main">
  <p:tag name="KSO_WM_DIAGRAM_VIRTUALLY_FRAME" val="{&quot;height&quot;:160,&quot;left&quot;:520,&quot;top&quot;:345,&quot;width&quot;:380}"/>
</p:tagLst>
</file>

<file path=ppt/tags/tag59.xml><?xml version="1.0" encoding="utf-8"?>
<p:tagLst xmlns:p="http://schemas.openxmlformats.org/presentationml/2006/main">
  <p:tag name="KSO_WM_DIAGRAM_VIRTUALLY_FRAME" val="{&quot;height&quot;:160,&quot;left&quot;:520,&quot;top&quot;:345,&quot;width&quot;:380}"/>
</p:tagLst>
</file>

<file path=ppt/tags/tag60.xml><?xml version="1.0" encoding="utf-8"?>
<p:tagLst xmlns:p="http://schemas.openxmlformats.org/presentationml/2006/main">
  <p:tag name="KSO_WM_DIAGRAM_VIRTUALLY_FRAME" val="{&quot;height&quot;:160,&quot;left&quot;:520,&quot;top&quot;:345,&quot;width&quot;:380}"/>
</p:tagLst>
</file>

<file path=ppt/tags/tag61.xml><?xml version="1.0" encoding="utf-8"?>
<p:tagLst xmlns:p="http://schemas.openxmlformats.org/presentationml/2006/main">
  <p:tag name="KSO_WM_DIAGRAM_VIRTUALLY_FRAME" val="{&quot;height&quot;:160,&quot;left&quot;:520,&quot;top&quot;:345,&quot;width&quot;:380}"/>
</p:tagLst>
</file>

<file path=ppt/tags/tag62.xml><?xml version="1.0" encoding="utf-8"?>
<p:tagLst xmlns:p="http://schemas.openxmlformats.org/presentationml/2006/main">
  <p:tag name="KSO_WM_DIAGRAM_VIRTUALLY_FRAME" val="{&quot;height&quot;:160,&quot;left&quot;:520,&quot;top&quot;:345,&quot;width&quot;:380}"/>
</p:tagLst>
</file>

<file path=ppt/tags/tag63.xml><?xml version="1.0" encoding="utf-8"?>
<p:tagLst xmlns:p="http://schemas.openxmlformats.org/presentationml/2006/main">
  <p:tag name="KSO_WM_DIAGRAM_VIRTUALLY_FRAME" val="{&quot;height&quot;:160,&quot;left&quot;:520,&quot;top&quot;:345,&quot;width&quot;:380}"/>
</p:tagLst>
</file>

<file path=ppt/tags/tag64.xml><?xml version="1.0" encoding="utf-8"?>
<p:tagLst xmlns:p="http://schemas.openxmlformats.org/presentationml/2006/main">
  <p:tag name="KSO_WM_DIAGRAM_VIRTUALLY_FRAME" val="{&quot;height&quot;:160,&quot;left&quot;:520,&quot;top&quot;:345,&quot;width&quot;:3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657119C-6982-421D-8BA7-E74DEB70A7D9-1">
      <extobjdata type="E657119C-6982-421D-8BA7-E74DEB70A7D9" data="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d05UQWxNa01sTWpKemFHOTNSM0pwWkNVeU1pVXpRWFJ5ZFdVbE1rTWxNakp5YVdOb1ZHVjRkQ1V5TWlVelFYUnlkV1VsTWtNbE1qSm9aV2xuYUhRbE1qSWxNMEV4TlRBd0pUZEVKVEpESlRJeVpXeGxiV1Z1ZEhNbE1qSWxNMEVsTjBJbE1qSmFZVU5MU21oSloxUjROVGMwTkRJMkpUSXlKVE5CSlRkQ0pUSXlhV1FsTWpJbE0wRWxNakphWVVOTFNtaEpaMVI0TlRjME5ESTJKVEl5SlRKREpUSXlibUZ0WlNVeU1pVXpRU1V5TW5KdmRXNWtVbVZqZEdGdVoyeGxKVEl5SlRKREpUSXlkR2wwYkdVbE1qSWxNMEVsTWpJbFJUVWxPVU1sT0RZbFJUZ2xRVGNsT1RJbFJUY2xPVVlsUVRrbFJUVWxRa1FsUVRJ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VkhoR1RHWnFka2hHZERJM01EWTJOQ1V5TWlVM1JDVXlReVUzUWlVeU1tNWhiV1VsTWpJbE0wRWxNaklsUlRVbE9UQWxPRVFsUlRjbFFUY2xRakFsTWpJbE1rTWxNakowZVhCbEpUSXlKVE5CSlRJeWMzUnlhVzVuSlRJeUpUSkRKVEl5ZG1Gc2RXVWxNaklsTTBFbE1qSWxNaklsTWtNbE1qSmpZWFJsWjI5eWVTVXlNaVV6UVNVeU1tUmxabUYxYkhRbE1qSWxNa01sTWpKcFpDVXlNaVV6UVNVeU1rcFFXWGhsY1VGVVdGUTJPVGN4TURN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CZEVsMFRGSmpVV2h3TWpBNE16QXlKVEl5SlRkRUpUSkRKVGRDSlRJeWJtRnRaU1V5TWlVelFTVXlNaVZGT0NWQ1JpVTVSU1ZGTmlVNFJTVkJOU1V5TWlVeVF5VXlNblI1Y0dVbE1qSWxNMEVsTWpKc2FXNXJKVEl5SlRKREpUSXlkbUZzZFdVbE1qSWxNMEVsTWpJbE1qSWxNa01sTWpKallYUmxaMjl5ZVNVeU1pVXpRU1V5TW1SbFptRjFiSFFsTWpJbE1rTWxNakpwWkNVeU1pVXpRU1V5TW5WWGRteDVTbXA2WkZvMk5EZzNOVEVsTWpJbE4wUWxNa01sTjBJbE1qSnVZVzFsSlRJeUpUTkJKVEl5SlVVMEpVSkZKVUpHSlVVM0pVRkRKVUpCSlRJeUpUSkRKVEl5ZEhsd1pTVXlNaVV6UVNVeU1uTjBjbWx1WnlVeU1pVXlReVV5TW5aaGJIVmxKVEl5SlROQkpUSXlKVEl5SlRKREpUSXlZMkYwWldkdmNua2xNaklsTTBFbE1qSmtaV1poZFd4MEpUSXlKVEpESlRJeWFXUWxNaklsTTBFbE1qSkdjVmhJUm1wRVUyTm5PRGd5TkRneEpUSXlKVGRFSlRWRUpUSkRKVEl5Y0hKdmNITWxNaklsTTBFbE4wSWxNako0SlRJeUpUTkJNelV4TGpZd01EQXdOakV3TXpVeE5UWWxNa01sTWpKNUpUSXlKVE5CTlRnNExqSXdNREF4TWpJd056QXpNVElsTWtNbE1qSjNKVEl5SlROQk9UWWxNa01sTWpKb0pUSXlKVE5CTlRRbE1rTWxNako2YVc1a1pYZ2xNaklsTTBFeEpUSkRKVEl5WVc1bmJHVWxNaklsTTBFd0pUZEVKVEpESlRJeWMyaGhjR1ZUZEhsc1pTVXlNaVV6UVNVM1FpVXlNbUZzY0doaEpUSXlKVE5CTVNVM1JDVXlReVV5TW14cGJtVlRkSGxzWlNVeU1pVXpRU1UzUWlVeU1uSnZkVzVrYVc1bkpUSXlKVE5CTkNVeVF5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jMmw2WlNVeU1pVXpRVEUySlRkRUpUSkRKVEl5ZEdWNGRFSnNiMk5ySlRJeUpUTkJKVFZDSlRkQ0pUSXljRzl6YVhScGIyNGxNaklsTTBFbE4wSWxNako0SlRJeUpUTkJNVEFsTWtNbE1qSjVKVEl5SlROQk1DVXlReVV5TW5jbE1qSWxNMEVsTWpKM0xUSXdKVEl5SlRKREpUSXlhQ1V5TWlVelFTVXlNbWdsTWpJbE4wUWxNa01sTWpKMFpYaDBKVEl5SlROQkpUSXlKVVUySlRsREpVSkJKVVUySlVFeUpVSXdKVVUySlRreEpUZzJKVVUySlRsRUpUZzJ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WNVVjJXblJ0VEU1RlZ6STBNVEExTWlVeU1pVXpRU1UzUWlVeU1tbGtKVEl5SlROQkpUSXljVVYyV25SdFRFNUZWekkwTVRBMU1pVXlNaVV5UXlVeU1tNWhiV1VsTWpJbE0wRWxNakp5YjNWdVpGSmxZM1JoYm1kc1pTVXlNaVV5UXlVeU1uUnBkR3hsSlRJeUpUTkJKVEl5SlVVMUpUbERKVGcySlVVNEpVRTNKVGt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lZtUW5GamRuSkZkbTAxTXpFd05UY2xNaklsTjBRbE1rTWxOMElsTWpKdVlXMWxKVEl5SlROQkpUSXlKVVUxSlRrd0pUaEVKVVUzSlVFM0pVSXdKVEl5SlRKREpUSXlkSGx3WlNVeU1pVXpRU1V5TW5OMGNtbHVaeVV5TWlVeVF5VXlNblpoYkhWbEpUSXlKVE5CSlRJeUpUSXlKVEpESlRJeVkyRjBaV2R2Y25rbE1qSWxNMEVsTWpKa1pXWmhkV3gwSlRJeUpUSkRKVEl5YVdRbE1qSWxNMEVsTWpKaFlVaGpTbTExZFc5TE5EWTFPVEF6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hVmxsY0dOdGIzbFFlRGt5T0RRNU1pVXlNaVUzUkNVeVF5VTNRaVV5TW01aGJXVWxNaklsTTBFbE1qSWxSVGdsUWtZbE9VVWxSVFlsT0VVbFFUVWxNaklsTWtNbE1qSjBlWEJsSlRJeUpUTkJKVEl5YkdsdWF5VXlNaVV5UXlVeU1uWmhiSFZsSlRJeUpUTkJKVEl5SlRJeUpUSkRKVEl5WTJGMFpXZHZjbmtsTWpJbE0wRWxNakprWldaaGRXeDBKVEl5SlRKREpUSXlhV1FsTWpJbE0wRWxNakpqYUZweFQwOVNVVXhvTlRnd01UTTRKVEl5SlRkRUpUSkRKVGRDSlRJeWJtRnRaU1V5TWlVelFTVXlNaVZGTkNWQ1JTVkNSaVZGTnlWQlF5VkNRU1V5TWlVeVF5VXlNblI1Y0dVbE1qSWxNMEVsTWpKemRISnBibWNsTWpJbE1rTWxNakoyWVd4MVpTVXlNaVV6UVNVeU1pVXlNaVV5UXlVeU1tTmhkR1ZuYjNKNUpUSXlKVE5CSlRJeVpHVm1ZWFZzZENVeU1pVXlReVV5TW1sa0pUSXlKVE5CSlRJeWFucGphV2xPU0hoVFNqRXpOamM1TUNVeU1pVTNSQ1UxUkNVeVF5VXlNbkJ5YjNCekpUSXlKVE5CSlRkQ0pUSXllQ1V5TWlVelFUTXpPUzQyTURBd01EWXhNRE0xTVRVMkpUSkRKVEl5ZVNVeU1pVXpRVFkzT0M0eU1EQXdNVEl5TURjd016RXlKVEpESlRJeWR5VXlNaVV6UVRFeU1DVXlReVV5TW1nbE1qSWxNMEUxTkNVeVF5VXlNbnBwYm1SbGVDVXlNaVV6UVRNbE1rTWxNakpoYm1kc1pTVXlNaVV6UVRBbE4wUWxNa01sTWpKemFHRndaVk4wZVd4bEpUSXlKVE5CSlRkQ0pUSXlZV3h3YUdFbE1qSWxNMEV4SlRkRUpUSkRKVEl5YkdsdVpWTjBlV3hsSlRJeUpUTkJKVGRDSlRJeWNtOTFibVJwYm1jbE1qSWxNMEUwSlRKRE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4TUNVeVF5VXlNbmtsTWpJbE0wRXdKVEpESlRJeWR5VXlNaVV6UVNVeU1uY3RNakFsTWpJbE1rTWxNakpvSlRJeUpUTkJKVEl5YUNVeU1pVTNSQ1V5UXlVeU1uUmxlSFFsTWpJbE0wRWxNakpYUkVRek5VUTBKVE5EWW5JbE0wVWxSVFlsUVRnbFFURWxSVFlsT0VJbE9VWWxSVGNsT1RRbFFqVWxSVFFsUWtRbE9FUWxSVFVsT1RrbFFUZ2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SGQydHBRazVCVEVob056RTFOamMwSlRJeUpUTkJKVGRDSlRJeWFXUWxNaklsTTBFbE1qSkhkMnRwUWs1QlRFaG9OekUxTmpjMEpUSXlKVEpESlRJeWJtRnRaU1V5TWlVelFTVXlNbkp2ZFc1a1VtVmpkR0Z1WjJ4bEpUSXlKVEpESlRJeWRHbDBiR1VsTWpJbE0wRWxNaklsUlRVbE9VTWxPRFlsUlRnbFFUY2xPVE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UazVHYm1aNmJHSjZkalU1TkRZek9TVXlNaVUzUkNVeVF5VTNRaVV5TW01aGJXVWxNaklsTTBFbE1qSWxSVFVsT1RBbE9FUWxSVGNsUVRjbFFqQWxNaklsTWtNbE1qSjBlWEJsSlRJeUpUTkJKVEl5YzNSeWFXNW5KVEl5SlRKREpUSXlkbUZzZFdVbE1qSWxNMEVsTWpJbE1qSWxNa01sTWpKallYUmxaMjl5ZVNVeU1pVXpRU1V5TW1SbFptRjFiSFFsTWpJbE1rTWxNakpwWkNVeU1pVXpRU1V5TWxoSVFsRnBhbWwzVVhNeE56VXdOamN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nliMVZIVEZGdFNFZHBORGs0TURVekpUSXlKVGRFSlRKREpUZENKVEl5Ym1GdFpTVXlNaVV6UVNVeU1pVkZPQ1ZDUmlVNVJTVkZOaVU0UlNWQk5TVXlNaVV5UXlVeU1uUjVjR1VsTWpJbE0wRWxNakpzYVc1ckpUSXlKVEpESlRJeWRtRnNkV1VsTWpJbE0wRWxNaklsTWpJbE1rTWxNakpqWVhSbFoyOXllU1V5TWlVelFTVXlNbVJsWm1GMWJIUWxNaklsTWtNbE1qSnBaQ1V5TWlVelFTVXlNazlEVGxaTmVWVjJTSEkyT0RVME5USWxNaklsTjBRbE1rTWxOMElsTWpKdVlXMWxKVEl5SlROQkpUSXlKVVUwSlVKRkpVSkdKVVUzSlVGREpVSkJKVEl5SlRKREpUSXlkSGx3WlNVeU1pVXpRU1V5TW5OMGNtbHVaeVV5TWlVeVF5VXlNblpoYkhWbEpUSXlKVE5CSlRJeUpUSXlKVEpESlRJeVkyRjBaV2R2Y25rbE1qSWxNMEVsTWpKa1pXWmhkV3gwSlRJeUpUSkRKVEl5YVdRbE1qSWxNMEVsTWpKRWFteHZUbVZEUzFOME5EUTVOVGcwSlRJeUpUZEVKVFZFSlRKREpUSXljSEp2Y0hNbE1qSWxNMEVsTjBJbE1qSjRKVEl5SlROQk16STRMakV3TURBd05qRXdNelV4TlRZbE1rTWxNako1SlRJeUpUTkJOelk0TGpJd01EQXhNakl3TnpBek1USWxNa01sTWpKM0pUSXlKVE5CTVRRekpUSkRKVEl5YUNVeU1pVXpRVFUwSlRKREpUSXllbWx1WkdWNEpUSXlKVE5CTkNVeVF5VXlNbUZ1WjJ4bEpUSXlKVE5CTUNVM1JDVXlReVV5TW5Ob1lYQmxVM1I1YkdVbE1qSWxNMEVsTjBJbE1qSmhiSEJvWVNVeU1pVXpRVEVsTjBRbE1rTWxNakpzYVc1bFUzUjViR1VsTWpJbE0wRWxOMElsTWpKeWIzVnVaR2x1WnlVeU1pVXpRVFFsTWtN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bEJETkNWRk5TVkNReVU1TlNWRk9DVTROQ1U1UVVGRVF5VkZPU1U0TnlVNE55VkZPU1U1UWlVNE5p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tSU1NFMWtZVWxGYzJJNE1ERXhPRGNsTWpJbE0wRWxOMElsTWpKcFpDVXlNaVV6UVNVeU1rUlNTRTFrWVVsRmMySTRNREV4T0RjbE1qSWxNa01sTWpKdVlXMWxKVEl5SlROQkpUSXljbTkxYm1SU1pXTjBZVzVuYkdVbE1qSWxNa01sTWpKMGFYUnNaU1V5TWlVelFTVXlNaVZGTlNVNVF5VTROaVZGT0NWQk55VTV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lFabUozZFd0MFoxaERPVFUyTWpVeUpUSXlKVGRFSlRKREpUZENKVEl5Ym1GdFpTVXlNaVV6UVNVeU1pVkZOU1U1TUNVNFJDVkZOeVZCTnlWQ01DVXlNaVV5UXlVeU1uUjVjR1VsTWpJbE0wRWxNakp6ZEhKcGJtY2xNaklsTWtNbE1qSjJZV3gxWlNVeU1pVXpRU1V5TWlVeU1pVXlReVV5TW1OaGRHVm5iM0o1SlRJeUpUTkJKVEl5WkdWbVlYVnNkQ1V5TWlVeVF5VXlNbWxrSlRJeUpUTkJKVEl5ZUVkQ1NHSk9WRTFOYkRVNE16azBNeV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rWk1TV3RaUW14UmJsQTNOams1TWpBbE1qSWxOMFFsTWtNbE4wSWxNakp1WVcxbEpUSXlKVE5CSlRJeUpVVTRKVUpHSlRsRkpVVTJKVGhGSlVFMUpUSXlKVEpESlRJeWRIbHdaU1V5TWlVelFTVXlNbXhwYm1zbE1qSWxNa01sTWpKMllXeDFaU1V5TWlVelFTVXlNaVV5TWlVeVF5VXlNbU5oZEdWbmIzSjVKVEl5SlROQkpUSXlaR1ZtWVhWc2RDVXlNaVV5UXlVeU1tbGtKVEl5SlROQkpUSXlTbWhQWTAxMFZVdDViREV6TlRFM09TVXlNaVUzUkNVeVF5VTNRaVV5TW01aGJXVWxNaklsTTBFbE1qSWxSVFFsUWtVbFFrWWxSVGNsUVVNbFFrRWxNaklsTWtNbE1qSjBlWEJsSlRJeUpUTkJKVEl5YzNSeWFXNW5KVEl5SlRKREpUSXlkbUZzZFdVbE1qSWxNMEVsTWpJbE1qSWxNa01sTWpKallYUmxaMjl5ZVNVeU1pVXpRU1V5TW1SbFptRjFiSFFsTWpJbE1rTWxNakpwWkNVeU1pVXpRU1V5TWxwRGExQjNXRmR4V1VvMk5EazJOamNsTWpJbE4wUWxOVVFsTWtNbE1qSndjbTl3Y3lVeU1pVXpRU1UzUWlVeU1uZ2xNaklsTTBFek5URXVOakF3TURBMk1UQXpOVEUxTmlVeVF5VXlNbmtsTWpJbE0wRTROVGd1TWpBd01ERXlNakEzTURNeE1pVXlReVV5TW5jbE1qSWxNMEU1TmlVeVF5VXlNbWdsTWpJbE0wRTFOQ1V5UXlVeU1ucHBibVJsZUNVeU1pVXpRVFVsTWtNbE1qSmhibWRzWlNVeU1pVXpRVEFsTjBRbE1rTWxNakp6YUdGd1pWTjBlV3hsSlRJeUpUTkJKVGRDSlRJeVlXeHdhR0VsTWpJbE0wRXhKVGRFSlRKREpUSXliR2x1WlZOMGVXeGxKVEl5SlROQkpUZENKVEl5Y205MWJtUnBibWNsTWpJbE0wRTBKVEpESlRJeWJHbHVaVmRwWkhSb0pUSXlKVE5CTVM0MUpUZEVKVEpESlRJeVptbHNiRk4wZVd4bEpUSXlKVE5CSlRkQ0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jBRbE1rTWxNakowWlhoMFFteHZZMnNsTWpJbE0wRWxOVUlsTjBJbE1qSndiM05wZEdsdmJpVXlNaVV6UVNVM1FpVXlNbmdsTWpJbE0wRXhNQ1V5UXlVeU1ua2xNaklsTTBFd0pUSkRKVEl5ZHlVeU1pVXpRU1V5TW5jdE1qQWxNaklsTWtNbE1qSm9KVEl5SlROQkpUSXlhQ1V5TWlVM1JDVXlReVV5TW5SbGVIUWxNaklsTTBFbE1qSWxSVFVsT0RBbFFrVWxSVGdsUVRjbE9USWxSVFlsT1RVbFFqQWxSVFlsT0VRbFFVV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WFNXNVRhR0pCUVdwd05EY3lOekUxSlRJeUpUTkJKVGRDSlRJeWFXUWxNaklsTTBFbE1qSlhTVzVUYUdKQlFXcHdORGN5TnpFMUpUSXlKVEpESlRJeWJtRnRaU1V5TWlVelFTVXlNbXhwYm10bGNpVXlNaVV5UXlVeU1uUmxlSFFsTWpJbE0wRWxNaklsTWpJbE1rTWxNakpuY205MWNDVXlNaVV6UVNVeU1pVXlNaVV5UXlVeU1teHBibXRsY2xSNWNHVWxNaklsTTBFbE1qSmljbTlyWlc0bE1qSWxNa01sTWpKd2IybHVkSE1sTWpJbE0wRWxOVUlsTjBJbE1qSjRKVEl5SlROQk16azVMall3TURBd05qRXdNelV4TlRZbE1rTWxNako1SlRJeUpUTkJOall3TGpJd01EQXhNakl3TnpBek1USWxOMFFsTWtNbE4wSWxNako0SlRJeUpUTkJNems1TGpZd01EQXdOakV3TXpVeE5UWWxNa01sTWpKNUpUSXlKVE5CTmpZd0xqSXdNREF4TWpJd056QXpNVElsTjBRbE5VUWxNa01sTWpKc2IyTnJaV1FsTWpJbE0wRm1ZV3h6WlNVeVF5VXlNbVJoZEdGQmRIUnlhV0oxZEdWekpUSXlKVE5CSlRWQ0pUVkVKVEpESlRJeWNISnZjSE1sTWpJbE0wRWxOMElsTWpKNmFXNWtaWGdsTWpJbE0wRTJKVGRFSlRKREpUSXliR2x1WlZOMGVXeGxKVEl5SlROQkpUZENKVEl5YkdsdVpWZHBaSFJvSlRJeUpUTkJNUzQxSlRkRUpUSkRKVEl5Wm5KdmJTVXlNaVV6UVNVM1FpVXlNbmdsTWpJbE0wRXpPVGt1TmpBd01EQTJNVEF6TlRFMU5pVXlReVV5TW5rbE1qSWxNMEUyTkRJdU1qQXdNREV5TWpBM01ETXhNaVV5UXlVeU1tRnVaMnhsSlRJeUpUTkJOQzQzTVRJek9EZzVPREF6T0RRMk9TVXlReVV5TW1sa0pUSXlKVE5CSlRJeVdtRkRTMHBvU1dkVWVEVTNORFF5TmlVeU1pVTNSQ1V5UXlVeU1uUnZKVEl5SlROQkpUZENKVEl5YVdRbE1qSWxNMEVsTWpKeFJYWmFkRzFNVGtWWE1qUXhNRFV5SlRJeUpUSkRKVEl5ZUNVeU1pVXpRVE01T1M0Mk1EQXdNRFl4TURNMU1UVTJKVEpESlRJeWVTVXlNaVV6UVRZM09DNHlNREF3TVRJeU1EY3dNekV5SlRKREpUSXlZVzVuYkdVbE1qSWxNMEV4TGpVM01EYzVOak15TmpjNU5EZzVOeVUzUkNVeVF5VXlNblJsZUhSQ2JHOWpheVV5TWlVelFTVTFRaVUxUkNVM1JDVXlReVV5TW5GUldtSlJhRlJGYW5vd01Ua3dNRGNsTWpJbE0wRWxOMElsTWpKcFpDVXlNaVV6UVNVeU1uRlJXbUpSYUZSRmFub3dNVGt3TURjbE1qSWxNa01sTWpKdVlXMWxKVEl5SlROQkpUSXliR2x1YTJWeUpUSXlKVEpESlRJeWRHVjRkQ1V5TWlVelFTVXlNaVV5TWlVeVF5VXlNbWR5YjNWd0pUSXlKVE5CSlRJeUpUSXlKVEpESlRJeWJHbHVhMlZ5Vkhsd1pTVXlNaVV6UVNVeU1tSnliMnRsYmlVeU1pVXlReVV5TW5CdmFXNTBjeVV5TWlVelFTVTFRaVUzUWlVeU1uZ2xNaklsTTBFek9Ua3VOakF3TURBMk1UQXpOVEUxTmlVeVF5VXlNbmtsTWpJbE0wRTNOVEF1TWpBd01ERXlNakEzTURNeE1pVTNSQ1V5UXlVM1FpVXlNbmdsTWpJbE0wRXpPVGt1TmpBd01EQTJNVEF6TlRFMU5pVXlReVV5TW5rbE1qSWxNMEUzTlRBdU1qQXdNREV5TWpBM01ETXhNaVUzUkNVMVJDVXlReVV5TW14dlkydGxaQ1V5TWlVelFXWmhiSE5sSlRKREpUSXlaR0YwWVVGMGRISnBZblYwWlhNbE1qSWxNMEVsTlVJbE5VUWxNa01sTWpKd2NtOXdjeVV5TWlVelFTVTNRaVV5TW5wcGJtUmxlQ1V5TWlVelFUY2xOMFFsTWtNbE1qSnNhVzVsVTNSNWJHVWxNaklsTTBFbE4wSWxNakpzYVc1bFYybGtkR2dsTWpJbE0wRXhMalVsTjBRbE1rTWxNakptY205dEpUSXlKVE5CSlRkQ0pUSXllQ1V5TWlVelFUTTVPUzQyTURBd01EWXhNRE0xTVRVMkpUSkRKVEl5ZVNVeU1pVXpRVGN6TWk0eU1EQXdNVEl5TURjd016RXlKVEpESlRJeVlXNW5iR1VsTWpJbE0wRTBMamN4TWpNNE9EazRNRE00TkRZNUpUSkRKVEl5YVdRbE1qSWxNMEVsTWpKeFJYWmFkRzFNVGtWWE1qUXhNRFV5SlRJeUpUZEVKVEpESlRJeWRHOGxNaklsTTBFbE4wSWxNakpwWkNVeU1pVXpRU1V5TWtkM2EybENUa0ZNU0dnM01UVTJOelFsTWpJbE1rTWxNako0SlRJeUpUTkJNems1TGpZd01EQXdOakV3TXpVeE5UWWxNa01sTWpKNUpUSXlKVE5CTnpZNExqSXdNREF4TWpJd056QXpNVElsTWtNbE1qSmhibWRzWlNVeU1pVXpRVEV1TlRjd056azJNekkyTnprME9EazNKVGRFSlRKREpUSXlkR1Y0ZEVKc2IyTnJKVEl5SlROQkpUVkNKVFZFSlRkRUpUSkRKVEl5U0dwNFVXaElUMlZMUkRZNE5ESTJPQ1V5TWlVelFTVTNRaVV5TW1sa0pUSXlKVE5CSlRJeVNHcDRVV2hJVDJWTFJEWTROREkyT0NVeU1pVXlReVV5TW01aGJXVWxNaklsTTBFbE1qSnNhVzVyWlhJbE1qSWxNa01sTWpKMFpYaDBKVEl5SlROQkpUSXlKVEl5SlRKREpUSXlaM0p2ZFhBbE1qSWxNMEVsTWpJbE1qSWxNa01sTWpKc2FXNXJaWEpVZVhCbEpUSXlKVE5CSlRJeVluSnZhMlZ1SlRJeUpUSkRKVEl5Y0c5cGJuUnpKVEl5SlROQkpUVkNKVGRDSlRJeWVDVXlNaVV6UVRNNU9TNDJNREF3TURZeE1ETTFNVFUySlRKREpUSXllU1V5TWlVelFUZzBNQzR5TURBd01USXlNRGN3TXpFeUpUZEVKVEpESlRkQ0pUSXllQ1V5TWlVelFUTTVPUzQyTURBd01EWXhNRE0xTVRVMkpUSkRKVEl5ZVNVeU1pVXpRVGcwTUM0eU1EQXdNVEl5TURjd016RXlKVGRFSlRWRUpUSkRKVEl5Ykc5amEyVmtKVEl5SlROQlptRnNjMlVsTWtNbE1qSmtZWFJoUVhSMGNtbGlkWFJsY3lVeU1pVXpRU1UxUWlVMVJDVXlReVV5TW5CeWIzQnpKVEl5SlROQkpUZENKVEl5ZW1sdVpHVjRKVEl5SlROQk9DVTNSQ1V5UXlVeU1teHBibVZUZEhsc1pTVXlNaVV6UVNVM1FpVXlNbXhwYm1WWGFXUjBhQ1V5TWlVelFURXVOU1UzUkNVeVF5VXlNbVp5YjIwbE1qSWxNMEVsTjBJbE1qSjRKVEl5SlROQk16azVMall3TURBd05qRXdNelV4TlRZbE1rTWxNako1SlRJeUpUTkJPREl5TGpJd01EQXhNakl3TnpBek1USWxNa01sTWpKaGJtZHNaU1V5TWlVelFUUXVOekV5TXpnNE9UZ3dNemcwTmprbE1rTWxNakpwWkNVeU1pVXpRU1V5TWtkM2EybENUa0ZNU0dnM01UVTJOelFsTWpJbE4wUWxNa01sTWpKMGJ5VXlNaVV6UVNVM1FpVXlNbWxrSlRJeUpUTkJKVEl5UkZKSVRXUmhTVVZ6WWpnd01URTROeVV5TWlVeVF5VXlNbmdsTWpJbE0wRXpPVGt1TmpBd01EQTJNVEF6TlRFMU5pVXlReVV5TW5rbE1qSWxNMEU0TlRndU1qQXdNREV5TWpBM01ETXhNaVV5UXlVeU1tRnVaMnhsSlRJeUpUTkJNUzQxTnpBM09UWXpNalkzT1RRNE9UY2xOMFFsTWtNbE1qSjBaWGgwUW14dlkyc2xNaklsTTBFbE5VSWxOVVFsTjBRbE1rTWxNakpIUVcxb1VHSjBTVzFhTnpFek1ESXhKVEl5SlROQkpUZENKVEl5YVdRbE1qSWxNMEVsTWpKSFFXMW9VR0owU1cxYU56RXpNREl4SlRJeUpUSkRKVEl5Ym1GdFpTVXlNaVV6UVNVeU1uSnZkVzVrVW1WamRHRnVaMnhsSlRJeUpUSkRKVEl5ZEdsMGJHVWxNaklsTTBFbE1qSWxSVFVsT1VNbE9EWWxSVGdsUVRjbE9U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WFHTnZhMUZDYzJGdmVqUTFOalV3TmlVeU1pVTNSQ1V5UXlVM1FpVXlNbTVoYldVbE1qSWxNMEVsTWpJbFJUVWxPVEFsT0VRbFJUY2xRVGNsUWpBbE1qSWxNa01sTWpKMGVYQmxKVEl5SlROQkpUSXljM1J5YVc1bkpUSXlKVEpESlRJeWRtRnNkV1VsTWpJbE0wRWxNaklsTWpJbE1rTWxNakpqWVhSbFoyOXllU1V5TWlVelFTVXlNbVJsWm1GMWJIUWxNaklsTWtNbE1qSnBaQ1V5TWlVelFTVXlNblZ0UzBaTlEwTklWbWcxTVRnMU16Z2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WVVFaEZRblo0UTNGR05UZzNNekkxSlRJeUpUZEVKVEpESlRkQ0pUSXlibUZ0WlNVeU1pVXpRU1V5TWlWRk9DVkNSaVU1UlNWRk5pVTRSU1ZCTlNVeU1pVXlReVV5TW5SNWNHVWxNaklsTTBFbE1qSnNhVzVySlRJeUpUSkRKVEl5ZG1Gc2RXVWxNaklsTTBFbE1qSWxNaklsTWtNbE1qSmpZWFJsWjI5eWVTVXlNaVV6UVNVeU1tUmxabUYxYkhRbE1qSWxNa01sTWpKcFpDVXlNaVV6UVNVeU1raFFVblJ1UkZKWVFub3lOelE1T1RrbE1qSWxOMFFsTWtNbE4wSWxNakp1WVcxbEpUSXlKVE5CSlRJeUpVVTBKVUpGSlVKR0pVVTNKVUZESlVKQkpUSXlKVEpESlRJeWRIbHdaU1V5TWlVelFTVXlNbk4wY21sdVp5VXlNaVV5UXlVeU1uWmhiSFZsSlRJeUpUTkJKVEl5SlRJeUpUSkRKVEl5WTJGMFpXZHZjbmtsTWpJbE0wRWxNakprWldaaGRXeDBKVEl5SlRKREpUSXlhV1FsTWpJbE0wRWxNakppUTBsWmIzQklTVTlYTkRRMk56RTNKVEl5SlRkRUpUVkVKVEpESlRJeWNISnZjSE1sTWpJbE0wRWxOMElsTWpKNEpUSXlKVE5CTlRrNUxqWXdNREF3TmpFd016VXhOVFlsTWtNbE1qSjVKVEl5SlROQk9EVTRMakl3TURBeE1qSXdOekF6TVRJbE1rTWxNakozSlRJeUpUTkJNVEl6SlRKREpUSXlhQ1V5TWlVelFUVTBKVEpESlRJeWVtbHVaR1Y0SlRJeUpUTkJPU1V5UXlVeU1tRnVaMnhsSlRJeUpUTkJNQ1UzUkNVeVF5VXlNbk5vWVhCbFUzUjViR1VsTWpJbE0wRWxOMElsTWpKaGJIQm9ZU1V5TWlVelFURWxOMFFsTWtNbE1qSnNhVzVsVTNSNWJHVWxNaklsTTBFbE4wSWxNakp5YjNWdVpHbHVaeVV5TWlVelFUUWxNa01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pVkZOU1ZDT1NWQ015VkZPQ1ZCTVNWQk1WQkVKVVUySlRoRkpVRTNKVVUxSlRnNEpVSTJKVVUxSlRrNUpVRTR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RtaElaWFJQZEZWTVFqQXdOemt6TWlVeU1pVXpRU1UzUWlVeU1tbGtKVEl5SlROQkpUSXlUbWhJWlhSUGRGVk1RakF3Tnprek1pVXlNaVV5UXlVeU1tNWhiV1VsTWpJbE0wRWxNakpzYVc1clpYSWxNaklsTWtNbE1qSjBaWGgwSlRJeUpUTkJKVEl5SlRJeUpUSkRKVEl5WjNKdmRYQWxNaklsTTBFbE1qSWxNaklsTWtNbE1qSnNhVzVyWlhKVWVYQmxKVEl5SlROQkpUSXlZbkp2YTJWdUpUSXlKVEpESlRJeWNHOXBiblJ6SlRJeUpUTkJKVFZDSlRkQ0pUSXllQ1V5TWlVelFUVXlNeTQyTURBd01EWXhNRE0xTVRVMkpUSkRKVEl5ZVNVeU1pVXpRVGc0TlM0eU1EQXdNVEl5TURjd016RXlKVGRFSlRKREpUZENKVEl5ZUNVeU1pVXpRVFV5TXk0Mk1EQXdNRFl4TURNMU1UVTJKVEpESlRJeWVTVXlNaVV6UVRnNE5TNHlNREF3TVRJeU1EY3dNekV5SlRkRUpUVkVKVEpESlRJeWJHOWphMlZrSlRJeUpUTkJabUZzYzJVbE1rTWxNakprWVhSaFFYUjBjbWxpZFhSbGN5VXlNaVV6UVNVMVFpVTFSQ1V5UXlVeU1uQnliM0J6SlRJeUpUTkJKVGRDSlRJeWVtbHVaR1Y0SlRJeUpUTkJNVEFsTjBRbE1rTWxNakpzYVc1bFUzUjViR1VsTWpJbE0wRWxOMElsTWpKc2FXNWxWMmxrZEdnbE1qSWxNMEV4TGpVbE4wUWxNa01sTWpKbWNtOXRKVEl5SlROQkpUZENKVEl5ZUNVeU1pVXpRVFEwTnk0Mk1EQXdNRFl4TURNMU1UVTJKVEpESlRJeWVTVXlNaVV6UVRnNE5TNHlNREF3TVRJeU1EY3dNekV5SlRKREpUSXlZVzVuYkdVbE1qSWxNMEV6TGpFME1UVTVNalkxTXpVNE9UYzVNellsTWtNbE1qSnBaQ1V5TWlVelFTVXlNa1JTU0Uxa1lVbEZjMkk0TURFeE9EY2xNaklsTjBRbE1rTWxNakowYnlVeU1pVXpRU1UzUWlVeU1tbGtKVEl5SlROQkpUSXlSMEZ0YUZCaWRFbHRXamN4TXpBeU1TVXlNaVV5UXlVeU1uZ2xNaklsTTBFMU9Ua3VOakF3TURBMk1UQXpOVEUxTmlVeVF5VXlNbmtsTWpJbE0wRTRPRFV1TWpBd01ERXlNakEzTURNeE1pVXlReVV5TW1GdVoyeGxKVEl5SlROQk1DVTNSQ1V5UXlVeU1uUmxlSFJDYkc5amF5VXlNaVV6UVNVMVFpVTFSQ1UzUkNVeVF5VXlNbHA0WWt4VmVGWmlSWFUyT1RnME5qVWxNaklsTTBFbE4wSWxNakpwWkNVeU1pVXpRU1V5TWxwNFlreFZlRlppUlhVMk9UZzBOalVsTWpJbE1rTWxNakp1WVcxbEpUSXlKVE5CSlRJeWNtOTFibVJTWldOMFlXNW5iR1VsTWpJbE1rTWxNakowYVhSc1pTVXlNaVV6UVNVeU1pVkZOU1U1UXlVNE5pVkZPQ1ZCTnlVN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SlVGSlhhMGhtV0ZkRU1EVTVORE15SlRJeUpUZEVKVEpESlRkQ0pUSXlibUZ0WlNVeU1pVXpRU1V5TWlWRk5TVTVNQ1U0UkNWRk55VkJOeVZDTUNVeU1pVXlReVV5TW5SNWNHVWxNaklsTTBFbE1qSnpkSEpwYm1jbE1qSWxNa01sTWpKMllXeDFaU1V5TWlVelFTVXlNaVV5TWlVeVF5VXlNbU5oZEdWbmIzSjVKVEl5SlROQkpUSXlaR1ZtWVhWc2RDVXlNaVV5UXlVeU1tbGtKVEl5SlROQkpUSXlSSEZxYVhweVpVdDBVRFk1TlRZME5T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sxRmRXWldZMUZDY200Mk1UQXdNalVsTWpJbE4wUWxNa01sTjBJbE1qSnVZVzFsSlRJeUpUTkJKVEl5SlVVNEpVSkdKVGxGSlVVMkpUaEZKVUUxSlRJeUpUSkRKVEl5ZEhsd1pTVXlNaVV6UVNVeU1teHBibXNsTWpJbE1rTWxNakoyWVd4MVpTVXlNaVV6UVNVeU1pVXlNaVV5UXlVeU1tTmhkR1ZuYjNKNUpUSXlKVE5CSlRJeVpHVm1ZWFZzZENVeU1pVXlReVV5TW1sa0pUSXlKVE5CSlRJeWQxZHVWRVpYV2tWdVNESTROVGsyTUNVeU1pVTNSQ1V5UXlVM1FpVXlNbTVoYldVbE1qSWxNMEVsTWpJbFJUUWxRa1VsUWtZbFJUY2xRVU1sUWtFbE1qSWxNa01sTWpKMGVYQmxKVEl5SlROQkpUSXljM1J5YVc1bkpUSXlKVEpESlRJeWRtRnNkV1VsTWpJbE0wRWxNaklsTWpJbE1rTWxNakpqWVhSbFoyOXllU1V5TWlVelFTVXlNbVJsWm1GMWJIUWxNaklsTWtNbE1qSnBaQ1V5TWlVelFTVXlNa2xEV1dwdmFVaFZSRW8wTkRJMU1qVWxNaklsTjBRbE5VUWxNa01sTWpKd2NtOXdjeVV5TWlVelFTVTNRaVV5TW5nbE1qSWxNMEUxT1RndU9UYzFNREEyTVRBek5URTFOaVV5UXlVeU1ua2xNaklsTTBFM01UZ3VNakF3TURFeU1qQTNNRE14TWlVeVF5VXlNbmNsTWpJbE0wRXhNalF1TWpVbE1rTWxNakpvSlRJeUpUTkJOVFFsTWtNbE1qSjZhVzVrWlhnbE1qSWxNMEV4TVNVeVF5VXlNbUZ1WjJ4bEpUSXlKVE5CTUNVM1JDVXlReVV5TW5Ob1lYQmxVM1I1YkdVbE1qSWxNMEVsTjBJbE1qSmhiSEJvWVNVeU1pVXpRVEVsTjBRbE1rTWxNakpzYVc1bFUzUjViR1VsTWpJbE0wRWxOMElsTWpKeWIzVnVaR2x1WnlVeU1pVXpRVFFsTWtN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bEJYVFNWRk55VTVOQ1ZDTlNWRk5pVTVReVZDUVNWRk9TVkJPU1ZDTVNWRk5TVTRRU1ZCT0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VJ1ZWxoS1ZHWkliMGd3TWpVME56RWxNaklsTTBFbE4wSWxNakpwWkNVeU1pVXpRU1V5TW1SdWVsaEtWR1pJYjBnd01qVTBOekVsTWpJbE1rTWxNakp1WVcxbEpUSXlKVE5CSlRJeWJHbHVhMlZ5SlRJeUpUSkRKVEl5ZEdWNGRDVXlNaVV6UVNVeU1pVXlNaVV5UXlVeU1tZHliM1Z3SlRJeUpUTkJKVEl5SlRJeUpUSkRKVEl5YkdsdWEyVnlWSGx3WlNVeU1pVXpRU1V5TW1KeWIydGxiaVV5TWlVeVF5VXlNbkJ2YVc1MGN5VXlNaVV6UVNVMVFpVTNRaVV5TW5nbE1qSWxNMEUyTmpFdU1UQXdNREEyTVRBek5URTFOaVV5UXlVeU1ua2xNaklsTTBFNE1UVXVNakF3TURFeU1qQTNNRE14TWlVM1JDVXlReVUzUWlVeU1uZ2xNaklsTTBFMk5qRXVNVEF3TURBMk1UQXpOVEUxTmlVeVF5VXlNbmtsTWpJbE0wRTRNVFV1TWpBd01ERXlNakEzTURNeE1pVTNSQ1UxUkNVeVF5VXlNbXh2WTJ0bFpDVXlNaVV6UVdaaGJITmxKVEpESlRJeVpHRjBZVUYwZEhKcFluVjBaWE1sTWpJbE0wRWxOVUlsTlVRbE1rTWxNakp3Y205d2N5VXlNaVV6UVNVM1FpVXlNbnBwYm1SbGVDVXlNaVV6UVRFeUpUZEVKVEpESlRJeWJHbHVaVk4wZVd4bEpUSXlKVE5CSlRkQ0pUSXliR2x1WlZkcFpIUm9KVEl5SlROQk1TNDFKVGRFSlRKREpUSXlabkp2YlNVeU1pVXpRU1UzUWlVeU1uZ2xNaklsTTBFMk5qRXVNVEF3TURBMk1UQXpOVEUxTmlVeVF5VXlNbmtsTWpJbE0wRTROVGd1TWpBd01ERXlNakEzTURNeE1pVXlReVV5TW1GdVoyeGxKVEl5SlROQk1TNDFOekEzT1RZek1qWTNPVFE0T1RjbE1rTWxNakpwWkNVeU1pVXpRU1V5TWtkQmJXaFFZblJKYlZvM01UTXdNakVsTWpJbE4wUWxNa01sTWpKMGJ5VXlNaVV6UVNVM1FpVXlNbWxrSlRJeUpUTkJKVEl5V25oaVRGVjRWbUpGZFRZNU9EUTJOU1V5TWlVeVF5VXlNbmdsTWpJbE0wRTJOakV1TVRBd01EQTJNVEF6TlRFMU5pVXlReVV5TW5rbE1qSWxNMEUzTnpJdU1qQXdNREV5TWpBM01ETXhNaVV5UXlVeU1tRnVaMnhsSlRJeUpUTkJOQzQzTVRJek9EZzVPREF6T0RRMk9TVTNSQ1V5UXlVeU1uUmxlSFJDYkc5amF5VXlNaVV6UVNVMVFpVTFSQ1UzUkNVeVF5VXlNbEZVVDJsa1NWQlhkSEEzTURJM09URWxNaklsTTBFbE4wSWxNakpwWkNVeU1pVXpRU1V5TWxGVVQybGtTVkJYZEhBM01ESTNPVEVsTWpJbE1rTWxNakp1WVcxbEpUSXlKVE5CSlRJeWMzUmhibVJoY21SVVpYaDBKVEl5SlRKREpUSXlkR2wwYkdVbE1qSWxNMEVsTWpJbE1qSWxNa01sTWpKallYUmxaMjl5ZVNVeU1pVXpRU1V5TW5OMFlXNWtZWEpr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FZFSlRKREpUSXljSEp2Y0hNbE1qSWxNMEVsTjBJbE1qSjRKVEl5SlROQk5UY3dMall3TURBd05qRXdNelV4TlRZbE1rTWxNako1SlRJeUpUTkJOemszTGpJd01EQXhNakl3TnpBek1USWxNa01sTWpKM0pUSXlKVE5CTVRBd0pUSkRKVEl5YUNVeU1pVXpRVFF3SlRKREpUSXllbWx1WkdWNEpUSXlKVE5CTVRNbE1rTWxNakpoYm1kc1pTVXlNaVV6UVRBbE4wUWxNa01sTWpKemFHRndaVk4wZVd4bEpUSXlKVE5CSlRkQ0pUSXlZV3h3YUdFbE1qSWxNMEV4SlRkRUpUSkRKVEl5YkdsdVpWTjBlV3hsSlRJeUpUTkJKVGRDSlRkRUpUSkRKVEl5Wm1sc2JGTjBlV3hsSlRJeUpUTkJKVGRDSlRkRUpUSkRKVEl5ZEdobGJXVWxNaklsTTBFbE4wSWxOMFFsTWtNbE1qSndZWFJvSlRJeUpUTkJKVFZDSlRkQ0pUSXliR2x1WlZOMGVXeGxKVEl5SlROQkpUZENKVEl5YkdsdVpWZHBaSFJvSlRJeUpUTkJNQ1UzUkNVeVF5VXlNbVpwYkd4VGRIbHNaU1V5TWlVelFTVTNRaVV5TW5SNWNHVWxNaklsTTBFbE1qSnViMjVsSlRJeUpUZEVKVEpE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3SlRKREpUSXllU1V5TWlVelFUQWxNa01sTWpKM0pUSXlKVE5CSlRJeWR5VXlNaVV5UXlVeU1tZ2xNaklsTTBFbE1qSm9KVEl5SlRkRUpUSkRKVEl5ZEdWNGRDVXlNaVV6UVNVeU1pVkZOaVZCT0NWQk1TVkZOaVU0UWlVNVJpVkZOeVU1TkNWQ05TVkZOU1U0UlNVNFFp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5kMlExZHllV1o1ZVZveE5ERTJNamNsTWpJbE0wRWxOMElsTWpKcFpDVXlNaVV6UVNVeU1uZDJRMWR5ZVdaNWVWb3hOREUyTWpjbE1qSWxNa01sTWpKdVlXMWxKVEl5SlROQkpUSXljM1JoYm1SaGNtUlVaWGgwSlRJeUpUSkRKVEl5ZEdsMGJHVWxNaklsTTBFbE1qSWxNaklsTWtNbE1qSmpZWFJsWjI5eWVTVXlNaVV6UVNVeU1uTjBZVzVrWVhKa0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WRUpUSkRKVEl5Y0hKdmNITWxNaklsTTBFbE4wSWxNako0SlRJeUpUTkJOalE1TGpZd01EQXdOakV3TXpVeE5UWWxNa01sTWpKNUpUSXlKVE5CTnprNUxqY3dNREF4TWpJd056QXpNVElsTWtNbE1qSjNKVEl5SlROQk1UQXdKVEpESlRJeWFDVXlNaVV6UVRRd0pUSkRKVEl5ZW1sdVpHVjRKVEl5SlROQk1UUWxNa01sTWpKaGJtZHNaU1V5TWlVelFUQWxOMFFsTWtNbE1qSnphR0Z3WlZOMGVXeGxKVEl5SlROQkpUZENKVEl5WVd4d2FHRWxNaklsTTBFeEpUZEVKVEpESlRJeWJHbHVaVk4wZVd4bEpUSXlKVE5CSlRkQ0pUZEVKVEpESlRJeVptbHNiRk4wZVd4bEpUSXlKVE5CSlRkQ0pUZEVKVEpESlRJeWRHaGxiV1VsTWpJbE0wRWxOMElsTjBRbE1rTWxNakp3WVhSb0pUSXlKVE5CSlRWQ0pUZENKVEl5YkdsdVpWTjBlV3hsSlRJeUpUTkJKVGRDSlRJeWJHbHVaVmRwWkhSb0pUSXlKVE5CTUNVM1JDVXlReVV5TW1acGJHeFRkSGxzWlNVeU1pVXpRU1UzUWlVeU1uUjVjR1VsTWpJbE0wRWxNakp1YjI1bEpUSXlKVGRFSlRKRE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d0pUSkRKVEl5ZVNVeU1pVXpRVEFsTWtNbE1qSjNKVEl5SlROQkpUSXlkeVV5TWlVeVF5VXlNbWdsTWpJbE0wRWxNakpvSlRJeUpUZEVKVEpESlRJeWRHVjRkQ1V5TWlVelFTVXlNaVZGT0NWQlJpVkJSaVZGTlNWQ055VkJSU1ZGT0NWQ1JTVTVNeVZGTlNVNE5TVkJOU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uSnlTR2gzWWxKWlUxRTFORFF4TmpNbE1qSWxNMEVsTjBJbE1qSnBaQ1V5TWlVelFTVXlNbkp5U0doM1lsSlpVMUUxTkRReE5qTWxNaklsTWtNbE1qSnVZVzFsSlRJeUpUTkJKVEl5Y205MWJtUlNaV04wWVc1bmJHVWxNaklsTWtNbE1qSjBhWFJzWlNVeU1pVXpRU1V5TWlWRk5TVTVReVU0TmlWRk9DVkJOeVU1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VUkc1U1JIZGpTWFpSTURrd05qVTJKVEl5SlRkRUpUSkRKVGRDSlRJeWJtRnRaU1V5TWlVelFTVXlNaVZGTlNVNU1DVTRSQ1ZGTnlWQk55VkNNQ1V5TWlVeVF5VXlNblI1Y0dVbE1qSWxNMEVsTWpKemRISnBibWNsTWpJbE1rTWxNakoyWVd4MVpTVXlNaVV6UVNVeU1pVXlNaVV5UXlVeU1tTmhkR1ZuYjNKNUpUSXlKVE5CSlRJeVpHVm1ZWFZzZENVeU1pVXlReVV5TW1sa0pUSXlKVE5CSlRJeWEyMXlUR2h2Vlcxb2REWXhORGN6Tl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VZKVFZkbGMyOXNkMGc0TmpnME1ETWxNaklsTjBRbE1rTWxOMElsTWpKdVlXMWxKVEl5SlROQkpUSXlKVVU0SlVKR0pUbEZKVVUySlRoRkpVRTFKVEl5SlRKREpUSXlkSGx3WlNVeU1pVXpRU1V5TW14cGJtc2xNaklsTWtNbE1qSjJZV3gxWlNVeU1pVXpRU1V5TWlVeU1pVXlReVV5TW1OaGRHVm5iM0o1SlRJeUpUTkJKVEl5WkdWbVlYVnNkQ1V5TWlVeVF5VXlNbWxrSlRJeUpUTkJKVEl5U25ONFQxbGhSMGR4VmpJM09ETXpOU1V5TWlVM1JDVXlReVUzUWlVeU1tNWhiV1VsTWpJbE0wRWxNaklsUlRRbFFrVWxRa1lsUlRjbFFVTWxRa0VsTWpJbE1rTWxNakowZVhCbEpUSXlKVE5CSlRJeWMzUnlhVzVuSlRJeUpUSkRKVEl5ZG1Gc2RXVWxNaklsTTBFbE1qSWxNaklsTWtNbE1qSmpZWFJsWjI5eWVTVXlNaVV6UVNVeU1tUmxabUYxYkhRbE1qSWxNa01sTWpKcFpDVXlNaVV6UVNVeU1uWlBjMjVvVUc1QlprazBNRGN4TXprbE1qSWxOMFFsTlVRbE1rTWxNakp3Y205d2N5VXlNaVV6UVNVM1FpVXlNbmdsTWpJbE0wRTJNVE11TVRBd01EQTJNVEF6TlRFMU5pVXlReVV5TW5rbE1qSWxNMEUyTURNdU1qQXdNREV5TWpBM01ETXhNaVV5UXlVeU1uY2xNaklsTTBFNU5pVXlReVV5TW1nbE1qSWxNMEUxTkNVeVF5VXlNbnBwYm1SbGVDVXlNaVV6UVRFMUpUSkRKVEl5WVc1bmJHVWxNaklsTTBFd0pUZEVKVEpESlRJeWMyaGhjR1ZUZEhsc1pTVXlNaVV6UVNVM1FpVXlNbUZzY0doaEpUSXlKVE5CTVNVM1JDVXlReVV5TW14cGJtVlRkSGxzWlNVeU1pVXpRU1UzUWlVeU1uSnZkVzVrYVc1bkpUSXlKVE5CTkNVeVF5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ZEVKVEpESlRJeWRHVjRkRUpzYjJOckpUSXlKVE5CSlRWQ0pUZENKVEl5Y0c5emFYUnBiMjRsTWpJbE0wRWxOMElsTWpKNEpUSXlKVE5CTVRBbE1rTWxNako1SlRJeUpUTkJNQ1V5UXlVeU1uY2xNaklsTTBFbE1qSjNMVEl3SlRJeUpUSkRKVEl5YUNVeU1pVXpRU1V5TW1nbE1qSWxOMFFsTWtNbE1qSjBaWGgwSlRJeUpUTkJKVEl5SlVVMUpUbENKVGxDSlVVNEpVSkVKVUZGSlVVMUpVSXdKVGhHSlVVNEpVSkVKVUUy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UVmRYVmxOQmVWSjRWak16TURJek55VXlNaVV6UVNVM1FpVXlNbWxrSlRJeUpUTkJKVEl5VFZkWFZsTkJlVko0VmpNek1ESXpOeVV5TWlVeVF5VXlNbTVoYldVbE1qSWxNMEVsTWpKc2FXNXJaWElsTWpJbE1rTWxNakowWlhoMEpUSXlKVE5CSlRJeUpUSXlKVEpESlRJeVozSnZkWEFsTWpJbE0wRWxNaklsTWpJbE1rTWxNakpzYVc1clpYSlVlWEJsSlRJeUpUTkJKVEl5WW5KdmEyVnVKVEl5SlRKREpUSXljRzlwYm5SekpUSXlKVE5CSlRWQ0pUZENKVEl5ZUNVeU1pVXpRVFkyTVM0eE1EQXdNRFl4TURNMU1UVTJKVEpESlRJeWVTVXlNaVV6UVRZNE55NDNNREF3TVRJeU1EY3dNekV5SlRkRUpUSkRKVGRDSlRJeWVDVXlNaVV6UVRZMk1TNHhNREF3TURZeE1ETTFNVFUySlRKREpUSXllU1V5TWlVelFUWTROeTQzTURBd01USXlNRGN3TXpFeUpUZEVKVFZFSlRKREpUSXliRzlqYTJWa0pUSXlKVE5CWm1Gc2MyVWxNa01sTWpKa1lYUmhRWFIwY21saWRYUmxjeVV5TWlVelFTVTFRaVUxUkNVeVF5VXlNbkJ5YjNCekpUSXlKVE5CSlRkQ0pUSXllbWx1WkdWNEpUSXlKVE5CTVRZbE4wUWxNa01sTWpKc2FXNWxVM1I1YkdVbE1qSWxNMEVsTjBJbE1qSnNhVzVsVjJsa2RHZ2xNaklsTTBFeExqVWxOMFFsTWtNbE1qSm1jbTl0SlRJeUpUTkJKVGRDSlRJeWVDVXlNaVV6UVRZMk1TNHhNREF3TURZeE1ETTFNVFUySlRKREpUSXllU1V5TWlVelFUWTFOeTR5TURBd01USXlNRGN3TXpFeUpUSkRKVEl5WVc1bmJHVWxNaklsTTBFMExqY3hNak00T0RrNE1ETTRORFk1SlRKREpUSXlhV1FsTWpJbE0wRWxNakp5Y2tob2QySlNXVk5STlRRME1UWXpKVEl5SlRkRUpUSkRKVEl5ZEc4bE1qSWxNMEVsTjBJbE1qSnBaQ1V5TWlVelFTVXlNbHA0WWt4VmVGWmlSWFUyT1RnME5qVWxNaklsTWtNbE1qSjRKVEl5SlROQk5qWXhMakV3TURBd05qRXdNelV4TlRZbE1rTWxNako1SlRJeUpUTkJOekU0TGpJd01EQXhNakl3TnpBek1USWxNa01sTWpKaGJtZHNaU1V5TWlVelFURXVOVGN3TnprMk16STJOemswT0RrM0pUZEVKVEpESlRJeWRHVjRkRUpzYjJOckpUSXlKVE5CSlRWQ0pUVkVKVGRFSlRKREpUSXlhR2hSU21oT1JGbG9Wamd5TXpjeU55VXlNaVV6UVNVM1FpVXlNbWxrSlRJeUpUTkJKVEl5YUdoUlNtaE9SRmxvVmpneU16Y3lOeVV5TWlVeVF5VXlNbTVoYldVbE1qSWxNMEVsTWpKc2FXNXJaWElsTWpJbE1rTWxNakowWlhoMEpUSXlKVE5CSlRJeUpUSXlKVEpESlRJeVozSnZkWEFsTWpJbE0wRWxNaklsTWpJbE1rTWxNakpzYVc1clpYSlVlWEJsSlRJeUpUTkJKVEl5WW5KdmEyVnVKVEl5SlRKREpUSXljRzlwYm5SekpUSXlKVE5CSlRWQ0pUZENKVEl5ZUNVeU1pVXpRVFkyTVM0eE1EQXdNRFl4TURNMU1UVTJKVEpESlRJeWVTVXlNaVV6UVRZNE55NDNNREF3TVRJeU1EY3dNekV5SlRkRUpUSkRKVGRDSlRJeWVDVXlNaVV6UVRZMk1TNHhNREF3TURZeE1ETTFNVFUySlRKREpUSXllU1V5TWlVelFUWTROeTQzTURBd01USXlNRGN3TXpFeUpUZEVKVFZFSlRKREpUSXliRzlqYTJWa0pUSXlKVE5CWm1Gc2MyVWxNa01sTWpKa1lYUmhRWFIwY21saWRYUmxjeVV5TWlVelFTVTFRaVUxUkNVeVF5VXlNbkJ5YjNCekpUSXlKVE5CSlRkQ0pUSXllbWx1WkdWNEpUSXlKVE5CTVRjbE4wUWxNa01sTWpKc2FXNWxVM1I1YkdVbE1qSWxNMEVsTjBJbE1qSnNhVzVsVjJsa2RHZ2xNaklsTTBFeExqVWxOMFFsTWtNbE1qSm1jbTl0SlRJeUpUTkJKVGRDSlRJeWVDVXlNaVV6UVRZMk1TNHhNREF3TURZeE1ETTFNVFUySlRKREpUSXllU1V5TWlVelFUY3hPQzR5TURBd01USXlNRGN3TXpFeUpUSkRKVEl5WVc1bmJHVWxNaklsTTBFeExqVTNNRGM1TmpNeU5qYzVORGc1TnlVeVF5VXlNbWxrSlRJeUpUTkJKVEl5V25oaVRGVjRWbUpGZFRZNU9EUTJOU1V5TWlVM1JDVXlReVV5TW5SdkpUSXlKVE5CSlRkQ0pUSXlhV1FsTWpJbE0wRWxNakp5Y2tob2QySlNXVk5STlRRME1UWXpKVEl5SlRKREpUSXllQ1V5TWlVelFUWTJNUzR4TURBd01EWXhNRE0xTVRVMkpUSkRKVEl5ZVNVeU1pVXpRVFkxTnk0eU1EQXdNVEl5TURjd016RXlKVEpESlRJeVlXNW5iR1VsTWpJbE0wRTBMamN4TWpNNE9EazRNRE00TkRZNUpUZEVKVEpESlRJeWRHVjRkRUpzYjJOckpUSXlKVE5CSlRWQ0pUVkVKVGRFSlRkRUpUSkRKVEl5WTI5dGJXVnVkSE1sTWpJbE0wRWxOVUlsTlVRbE1rTWxNakp3YkhWbmFXNXpKVEl5SlROQkpUZENKVGRFSlRKREpUSXlZV2xEYjI1MFlXbHVaWEp6SlRJeUpUTkJKVGRDSlRkRUpUSkRKVEl5YVc1elpYSjBVR0ZuWlU5d2RITWxNaklsTTBFbE4wSWxOMFFsTWtNbE1qSndiM04wVUdGNWJXVnVkQ1V5TWlVelFTVTNRaVUzUkNVeVF5VXlNblJvWlcxbEpUSXlKVE5CSlRkQ0pUSXljR0ZuWlNVeU1pVXpRU1UzUWlVeU1tSmhZMnRuY205MWJtUkRiMnh2Y2lVeU1pVXpRU1V5TW5SeVlXNXpjR0Z5Wlc1MEpUSXlKVGRFSlRkRUpUZEUiLAoJIkZpbGVJZCIgOiAicG9fYmhpYmhiaWVjZGhoYmEiCn0K"/>
    </extobj>
    <extobj name="E657119C-6982-421D-8BA7-E74DEB70A7D9-2">
      <extobjdata type="E657119C-6982-421D-8BA7-E74DEB70A7D9" data="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d05UQWxNa01sTWpKemFHOTNSM0pwWkNVeU1pVXpRWFJ5ZFdVbE1rTWxNakp5YVdOb1ZHVjRkQ1V5TWlVelFYUnlkV1VsTWtNbE1qSm9aV2xuYUhRbE1qSWxNMEV4TlRBd0pUZEVKVEpESlRJeVpXeGxiV1Z1ZEhNbE1qSWxNMEVsTjBJbE1qSmFZVU5MU21oSloxUjROVGMwTkRJMkpUSXlKVE5CSlRkQ0pUSXlhV1FsTWpJbE0wRWxNakphWVVOTFNtaEpaMVI0TlRjME5ESTJKVEl5SlRKREpUSXlibUZ0WlNVeU1pVXpRU1V5TW5KdmRXNWtVbVZqZEdGdVoyeGxKVEl5SlRKREpUSXlkR2wwYkdVbE1qSWxNMEVsTWpJbFJUVWxPVU1sT0RZbFJUZ2xRVGNsT1RJbFJUY2xPVVlsUVRrbFJUVWxRa1FsUVRJ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VkhoR1RHWnFka2hHZERJM01EWTJOQ1V5TWlVM1JDVXlReVUzUWlVeU1tNWhiV1VsTWpJbE0wRWxNaklsUlRVbE9UQWxPRVFsUlRjbFFUY2xRakFsTWpJbE1rTWxNakowZVhCbEpUSXlKVE5CSlRJeWMzUnlhVzVuSlRJeUpUSkRKVEl5ZG1Gc2RXVWxNaklsTTBFbE1qSWxNaklsTWtNbE1qSmpZWFJsWjI5eWVTVXlNaVV6UVNVeU1tUmxabUYxYkhRbE1qSWxNa01sTWpKcFpDVXlNaVV6UVNVeU1rcFFXWGhsY1VGVVdGUTJPVGN4TURN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CZEVsMFRGSmpVV2h3TWpBNE16QXlKVEl5SlRkRUpUSkRKVGRDSlRJeWJtRnRaU1V5TWlVelFTVXlNaVZGT0NWQ1JpVTVSU1ZGTmlVNFJTVkJOU1V5TWlVeVF5VXlNblI1Y0dVbE1qSWxNMEVsTWpKc2FXNXJKVEl5SlRKREpUSXlkbUZzZFdVbE1qSWxNMEVsTWpJbE1qSWxNa01sTWpKallYUmxaMjl5ZVNVeU1pVXpRU1V5TW1SbFptRjFiSFFsTWpJbE1rTWxNakpwWkNVeU1pVXpRU1V5TW5WWGRteDVTbXA2WkZvMk5EZzNOVEVsTWpJbE4wUWxNa01sTjBJbE1qSnVZVzFsSlRJeUpUTkJKVEl5SlVVMEpVSkZKVUpHSlVVM0pVRkRKVUpCSlRJeUpUSkRKVEl5ZEhsd1pTVXlNaVV6UVNVeU1uTjBjbWx1WnlVeU1pVXlReVV5TW5aaGJIVmxKVEl5SlROQkpUSXlKVEl5SlRKREpUSXlZMkYwWldkdmNua2xNaklsTTBFbE1qSmtaV1poZFd4MEpUSXlKVEpESlRJeWFXUWxNaklsTTBFbE1qSkdjVmhJUm1wRVUyTm5PRGd5TkRneEpUSXlKVGRFSlRWRUpUSkRKVEl5Y0hKdmNITWxNaklsTTBFbE4wSWxNako0SlRJeUpUTkJNelV4TGpZd01EQXdOakV3TXpVeE5UWWxNa01sTWpKNUpUSXlKVE5CTlRnNExqSXdNREF4TWpJd056QXpNVElsTWtNbE1qSjNKVEl5SlROQk9UWWxNa01sTWpKb0pUSXlKVE5CTlRRbE1rTWxNako2YVc1a1pYZ2xNaklsTTBFeEpUSkRKVEl5WVc1bmJHVWxNaklsTTBFd0pUZEVKVEpESlRJeWMyaGhjR1ZUZEhsc1pTVXlNaVV6UVNVM1FpVXlNbUZzY0doaEpUSXlKVE5CTVNVM1JDVXlReVV5TW14cGJtVlRkSGxzWlNVeU1pVXpRU1UzUWlVeU1uSnZkVzVrYVc1bkpUSXlKVE5CTkNVeVF5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jMmw2WlNVeU1pVXpRVEUySlRkRUpUSkRKVEl5ZEdWNGRFSnNiMk5ySlRJeUpUTkJKVFZDSlRkQ0pUSXljRzl6YVhScGIyNGxNaklsTTBFbE4wSWxNako0SlRJeUpUTkJNVEFsTWtNbE1qSjVKVEl5SlROQk1DVXlReVV5TW5jbE1qSWxNMEVsTWpKM0xUSXdKVEl5SlRKREpUSXlhQ1V5TWlVelFTVXlNbWdsTWpJbE4wUWxNa01sTWpKMFpYaDBKVEl5SlROQkpUSXlKVVUySlRsREpVSkJKVVUySlVFeUpVSXdKVVUySlRreEpUZzJKVVUySlRsRUpUZzJ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WNVVjJXblJ0VEU1RlZ6STBNVEExTWlVeU1pVXpRU1UzUWlVeU1tbGtKVEl5SlROQkpUSXljVVYyV25SdFRFNUZWekkwTVRBMU1pVXlNaVV5UXlVeU1tNWhiV1VsTWpJbE0wRWxNakp5YjNWdVpGSmxZM1JoYm1kc1pTVXlNaVV5UXlVeU1uUnBkR3hsSlRJeUpUTkJKVEl5SlVVMUpUbERKVGcySlVVNEpVRTNKVGt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lZtUW5GamRuSkZkbTAxTXpFd05UY2xNaklsTjBRbE1rTWxOMElsTWpKdVlXMWxKVEl5SlROQkpUSXlKVVUxSlRrd0pUaEVKVVUzSlVFM0pVSXdKVEl5SlRKREpUSXlkSGx3WlNVeU1pVXpRU1V5TW5OMGNtbHVaeVV5TWlVeVF5VXlNblpoYkhWbEpUSXlKVE5CSlRJeUpUSXlKVEpESlRJeVkyRjBaV2R2Y25rbE1qSWxNMEVsTWpKa1pXWmhkV3gwSlRJeUpUSkRKVEl5YVdRbE1qSWxNMEVsTWpKaFlVaGpTbTExZFc5TE5EWTFPVEF6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hVmxsY0dOdGIzbFFlRGt5T0RRNU1pVXlNaVUzUkNVeVF5VTNRaVV5TW01aGJXVWxNaklsTTBFbE1qSWxSVGdsUWtZbE9VVWxSVFlsT0VVbFFUVWxNaklsTWtNbE1qSjBlWEJsSlRJeUpUTkJKVEl5YkdsdWF5VXlNaVV5UXlVeU1uWmhiSFZsSlRJeUpUTkJKVEl5SlRJeUpUSkRKVEl5WTJGMFpXZHZjbmtsTWpJbE0wRWxNakprWldaaGRXeDBKVEl5SlRKREpUSXlhV1FsTWpJbE0wRWxNakpqYUZweFQwOVNVVXhvTlRnd01UTTRKVEl5SlRkRUpUSkRKVGRDSlRJeWJtRnRaU1V5TWlVelFTVXlNaVZGTkNWQ1JTVkNSaVZGTnlWQlF5VkNRU1V5TWlVeVF5VXlNblI1Y0dVbE1qSWxNMEVsTWpKemRISnBibWNsTWpJbE1rTWxNakoyWVd4MVpTVXlNaVV6UVNVeU1pVXlNaVV5UXlVeU1tTmhkR1ZuYjNKNUpUSXlKVE5CSlRJeVpHVm1ZWFZzZENVeU1pVXlReVV5TW1sa0pUSXlKVE5CSlRJeWFucGphV2xPU0hoVFNqRXpOamM1TUNVeU1pVTNSQ1UxUkNVeVF5VXlNbkJ5YjNCekpUSXlKVE5CSlRkQ0pUSXllQ1V5TWlVelFUTXpPUzQyTURBd01EWXhNRE0xTVRVMkpUSkRKVEl5ZVNVeU1pVXpRVFkzT0M0eU1EQXdNVEl5TURjd016RXlKVEpESlRJeWR5VXlNaVV6UVRFeU1DVXlReVV5TW1nbE1qSWxNMEUxTkNVeVF5VXlNbnBwYm1SbGVDVXlNaVV6UVRNbE1rTWxNakpoYm1kc1pTVXlNaVV6UVRBbE4wUWxNa01sTWpKemFHRndaVk4wZVd4bEpUSXlKVE5CSlRkQ0pUSXlZV3h3YUdFbE1qSWxNMEV4SlRkRUpUSkRKVEl5YkdsdVpWTjBlV3hsSlRJeUpUTkJKVGRDSlRJeWNtOTFibVJwYm1jbE1qSWxNMEUwSlRKRE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4TUNVeVF5VXlNbmtsTWpJbE0wRXdKVEpESlRJeWR5VXlNaVV6UVNVeU1uY3RNakFsTWpJbE1rTWxNakpvSlRJeUpUTkJKVEl5YUNVeU1pVTNSQ1V5UXlVeU1uUmxlSFFsTWpJbE0wRWxNakpYUkVRek5VUTBKVE5EWW5JbE0wVWxSVFlsUVRnbFFURWxSVFlsT0VJbE9VWWxSVGNsT1RRbFFqVWxSVFFsUWtRbE9FUWxSVFVsT1RrbFFUZ2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SGQydHBRazVCVEVob056RTFOamMwSlRJeUpUTkJKVGRDSlRJeWFXUWxNaklsTTBFbE1qSkhkMnRwUWs1QlRFaG9OekUxTmpjMEpUSXlKVEpESlRJeWJtRnRaU1V5TWlVelFTVXlNbkp2ZFc1a1VtVmpkR0Z1WjJ4bEpUSXlKVEpESlRJeWRHbDBiR1VsTWpJbE0wRWxNaklsUlRVbE9VTWxPRFlsUlRnbFFUY2xPVE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UazVHYm1aNmJHSjZkalU1TkRZek9TVXlNaVUzUkNVeVF5VTNRaVV5TW01aGJXVWxNaklsTTBFbE1qSWxSVFVsT1RBbE9FUWxSVGNsUVRjbFFqQWxNaklsTWtNbE1qSjBlWEJsSlRJeUpUTkJKVEl5YzNSeWFXNW5KVEl5SlRKREpUSXlkbUZzZFdVbE1qSWxNMEVsTWpJbE1qSWxNa01sTWpKallYUmxaMjl5ZVNVeU1pVXpRU1V5TW1SbFptRjFiSFFsTWpJbE1rTWxNakpwWkNVeU1pVXpRU1V5TWxoSVFsRnBhbWwzVVhNeE56VXdOamN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nliMVZIVEZGdFNFZHBORGs0TURVekpUSXlKVGRFSlRKREpUZENKVEl5Ym1GdFpTVXlNaVV6UVNVeU1pVkZPQ1ZDUmlVNVJTVkZOaVU0UlNWQk5TVXlNaVV5UXlVeU1uUjVjR1VsTWpJbE0wRWxNakpzYVc1ckpUSXlKVEpESlRJeWRtRnNkV1VsTWpJbE0wRWxNaklsTWpJbE1rTWxNakpqWVhSbFoyOXllU1V5TWlVelFTVXlNbVJsWm1GMWJIUWxNaklsTWtNbE1qSnBaQ1V5TWlVelFTVXlNazlEVGxaTmVWVjJTSEkyT0RVME5USWxNaklsTjBRbE1rTWxOMElsTWpKdVlXMWxKVEl5SlROQkpUSXlKVVUwSlVKRkpVSkdKVVUzSlVGREpVSkJKVEl5SlRKREpUSXlkSGx3WlNVeU1pVXpRU1V5TW5OMGNtbHVaeVV5TWlVeVF5VXlNblpoYkhWbEpUSXlKVE5CSlRJeUpUSXlKVEpESlRJeVkyRjBaV2R2Y25rbE1qSWxNMEVsTWpKa1pXWmhkV3gwSlRJeUpUSkRKVEl5YVdRbE1qSWxNMEVsTWpKRWFteHZUbVZEUzFOME5EUTVOVGcwSlRJeUpUZEVKVFZFSlRKREpUSXljSEp2Y0hNbE1qSWxNMEVsTjBJbE1qSjRKVEl5SlROQk16STRMakV3TURBd05qRXdNelV4TlRZbE1rTWxNako1SlRJeUpUTkJOelk0TGpJd01EQXhNakl3TnpBek1USWxNa01sTWpKM0pUSXlKVE5CTVRRekpUSkRKVEl5YUNVeU1pVXpRVFUwSlRKREpUSXllbWx1WkdWNEpUSXlKVE5CTkNVeVF5VXlNbUZ1WjJ4bEpUSXlKVE5CTUNVM1JDVXlReVV5TW5Ob1lYQmxVM1I1YkdVbE1qSWxNMEVsTjBJbE1qSmhiSEJvWVNVeU1pVXpRVEVsTjBRbE1rTWxNakpzYVc1bFUzUjViR1VsTWpJbE0wRWxOMElsTWpKeWIzVnVaR2x1WnlVeU1pVXpRVFFsTWtN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bEJETkNWRk5TVkNReVU1TlNWRk9DVTROQ1U1UVVGRVF5VkZPU1U0TnlVNE55VkZPU1U1UWlVNE5p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tSU1NFMWtZVWxGYzJJNE1ERXhPRGNsTWpJbE0wRWxOMElsTWpKcFpDVXlNaVV6UVNVeU1rUlNTRTFrWVVsRmMySTRNREV4T0RjbE1qSWxNa01sTWpKdVlXMWxKVEl5SlROQkpUSXljbTkxYm1SU1pXTjBZVzVuYkdVbE1qSWxNa01sTWpKMGFYUnNaU1V5TWlVelFTVXlNaVZGTlNVNVF5VTROaVZGT0NWQk55VTV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lFabUozZFd0MFoxaERPVFUyTWpVeUpUSXlKVGRFSlRKREpUZENKVEl5Ym1GdFpTVXlNaVV6UVNVeU1pVkZOU1U1TUNVNFJDVkZOeVZCTnlWQ01DVXlNaVV5UXlVeU1uUjVjR1VsTWpJbE0wRWxNakp6ZEhKcGJtY2xNaklsTWtNbE1qSjJZV3gxWlNVeU1pVXpRU1V5TWlVeU1pVXlReVV5TW1OaGRHVm5iM0o1SlRJeUpUTkJKVEl5WkdWbVlYVnNkQ1V5TWlVeVF5VXlNbWxrSlRJeUpUTkJKVEl5ZUVkQ1NHSk9WRTFOYkRVNE16azBNeV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rWk1TV3RaUW14UmJsQTNOams1TWpBbE1qSWxOMFFsTWtNbE4wSWxNakp1WVcxbEpUSXlKVE5CSlRJeUpVVTRKVUpHSlRsRkpVVTJKVGhGSlVFMUpUSXlKVEpESlRJeWRIbHdaU1V5TWlVelFTVXlNbXhwYm1zbE1qSWxNa01sTWpKMllXeDFaU1V5TWlVelFTVXlNaVV5TWlVeVF5VXlNbU5oZEdWbmIzSjVKVEl5SlROQkpUSXlaR1ZtWVhWc2RDVXlNaVV5UXlVeU1tbGtKVEl5SlROQkpUSXlTbWhQWTAxMFZVdDViREV6TlRFM09TVXlNaVUzUkNVeVF5VTNRaVV5TW01aGJXVWxNaklsTTBFbE1qSWxSVFFsUWtVbFFrWWxSVGNsUVVNbFFrRWxNaklsTWtNbE1qSjBlWEJsSlRJeUpUTkJKVEl5YzNSeWFXNW5KVEl5SlRKREpUSXlkbUZzZFdVbE1qSWxNMEVsTWpJbE1qSWxNa01sTWpKallYUmxaMjl5ZVNVeU1pVXpRU1V5TW1SbFptRjFiSFFsTWpJbE1rTWxNakpwWkNVeU1pVXpRU1V5TWxwRGExQjNXRmR4V1VvMk5EazJOamNsTWpJbE4wUWxOVVFsTWtNbE1qSndjbTl3Y3lVeU1pVXpRU1UzUWlVeU1uZ2xNaklsTTBFek5URXVOakF3TURBMk1UQXpOVEUxTmlVeVF5VXlNbmtsTWpJbE0wRTROVGd1TWpBd01ERXlNakEzTURNeE1pVXlReVV5TW5jbE1qSWxNMEU1TmlVeVF5VXlNbWdsTWpJbE0wRTFOQ1V5UXlVeU1ucHBibVJsZUNVeU1pVXpRVFVsTWtNbE1qSmhibWRzWlNVeU1pVXpRVEFsTjBRbE1rTWxNakp6YUdGd1pWTjBlV3hsSlRJeUpUTkJKVGRDSlRJeVlXeHdhR0VsTWpJbE0wRXhKVGRFSlRKREpUSXliR2x1WlZOMGVXeGxKVEl5SlROQkpUZENKVEl5Y205MWJtUnBibWNsTWpJbE0wRTBKVEpESlRJeWJHbHVaVmRwWkhSb0pUSXlKVE5CTVM0MUpUZEVKVEpESlRJeVptbHNiRk4wZVd4bEpUSXlKVE5CSlRkQ0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jBRbE1rTWxNakowWlhoMFFteHZZMnNsTWpJbE0wRWxOVUlsTjBJbE1qSndiM05wZEdsdmJpVXlNaVV6UVNVM1FpVXlNbmdsTWpJbE0wRXhNQ1V5UXlVeU1ua2xNaklsTTBFd0pUSkRKVEl5ZHlVeU1pVXpRU1V5TW5jdE1qQWxNaklsTWtNbE1qSm9KVEl5SlROQkpUSXlhQ1V5TWlVM1JDVXlReVV5TW5SbGVIUWxNaklsTTBFbE1qSWxSVFVsT0RBbFFrVWxSVGdsUVRjbE9USWxSVFlsT1RVbFFqQWxSVFlsT0VRbFFVV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WFNXNVRhR0pCUVdwd05EY3lOekUxSlRJeUpUTkJKVGRDSlRJeWFXUWxNaklsTTBFbE1qSlhTVzVUYUdKQlFXcHdORGN5TnpFMUpUSXlKVEpESlRJeWJtRnRaU1V5TWlVelFTVXlNbXhwYm10bGNpVXlNaVV5UXlVeU1uUmxlSFFsTWpJbE0wRWxNaklsTWpJbE1rTWxNakpuY205MWNDVXlNaVV6UVNVeU1pVXlNaVV5UXlVeU1teHBibXRsY2xSNWNHVWxNaklsTTBFbE1qSmljbTlyWlc0bE1qSWxNa01sTWpKd2IybHVkSE1sTWpJbE0wRWxOVUlsTjBJbE1qSjRKVEl5SlROQk16azVMall3TURBd05qRXdNelV4TlRZbE1rTWxNako1SlRJeUpUTkJOall3TGpJd01EQXhNakl3TnpBek1USWxOMFFsTWtNbE4wSWxNako0SlRJeUpUTkJNems1TGpZd01EQXdOakV3TXpVeE5UWWxNa01sTWpKNUpUSXlKVE5CTmpZd0xqSXdNREF4TWpJd056QXpNVElsTjBRbE5VUWxNa01sTWpKc2IyTnJaV1FsTWpJbE0wRm1ZV3h6WlNVeVF5VXlNbVJoZEdGQmRIUnlhV0oxZEdWekpUSXlKVE5CSlRWQ0pUVkVKVEpESlRJeWNISnZjSE1sTWpJbE0wRWxOMElsTWpKNmFXNWtaWGdsTWpJbE0wRTJKVGRFSlRKREpUSXliR2x1WlZOMGVXeGxKVEl5SlROQkpUZENKVEl5YkdsdVpWZHBaSFJvSlRJeUpUTkJNUzQxSlRkRUpUSkRKVEl5Wm5KdmJTVXlNaVV6UVNVM1FpVXlNbmdsTWpJbE0wRXpPVGt1TmpBd01EQTJNVEF6TlRFMU5pVXlReVV5TW5rbE1qSWxNMEUyTkRJdU1qQXdNREV5TWpBM01ETXhNaVV5UXlVeU1tRnVaMnhsSlRJeUpUTkJOQzQzTVRJek9EZzVPREF6T0RRMk9TVXlReVV5TW1sa0pUSXlKVE5CSlRJeVdtRkRTMHBvU1dkVWVEVTNORFF5TmlVeU1pVTNSQ1V5UXlVeU1uUnZKVEl5SlROQkpUZENKVEl5YVdRbE1qSWxNMEVsTWpKeFJYWmFkRzFNVGtWWE1qUXhNRFV5SlRJeUpUSkRKVEl5ZUNVeU1pVXpRVE01T1M0Mk1EQXdNRFl4TURNMU1UVTJKVEpESlRJeWVTVXlNaVV6UVRZM09DNHlNREF3TVRJeU1EY3dNekV5SlRKREpUSXlZVzVuYkdVbE1qSWxNMEV4TGpVM01EYzVOak15TmpjNU5EZzVOeVUzUkNVeVF5VXlNblJsZUhSQ2JHOWpheVV5TWlVelFTVTFRaVUxUkNVM1JDVXlReVV5TW5GUldtSlJhRlJGYW5vd01Ua3dNRGNsTWpJbE0wRWxOMElsTWpKcFpDVXlNaVV6UVNVeU1uRlJXbUpSYUZSRmFub3dNVGt3TURjbE1qSWxNa01sTWpKdVlXMWxKVEl5SlROQkpUSXliR2x1YTJWeUpUSXlKVEpESlRJeWRHVjRkQ1V5TWlVelFTVXlNaVV5TWlVeVF5VXlNbWR5YjNWd0pUSXlKVE5CSlRJeUpUSXlKVEpESlRJeWJHbHVhMlZ5Vkhsd1pTVXlNaVV6UVNVeU1tSnliMnRsYmlVeU1pVXlReVV5TW5CdmFXNTBjeVV5TWlVelFTVTFRaVUzUWlVeU1uZ2xNaklsTTBFek9Ua3VOakF3TURBMk1UQXpOVEUxTmlVeVF5VXlNbmtsTWpJbE0wRTNOVEF1TWpBd01ERXlNakEzTURNeE1pVTNSQ1V5UXlVM1FpVXlNbmdsTWpJbE0wRXpPVGt1TmpBd01EQTJNVEF6TlRFMU5pVXlReVV5TW5rbE1qSWxNMEUzTlRBdU1qQXdNREV5TWpBM01ETXhNaVUzUkNVMVJDVXlReVV5TW14dlkydGxaQ1V5TWlVelFXWmhiSE5sSlRKREpUSXlaR0YwWVVGMGRISnBZblYwWlhNbE1qSWxNMEVsTlVJbE5VUWxNa01sTWpKd2NtOXdjeVV5TWlVelFTVTNRaVV5TW5wcGJtUmxlQ1V5TWlVelFUY2xOMFFsTWtNbE1qSnNhVzVsVTNSNWJHVWxNaklsTTBFbE4wSWxNakpzYVc1bFYybGtkR2dsTWpJbE0wRXhMalVsTjBRbE1rTWxNakptY205dEpUSXlKVE5CSlRkQ0pUSXllQ1V5TWlVelFUTTVPUzQyTURBd01EWXhNRE0xTVRVMkpUSkRKVEl5ZVNVeU1pVXpRVGN6TWk0eU1EQXdNVEl5TURjd016RXlKVEpESlRJeVlXNW5iR1VsTWpJbE0wRTBMamN4TWpNNE9EazRNRE00TkRZNUpUSkRKVEl5YVdRbE1qSWxNMEVsTWpKeFJYWmFkRzFNVGtWWE1qUXhNRFV5SlRJeUpUZEVKVEpESlRJeWRHOGxNaklsTTBFbE4wSWxNakpwWkNVeU1pVXpRU1V5TWtkM2EybENUa0ZNU0dnM01UVTJOelFsTWpJbE1rTWxNako0SlRJeUpUTkJNems1TGpZd01EQXdOakV3TXpVeE5UWWxNa01sTWpKNUpUSXlKVE5CTnpZNExqSXdNREF4TWpJd056QXpNVElsTWtNbE1qSmhibWRzWlNVeU1pVXpRVEV1TlRjd056azJNekkyTnprME9EazNKVGRFSlRKREpUSXlkR1Y0ZEVKc2IyTnJKVEl5SlROQkpUVkNKVFZFSlRkRUpUSkRKVEl5U0dwNFVXaElUMlZMUkRZNE5ESTJPQ1V5TWlVelFTVTNRaVV5TW1sa0pUSXlKVE5CSlRJeVNHcDRVV2hJVDJWTFJEWTROREkyT0NVeU1pVXlReVV5TW01aGJXVWxNaklsTTBFbE1qSnNhVzVyWlhJbE1qSWxNa01sTWpKMFpYaDBKVEl5SlROQkpUSXlKVEl5SlRKREpUSXlaM0p2ZFhBbE1qSWxNMEVsTWpJbE1qSWxNa01sTWpKc2FXNXJaWEpVZVhCbEpUSXlKVE5CSlRJeVluSnZhMlZ1SlRJeUpUSkRKVEl5Y0c5cGJuUnpKVEl5SlROQkpUVkNKVGRDSlRJeWVDVXlNaVV6UVRNNU9TNDJNREF3TURZeE1ETTFNVFUySlRKREpUSXllU1V5TWlVelFUZzBNQzR5TURBd01USXlNRGN3TXpFeUpUZEVKVEpESlRkQ0pUSXllQ1V5TWlVelFUTTVPUzQyTURBd01EWXhNRE0xTVRVMkpUSkRKVEl5ZVNVeU1pVXpRVGcwTUM0eU1EQXdNVEl5TURjd016RXlKVGRFSlRWRUpUSkRKVEl5Ykc5amEyVmtKVEl5SlROQlptRnNjMlVsTWtNbE1qSmtZWFJoUVhSMGNtbGlkWFJsY3lVeU1pVXpRU1UxUWlVMVJDVXlReVV5TW5CeWIzQnpKVEl5SlROQkpUZENKVEl5ZW1sdVpHVjRKVEl5SlROQk9DVTNSQ1V5UXlVeU1teHBibVZUZEhsc1pTVXlNaVV6UVNVM1FpVXlNbXhwYm1WWGFXUjBhQ1V5TWlVelFURXVOU1UzUkNVeVF5VXlNbVp5YjIwbE1qSWxNMEVsTjBJbE1qSjRKVEl5SlROQk16azVMall3TURBd05qRXdNelV4TlRZbE1rTWxNako1SlRJeUpUTkJPREl5TGpJd01EQXhNakl3TnpBek1USWxNa01sTWpKaGJtZHNaU1V5TWlVelFUUXVOekV5TXpnNE9UZ3dNemcwTmprbE1rTWxNakpwWkNVeU1pVXpRU1V5TWtkM2EybENUa0ZNU0dnM01UVTJOelFsTWpJbE4wUWxNa01sTWpKMGJ5VXlNaVV6UVNVM1FpVXlNbWxrSlRJeUpUTkJKVEl5UkZKSVRXUmhTVVZ6WWpnd01URTROeVV5TWlVeVF5VXlNbmdsTWpJbE0wRXpPVGt1TmpBd01EQTJNVEF6TlRFMU5pVXlReVV5TW5rbE1qSWxNMEU0TlRndU1qQXdNREV5TWpBM01ETXhNaVV5UXlVeU1tRnVaMnhsSlRJeUpUTkJNUzQxTnpBM09UWXpNalkzT1RRNE9UY2xOMFFsTWtNbE1qSjBaWGgwUW14dlkyc2xNaklsTTBFbE5VSWxOVVFsTjBRbE1rTWxNakpIUVcxb1VHSjBTVzFhTnpFek1ESXhKVEl5SlROQkpUZENKVEl5YVdRbE1qSWxNMEVsTWpKSFFXMW9VR0owU1cxYU56RXpNREl4SlRJeUpUSkRKVEl5Ym1GdFpTVXlNaVV6UVNVeU1uSnZkVzVrVW1WamRHRnVaMnhsSlRJeUpUSkRKVEl5ZEdsMGJHVWxNaklsTTBFbE1qSWxSVFVsT1VNbE9EWWxSVGdsUVRjbE9U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WFHTnZhMUZDYzJGdmVqUTFOalV3TmlVeU1pVTNSQ1V5UXlVM1FpVXlNbTVoYldVbE1qSWxNMEVsTWpJbFJUVWxPVEFsT0VRbFJUY2xRVGNsUWpBbE1qSWxNa01sTWpKMGVYQmxKVEl5SlROQkpUSXljM1J5YVc1bkpUSXlKVEpESlRJeWRtRnNkV1VsTWpJbE0wRWxNaklsTWpJbE1rTWxNakpqWVhSbFoyOXllU1V5TWlVelFTVXlNbVJsWm1GMWJIUWxNaklsTWtNbE1qSnBaQ1V5TWlVelFTVXlNblZ0UzBaTlEwTklWbWcxTVRnMU16Z2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WVVFaEZRblo0UTNGR05UZzNNekkxSlRJeUpUZEVKVEpESlRkQ0pUSXlibUZ0WlNVeU1pVXpRU1V5TWlWRk9DVkNSaVU1UlNWRk5pVTRSU1ZCTlNVeU1pVXlReVV5TW5SNWNHVWxNaklsTTBFbE1qSnNhVzVySlRJeUpUSkRKVEl5ZG1Gc2RXVWxNaklsTTBFbE1qSWxNaklsTWtNbE1qSmpZWFJsWjI5eWVTVXlNaVV6UVNVeU1tUmxabUYxYkhRbE1qSWxNa01sTWpKcFpDVXlNaVV6UVNVeU1raFFVblJ1UkZKWVFub3lOelE1T1RrbE1qSWxOMFFsTWtNbE4wSWxNakp1WVcxbEpUSXlKVE5CSlRJeUpVVTBKVUpGSlVKR0pVVTNKVUZESlVKQkpUSXlKVEpESlRJeWRIbHdaU1V5TWlVelFTVXlNbk4wY21sdVp5VXlNaVV5UXlVeU1uWmhiSFZsSlRJeUpUTkJKVEl5SlRJeUpUSkRKVEl5WTJGMFpXZHZjbmtsTWpJbE0wRWxNakprWldaaGRXeDBKVEl5SlRKREpUSXlhV1FsTWpJbE0wRWxNakppUTBsWmIzQklTVTlYTkRRMk56RTNKVEl5SlRkRUpUVkVKVEpESlRJeWNISnZjSE1sTWpJbE0wRWxOMElsTWpKNEpUSXlKVE5CTlRrNUxqWXdNREF3TmpFd016VXhOVFlsTWtNbE1qSjVKVEl5SlROQk9EVTRMakl3TURBeE1qSXdOekF6TVRJbE1rTWxNakozSlRJeUpUTkJNVEl6SlRKREpUSXlhQ1V5TWlVelFUVTBKVEpESlRJeWVtbHVaR1Y0SlRJeUpUTkJPU1V5UXlVeU1tRnVaMnhsSlRJeUpUTkJNQ1UzUkNVeVF5VXlNbk5vWVhCbFUzUjViR1VsTWpJbE0wRWxOMElsTWpKaGJIQm9ZU1V5TWlVelFURWxOMFFsTWtNbE1qSnNhVzVsVTNSNWJHVWxNaklsTTBFbE4wSWxNakp5YjNWdVpHbHVaeVV5TWlVelFUUWxNa01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pVkZOU1ZDT1NWQ015VkZPQ1ZCTVNWQk1WQkVKVVUySlRoRkpVRTNKVVUxSlRnNEpVSTJKVVUxSlRrNUpVRTR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RtaElaWFJQZEZWTVFqQXdOemt6TWlVeU1pVXpRU1UzUWlVeU1tbGtKVEl5SlROQkpUSXlUbWhJWlhSUGRGVk1RakF3Tnprek1pVXlNaVV5UXlVeU1tNWhiV1VsTWpJbE0wRWxNakpzYVc1clpYSWxNaklsTWtNbE1qSjBaWGgwSlRJeUpUTkJKVEl5SlRJeUpUSkRKVEl5WjNKdmRYQWxNaklsTTBFbE1qSWxNaklsTWtNbE1qSnNhVzVyWlhKVWVYQmxKVEl5SlROQkpUSXlZbkp2YTJWdUpUSXlKVEpESlRJeWNHOXBiblJ6SlRJeUpUTkJKVFZDSlRkQ0pUSXllQ1V5TWlVelFUVXlNeTQyTURBd01EWXhNRE0xTVRVMkpUSkRKVEl5ZVNVeU1pVXpRVGc0TlM0eU1EQXdNVEl5TURjd016RXlKVGRFSlRKREpUZENKVEl5ZUNVeU1pVXpRVFV5TXk0Mk1EQXdNRFl4TURNMU1UVTJKVEpESlRJeWVTVXlNaVV6UVRnNE5TNHlNREF3TVRJeU1EY3dNekV5SlRkRUpUVkVKVEpESlRJeWJHOWphMlZrSlRJeUpUTkJabUZzYzJVbE1rTWxNakprWVhSaFFYUjBjbWxpZFhSbGN5VXlNaVV6UVNVMVFpVTFSQ1V5UXlVeU1uQnliM0J6SlRJeUpUTkJKVGRDSlRJeWVtbHVaR1Y0SlRJeUpUTkJNVEFsTjBRbE1rTWxNakpzYVc1bFUzUjViR1VsTWpJbE0wRWxOMElsTWpKc2FXNWxWMmxrZEdnbE1qSWxNMEV4TGpVbE4wUWxNa01sTWpKbWNtOXRKVEl5SlROQkpUZENKVEl5ZUNVeU1pVXpRVFEwTnk0Mk1EQXdNRFl4TURNMU1UVTJKVEpESlRJeWVTVXlNaVV6UVRnNE5TNHlNREF3TVRJeU1EY3dNekV5SlRKREpUSXlZVzVuYkdVbE1qSWxNMEV6TGpFME1UVTVNalkxTXpVNE9UYzVNellsTWtNbE1qSnBaQ1V5TWlVelFTVXlNa1JTU0Uxa1lVbEZjMkk0TURFeE9EY2xNaklsTjBRbE1rTWxNakowYnlVeU1pVXpRU1UzUWlVeU1tbGtKVEl5SlROQkpUSXlSMEZ0YUZCaWRFbHRXamN4TXpBeU1TVXlNaVV5UXlVeU1uZ2xNaklsTTBFMU9Ua3VOakF3TURBMk1UQXpOVEUxTmlVeVF5VXlNbmtsTWpJbE0wRTRPRFV1TWpBd01ERXlNakEzTURNeE1pVXlReVV5TW1GdVoyeGxKVEl5SlROQk1DVTNSQ1V5UXlVeU1uUmxlSFJDYkc5amF5VXlNaVV6UVNVMVFpVTFSQ1UzUkNVeVF5VXlNbHA0WWt4VmVGWmlSWFUyT1RnME5qVWxNaklsTTBFbE4wSWxNakpwWkNVeU1pVXpRU1V5TWxwNFlreFZlRlppUlhVMk9UZzBOalVsTWpJbE1rTWxNakp1WVcxbEpUSXlKVE5CSlRJeWNtOTFibVJTWldOMFlXNW5iR1VsTWpJbE1rTWxNakowYVhSc1pTVXlNaVV6UVNVeU1pVkZOU1U1UXlVNE5pVkZPQ1ZCTnlVN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SlVGSlhhMGhtV0ZkRU1EVTVORE15SlRJeUpUZEVKVEpESlRkQ0pUSXlibUZ0WlNVeU1pVXpRU1V5TWlWRk5TVTVNQ1U0UkNWRk55VkJOeVZDTUNVeU1pVXlReVV5TW5SNWNHVWxNaklsTTBFbE1qSnpkSEpwYm1jbE1qSWxNa01sTWpKMllXeDFaU1V5TWlVelFTVXlNaVV5TWlVeVF5VXlNbU5oZEdWbmIzSjVKVEl5SlROQkpUSXlaR1ZtWVhWc2RDVXlNaVV5UXlVeU1tbGtKVEl5SlROQkpUSXlSSEZxYVhweVpVdDBVRFk1TlRZME5T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sxRmRXWldZMUZDY200Mk1UQXdNalVsTWpJbE4wUWxNa01sTjBJbE1qSnVZVzFsSlRJeUpUTkJKVEl5SlVVNEpVSkdKVGxGSlVVMkpUaEZKVUUxSlRJeUpUSkRKVEl5ZEhsd1pTVXlNaVV6UVNVeU1teHBibXNsTWpJbE1rTWxNakoyWVd4MVpTVXlNaVV6UVNVeU1pVXlNaVV5UXlVeU1tTmhkR1ZuYjNKNUpUSXlKVE5CSlRJeVpHVm1ZWFZzZENVeU1pVXlReVV5TW1sa0pUSXlKVE5CSlRJeWQxZHVWRVpYV2tWdVNESTROVGsyTUNVeU1pVTNSQ1V5UXlVM1FpVXlNbTVoYldVbE1qSWxNMEVsTWpJbFJUUWxRa1VsUWtZbFJUY2xRVU1sUWtFbE1qSWxNa01sTWpKMGVYQmxKVEl5SlROQkpUSXljM1J5YVc1bkpUSXlKVEpESlRJeWRtRnNkV1VsTWpJbE0wRWxNaklsTWpJbE1rTWxNakpqWVhSbFoyOXllU1V5TWlVelFTVXlNbVJsWm1GMWJIUWxNaklsTWtNbE1qSnBaQ1V5TWlVelFTVXlNa2xEV1dwdmFVaFZSRW8wTkRJMU1qVWxNaklsTjBRbE5VUWxNa01sTWpKd2NtOXdjeVV5TWlVelFTVTNRaVV5TW5nbE1qSWxNMEUxT1RndU9UYzFNREEyTVRBek5URTFOaVV5UXlVeU1ua2xNaklsTTBFM01UZ3VNakF3TURFeU1qQTNNRE14TWlVeVF5VXlNbmNsTWpJbE0wRXhNalF1TWpVbE1rTWxNakpvSlRJeUpUTkJOVFFsTWtNbE1qSjZhVzVrWlhnbE1qSWxNMEV4TVNVeVF5VXlNbUZ1WjJ4bEpUSXlKVE5CTUNVM1JDVXlReVV5TW5Ob1lYQmxVM1I1YkdVbE1qSWxNMEVsTjBJbE1qSmhiSEJvWVNVeU1pVXpRVEVsTjBRbE1rTWxNakpzYVc1bFUzUjViR1VsTWpJbE0wRWxOMElsTWpKeWIzVnVaR2x1WnlVeU1pVXpRVFFsTWtN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bEJYVFNWRk55VTVOQ1ZDTlNWRk5pVTVReVZDUVNWRk9TVkJPU1ZDTVNWRk5TVTRRU1ZCT0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VJ1ZWxoS1ZHWkliMGd3TWpVME56RWxNaklsTTBFbE4wSWxNakpwWkNVeU1pVXpRU1V5TW1SdWVsaEtWR1pJYjBnd01qVTBOekVsTWpJbE1rTWxNakp1WVcxbEpUSXlKVE5CSlRJeWJHbHVhMlZ5SlRJeUpUSkRKVEl5ZEdWNGRDVXlNaVV6UVNVeU1pVXlNaVV5UXlVeU1tZHliM1Z3SlRJeUpUTkJKVEl5SlRJeUpUSkRKVEl5YkdsdWEyVnlWSGx3WlNVeU1pVXpRU1V5TW1KeWIydGxiaVV5TWlVeVF5VXlNbkJ2YVc1MGN5VXlNaVV6UVNVMVFpVTNRaVV5TW5nbE1qSWxNMEUyTmpFdU1UQXdNREEyTVRBek5URTFOaVV5UXlVeU1ua2xNaklsTTBFNE1UVXVNakF3TURFeU1qQTNNRE14TWlVM1JDVXlReVUzUWlVeU1uZ2xNaklsTTBFMk5qRXVNVEF3TURBMk1UQXpOVEUxTmlVeVF5VXlNbmtsTWpJbE0wRTRNVFV1TWpBd01ERXlNakEzTURNeE1pVTNSQ1UxUkNVeVF5VXlNbXh2WTJ0bFpDVXlNaVV6UVdaaGJITmxKVEpESlRJeVpHRjBZVUYwZEhKcFluVjBaWE1sTWpJbE0wRWxOVUlsTlVRbE1rTWxNakp3Y205d2N5VXlNaVV6UVNVM1FpVXlNbnBwYm1SbGVDVXlNaVV6UVRFeUpUZEVKVEpESlRJeWJHbHVaVk4wZVd4bEpUSXlKVE5CSlRkQ0pUSXliR2x1WlZkcFpIUm9KVEl5SlROQk1TNDFKVGRFSlRKREpUSXlabkp2YlNVeU1pVXpRU1UzUWlVeU1uZ2xNaklsTTBFMk5qRXVNVEF3TURBMk1UQXpOVEUxTmlVeVF5VXlNbmtsTWpJbE0wRTROVGd1TWpBd01ERXlNakEzTURNeE1pVXlReVV5TW1GdVoyeGxKVEl5SlROQk1TNDFOekEzT1RZek1qWTNPVFE0T1RjbE1rTWxNakpwWkNVeU1pVXpRU1V5TWtkQmJXaFFZblJKYlZvM01UTXdNakVsTWpJbE4wUWxNa01sTWpKMGJ5VXlNaVV6UVNVM1FpVXlNbWxrSlRJeUpUTkJKVEl5V25oaVRGVjRWbUpGZFRZNU9EUTJOU1V5TWlVeVF5VXlNbmdsTWpJbE0wRTJOakV1TVRBd01EQTJNVEF6TlRFMU5pVXlReVV5TW5rbE1qSWxNMEUzTnpJdU1qQXdNREV5TWpBM01ETXhNaVV5UXlVeU1tRnVaMnhsSlRJeUpUTkJOQzQzTVRJek9EZzVPREF6T0RRMk9TVTNSQ1V5UXlVeU1uUmxlSFJDYkc5amF5VXlNaVV6UVNVMVFpVTFSQ1UzUkNVeVF5VXlNbEZVVDJsa1NWQlhkSEEzTURJM09URWxNaklsTTBFbE4wSWxNakpwWkNVeU1pVXpRU1V5TWxGVVQybGtTVkJYZEhBM01ESTNPVEVsTWpJbE1rTWxNakp1WVcxbEpUSXlKVE5CSlRJeWMzUmhibVJoY21SVVpYaDBKVEl5SlRKREpUSXlkR2wwYkdVbE1qSWxNMEVsTWpJbE1qSWxNa01sTWpKallYUmxaMjl5ZVNVeU1pVXpRU1V5TW5OMFlXNWtZWEpr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FZFSlRKREpUSXljSEp2Y0hNbE1qSWxNMEVsTjBJbE1qSjRKVEl5SlROQk5UY3dMall3TURBd05qRXdNelV4TlRZbE1rTWxNako1SlRJeUpUTkJOemszTGpJd01EQXhNakl3TnpBek1USWxNa01sTWpKM0pUSXlKVE5CTVRBd0pUSkRKVEl5YUNVeU1pVXpRVFF3SlRKREpUSXllbWx1WkdWNEpUSXlKVE5CTVRNbE1rTWxNakpoYm1kc1pTVXlNaVV6UVRBbE4wUWxNa01sTWpKemFHRndaVk4wZVd4bEpUSXlKVE5CSlRkQ0pUSXlZV3h3YUdFbE1qSWxNMEV4SlRkRUpUSkRKVEl5YkdsdVpWTjBlV3hsSlRJeUpUTkJKVGRDSlRkRUpUSkRKVEl5Wm1sc2JGTjBlV3hsSlRJeUpUTkJKVGRDSlRkRUpUSkRKVEl5ZEdobGJXVWxNaklsTTBFbE4wSWxOMFFsTWtNbE1qSndZWFJvSlRJeUpUTkJKVFZDSlRkQ0pUSXliR2x1WlZOMGVXeGxKVEl5SlROQkpUZENKVEl5YkdsdVpWZHBaSFJvSlRJeUpUTkJNQ1UzUkNVeVF5VXlNbVpwYkd4VGRIbHNaU1V5TWlVelFTVTNRaVV5TW5SNWNHVWxNaklsTTBFbE1qSnViMjVsSlRJeUpUZEVKVEpE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3SlRKREpUSXllU1V5TWlVelFUQWxNa01sTWpKM0pUSXlKVE5CSlRJeWR5VXlNaVV5UXlVeU1tZ2xNaklsTTBFbE1qSm9KVEl5SlRkRUpUSkRKVEl5ZEdWNGRDVXlNaVV6UVNVeU1pVkZOaVZCT0NWQk1TVkZOaVU0UWlVNVJpVkZOeVU1TkNWQ05TVkZOU1U0UlNVNFFp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5kMlExZHllV1o1ZVZveE5ERTJNamNsTWpJbE0wRWxOMElsTWpKcFpDVXlNaVV6UVNVeU1uZDJRMWR5ZVdaNWVWb3hOREUyTWpjbE1qSWxNa01sTWpKdVlXMWxKVEl5SlROQkpUSXljM1JoYm1SaGNtUlVaWGgwSlRJeUpUSkRKVEl5ZEdsMGJHVWxNaklsTTBFbE1qSWxNaklsTWtNbE1qSmpZWFJsWjI5eWVTVXlNaVV6UVNVeU1uTjBZVzVrWVhKa0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WRUpUSkRKVEl5Y0hKdmNITWxNaklsTTBFbE4wSWxNako0SlRJeUpUTkJOalE1TGpZd01EQXdOakV3TXpVeE5UWWxNa01sTWpKNUpUSXlKVE5CTnprNUxqY3dNREF4TWpJd056QXpNVElsTWtNbE1qSjNKVEl5SlROQk1UQXdKVEpESlRJeWFDVXlNaVV6UVRRd0pUSkRKVEl5ZW1sdVpHVjRKVEl5SlROQk1UUWxNa01sTWpKaGJtZHNaU1V5TWlVelFUQWxOMFFsTWtNbE1qSnphR0Z3WlZOMGVXeGxKVEl5SlROQkpUZENKVEl5WVd4d2FHRWxNaklsTTBFeEpUZEVKVEpESlRJeWJHbHVaVk4wZVd4bEpUSXlKVE5CSlRkQ0pUZEVKVEpESlRJeVptbHNiRk4wZVd4bEpUSXlKVE5CSlRkQ0pUZEVKVEpESlRJeWRHaGxiV1VsTWpJbE0wRWxOMElsTjBRbE1rTWxNakp3WVhSb0pUSXlKVE5CSlRWQ0pUZENKVEl5YkdsdVpWTjBlV3hsSlRJeUpUTkJKVGRDSlRJeWJHbHVaVmRwWkhSb0pUSXlKVE5CTUNVM1JDVXlReVV5TW1acGJHeFRkSGxzWlNVeU1pVXpRU1UzUWlVeU1uUjVjR1VsTWpJbE0wRWxNakp1YjI1bEpUSXlKVGRFSlRKRE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d0pUSkRKVEl5ZVNVeU1pVXpRVEFsTWtNbE1qSjNKVEl5SlROQkpUSXlkeVV5TWlVeVF5VXlNbWdsTWpJbE0wRWxNakpvSlRJeUpUZEVKVEpESlRJeWRHVjRkQ1V5TWlVelFTVXlNaVZGT0NWQlJpVkJSaVZGTlNWQ055VkJSU1ZGT0NWQ1JTVTVNeVZGTlNVNE5TVkJOU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uSnlTR2gzWWxKWlUxRTFORFF4TmpNbE1qSWxNMEVsTjBJbE1qSnBaQ1V5TWlVelFTVXlNbkp5U0doM1lsSlpVMUUxTkRReE5qTWxNaklsTWtNbE1qSnVZVzFsSlRJeUpUTkJKVEl5Y205MWJtUlNaV04wWVc1bmJHVWxNaklsTWtNbE1qSjBhWFJzWlNVeU1pVXpRU1V5TWlWRk5TVTVReVU0TmlWRk9DVkJOeVU1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VUkc1U1JIZGpTWFpSTURrd05qVTJKVEl5SlRkRUpUSkRKVGRDSlRJeWJtRnRaU1V5TWlVelFTVXlNaVZGTlNVNU1DVTRSQ1ZGTnlWQk55VkNNQ1V5TWlVeVF5VXlNblI1Y0dVbE1qSWxNMEVsTWpKemRISnBibWNsTWpJbE1rTWxNakoyWVd4MVpTVXlNaVV6UVNVeU1pVXlNaVV5UXlVeU1tTmhkR1ZuYjNKNUpUSXlKVE5CSlRJeVpHVm1ZWFZzZENVeU1pVXlReVV5TW1sa0pUSXlKVE5CSlRJeWEyMXlUR2h2Vlcxb2REWXhORGN6Tl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VZKVFZkbGMyOXNkMGc0TmpnME1ETWxNaklsTjBRbE1rTWxOMElsTWpKdVlXMWxKVEl5SlROQkpUSXlKVVU0SlVKR0pUbEZKVVUySlRoRkpVRTFKVEl5SlRKREpUSXlkSGx3WlNVeU1pVXpRU1V5TW14cGJtc2xNaklsTWtNbE1qSjJZV3gxWlNVeU1pVXpRU1V5TWlVeU1pVXlReVV5TW1OaGRHVm5iM0o1SlRJeUpUTkJKVEl5WkdWbVlYVnNkQ1V5TWlVeVF5VXlNbWxrSlRJeUpUTkJKVEl5U25ONFQxbGhSMGR4VmpJM09ETXpOU1V5TWlVM1JDVXlReVUzUWlVeU1tNWhiV1VsTWpJbE0wRWxNaklsUlRRbFFrVWxRa1lsUlRjbFFVTWxRa0VsTWpJbE1rTWxNakowZVhCbEpUSXlKVE5CSlRJeWMzUnlhVzVuSlRJeUpUSkRKVEl5ZG1Gc2RXVWxNaklsTTBFbE1qSWxNaklsTWtNbE1qSmpZWFJsWjI5eWVTVXlNaVV6UVNVeU1tUmxabUYxYkhRbE1qSWxNa01sTWpKcFpDVXlNaVV6UVNVeU1uWlBjMjVvVUc1QlprazBNRGN4TXprbE1qSWxOMFFsTlVRbE1rTWxNakp3Y205d2N5VXlNaVV6UVNVM1FpVXlNbmdsTWpJbE0wRTJNVE11TVRBd01EQTJNVEF6TlRFMU5pVXlReVV5TW5rbE1qSWxNMEUyTURNdU1qQXdNREV5TWpBM01ETXhNaVV5UXlVeU1uY2xNaklsTTBFNU5pVXlReVV5TW1nbE1qSWxNMEUxTkNVeVF5VXlNbnBwYm1SbGVDVXlNaVV6UVRFMUpUSkRKVEl5WVc1bmJHVWxNaklsTTBFd0pUZEVKVEpESlRJeWMyaGhjR1ZUZEhsc1pTVXlNaVV6UVNVM1FpVXlNbUZzY0doaEpUSXlKVE5CTVNVM1JDVXlReVV5TW14cGJtVlRkSGxzWlNVeU1pVXpRU1UzUWlVeU1uSnZkVzVrYVc1bkpUSXlKVE5CTkNVeVF5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ZEVKVEpESlRJeWRHVjRkRUpzYjJOckpUSXlKVE5CSlRWQ0pUZENKVEl5Y0c5emFYUnBiMjRsTWpJbE0wRWxOMElsTWpKNEpUSXlKVE5CTVRBbE1rTWxNako1SlRJeUpUTkJNQ1V5UXlVeU1uY2xNaklsTTBFbE1qSjNMVEl3SlRJeUpUSkRKVEl5YUNVeU1pVXpRU1V5TW1nbE1qSWxOMFFsTWtNbE1qSjBaWGgwSlRJeUpUTkJKVEl5SlVVMUpUbENKVGxDSlVVNEpVSkVKVUZGSlVVMUpVSXdKVGhHSlVVNEpVSkVKVUUy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UVmRYVmxOQmVWSjRWak16TURJek55VXlNaVV6UVNVM1FpVXlNbWxrSlRJeUpUTkJKVEl5VFZkWFZsTkJlVko0VmpNek1ESXpOeVV5TWlVeVF5VXlNbTVoYldVbE1qSWxNMEVsTWpKc2FXNXJaWElsTWpJbE1rTWxNakowWlhoMEpUSXlKVE5CSlRJeUpUSXlKVEpESlRJeVozSnZkWEFsTWpJbE0wRWxNaklsTWpJbE1rTWxNakpzYVc1clpYSlVlWEJsSlRJeUpUTkJKVEl5WW5KdmEyVnVKVEl5SlRKREpUSXljRzlwYm5SekpUSXlKVE5CSlRWQ0pUZENKVEl5ZUNVeU1pVXpRVFkyTVM0eE1EQXdNRFl4TURNMU1UVTJKVEpESlRJeWVTVXlNaVV6UVRZNE55NDNNREF3TVRJeU1EY3dNekV5SlRkRUpUSkRKVGRDSlRJeWVDVXlNaVV6UVRZMk1TNHhNREF3TURZeE1ETTFNVFUySlRKREpUSXllU1V5TWlVelFUWTROeTQzTURBd01USXlNRGN3TXpFeUpUZEVKVFZFSlRKREpUSXliRzlqYTJWa0pUSXlKVE5CWm1Gc2MyVWxNa01sTWpKa1lYUmhRWFIwY21saWRYUmxjeVV5TWlVelFTVTFRaVUxUkNVeVF5VXlNbkJ5YjNCekpUSXlKVE5CSlRkQ0pUSXllbWx1WkdWNEpUSXlKVE5CTVRZbE4wUWxNa01sTWpKc2FXNWxVM1I1YkdVbE1qSWxNMEVsTjBJbE1qSnNhVzVsVjJsa2RHZ2xNaklsTTBFeExqVWxOMFFsTWtNbE1qSm1jbTl0SlRJeUpUTkJKVGRDSlRJeWVDVXlNaVV6UVRZMk1TNHhNREF3TURZeE1ETTFNVFUySlRKREpUSXllU1V5TWlVelFUWTFOeTR5TURBd01USXlNRGN3TXpFeUpUSkRKVEl5WVc1bmJHVWxNaklsTTBFMExqY3hNak00T0RrNE1ETTRORFk1SlRKREpUSXlhV1FsTWpJbE0wRWxNakp5Y2tob2QySlNXVk5STlRRME1UWXpKVEl5SlRkRUpUSkRKVEl5ZEc4bE1qSWxNMEVsTjBJbE1qSnBaQ1V5TWlVelFTVXlNbHA0WWt4VmVGWmlSWFUyT1RnME5qVWxNaklsTWtNbE1qSjRKVEl5SlROQk5qWXhMakV3TURBd05qRXdNelV4TlRZbE1rTWxNako1SlRJeUpUTkJOekU0TGpJd01EQXhNakl3TnpBek1USWxNa01sTWpKaGJtZHNaU1V5TWlVelFURXVOVGN3TnprMk16STJOemswT0RrM0pUZEVKVEpESlRJeWRHVjRkRUpzYjJOckpUSXlKVE5CSlRWQ0pUVkVKVGRFSlRKREpUSXlhR2hSU21oT1JGbG9Wamd5TXpjeU55VXlNaVV6UVNVM1FpVXlNbWxrSlRJeUpUTkJKVEl5YUdoUlNtaE9SRmxvVmpneU16Y3lOeVV5TWlVeVF5VXlNbTVoYldVbE1qSWxNMEVsTWpKc2FXNXJaWElsTWpJbE1rTWxNakowWlhoMEpUSXlKVE5CSlRJeUpUSXlKVEpESlRJeVozSnZkWEFsTWpJbE0wRWxNaklsTWpJbE1rTWxNakpzYVc1clpYSlVlWEJsSlRJeUpUTkJKVEl5WW5KdmEyVnVKVEl5SlRKREpUSXljRzlwYm5SekpUSXlKVE5CSlRWQ0pUZENKVEl5ZUNVeU1pVXpRVFkyTVM0eE1EQXdNRFl4TURNMU1UVTJKVEpESlRJeWVTVXlNaVV6UVRZNE55NDNNREF3TVRJeU1EY3dNekV5SlRkRUpUSkRKVGRDSlRJeWVDVXlNaVV6UVRZMk1TNHhNREF3TURZeE1ETTFNVFUySlRKREpUSXllU1V5TWlVelFUWTROeTQzTURBd01USXlNRGN3TXpFeUpUZEVKVFZFSlRKREpUSXliRzlqYTJWa0pUSXlKVE5CWm1Gc2MyVWxNa01sTWpKa1lYUmhRWFIwY21saWRYUmxjeVV5TWlVelFTVTFRaVUxUkNVeVF5VXlNbkJ5YjNCekpUSXlKVE5CSlRkQ0pUSXllbWx1WkdWNEpUSXlKVE5CTVRjbE4wUWxNa01sTWpKc2FXNWxVM1I1YkdVbE1qSWxNMEVsTjBJbE1qSnNhVzVsVjJsa2RHZ2xNaklsTTBFeExqVWxOMFFsTWtNbE1qSm1jbTl0SlRJeUpUTkJKVGRDSlRJeWVDVXlNaVV6UVRZMk1TNHhNREF3TURZeE1ETTFNVFUySlRKREpUSXllU1V5TWlVelFUY3hPQzR5TURBd01USXlNRGN3TXpFeUpUSkRKVEl5WVc1bmJHVWxNaklsTTBFeExqVTNNRGM1TmpNeU5qYzVORGc1TnlVeVF5VXlNbWxrSlRJeUpUTkJKVEl5V25oaVRGVjRWbUpGZFRZNU9EUTJOU1V5TWlVM1JDVXlReVV5TW5SdkpUSXlKVE5CSlRkQ0pUSXlhV1FsTWpJbE0wRWxNakp5Y2tob2QySlNXVk5STlRRME1UWXpKVEl5SlRKREpUSXllQ1V5TWlVelFUWTJNUzR4TURBd01EWXhNRE0xTVRVMkpUSkRKVEl5ZVNVeU1pVXpRVFkxTnk0eU1EQXdNVEl5TURjd016RXlKVEpESlRJeVlXNW5iR1VsTWpJbE0wRTBMamN4TWpNNE9EazRNRE00TkRZNUpUZEVKVEpESlRJeWRHVjRkRUpzYjJOckpUSXlKVE5CSlRWQ0pUVkVKVGRFSlRkRUpUSkRKVEl5WTI5dGJXVnVkSE1sTWpJbE0wRWxOVUlsTlVRbE1rTWxNakp3YkhWbmFXNXpKVEl5SlROQkpUZENKVGRFSlRKREpUSXlZV2xEYjI1MFlXbHVaWEp6SlRJeUpUTkJKVGRDSlRkRUpUSkRKVEl5YVc1elpYSjBVR0ZuWlU5d2RITWxNaklsTTBFbE4wSWxOMFFsTWtNbE1qSndiM04wVUdGNWJXVnVkQ1V5TWlVelFTVTNRaVUzUkNVeVF5VXlNblJvWlcxbEpUSXlKVE5CSlRkQ0pUSXljR0ZuWlNVeU1pVXpRU1UzUWlVeU1tSmhZMnRuY205MWJtUkRiMnh2Y2lVeU1pVXpRU1V5TW5SeVlXNXpjR0Z5Wlc1MEpUSXlKVGRFSlRkRUpUZEUiLAoJIkZpbGVJZCIgOiAicG9fYmhpYmhiaWVjZGhoYmEiCn0K"/>
    </extobj>
  </extobjs>
</s:customData>
</file>

<file path=customXml/itemProps65.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17254</Words>
  <Application>WPS 演示</Application>
  <PresentationFormat/>
  <Paragraphs>1553</Paragraphs>
  <Slides>37</Slides>
  <Notes>0</Notes>
  <HiddenSlides>0</HiddenSlides>
  <MMClips>0</MMClips>
  <ScaleCrop>false</ScaleCrop>
  <HeadingPairs>
    <vt:vector size="6" baseType="variant">
      <vt:variant>
        <vt:lpstr>已用的字体</vt:lpstr>
      </vt:variant>
      <vt:variant>
        <vt:i4>15</vt:i4>
      </vt:variant>
      <vt:variant>
        <vt:lpstr>主题</vt:lpstr>
      </vt:variant>
      <vt:variant>
        <vt:i4>6</vt:i4>
      </vt:variant>
      <vt:variant>
        <vt:lpstr>幻灯片标题</vt:lpstr>
      </vt:variant>
      <vt:variant>
        <vt:i4>37</vt:i4>
      </vt:variant>
    </vt:vector>
  </HeadingPairs>
  <TitlesOfParts>
    <vt:vector size="58" baseType="lpstr">
      <vt:lpstr>Arial</vt:lpstr>
      <vt:lpstr>宋体</vt:lpstr>
      <vt:lpstr>Wingdings</vt:lpstr>
      <vt:lpstr>Arial</vt:lpstr>
      <vt:lpstr>Noto Sans SC</vt:lpstr>
      <vt:lpstr>Lato</vt:lpstr>
      <vt:lpstr>SWAstro</vt:lpstr>
      <vt:lpstr>微软雅黑</vt:lpstr>
      <vt:lpstr>Arial Unicode MS</vt:lpstr>
      <vt:lpstr>Roboto Mono</vt:lpstr>
      <vt:lpstr>MiSans</vt:lpstr>
      <vt:lpstr>MiSans Bold</vt:lpstr>
      <vt:lpstr>MiSans Normal</vt:lpstr>
      <vt:lpstr>MiSans Medium</vt:lpstr>
      <vt:lpstr>Consolas</vt:lpstr>
      <vt:lpstr>Office 主题​​</vt:lpstr>
      <vt:lpstr>默认主题</vt:lpstr>
      <vt:lpstr>1_默认主题</vt:lpstr>
      <vt:lpstr>3_默认主题</vt:lpstr>
      <vt:lpstr>4_默认主题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唐丽莎</cp:lastModifiedBy>
  <cp:revision>4</cp:revision>
  <dcterms:created xsi:type="dcterms:W3CDTF">2026-06-17T17:30:00Z</dcterms:created>
  <dcterms:modified xsi:type="dcterms:W3CDTF">2026-06-18T01:11:32Z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{"Label":"1","ContentProducer":"001191110102MACQD9K64010000","ProduceID":"7652392638922804467","ReservedCode1":"","ContentPropagator":"","PropagateID":"","ReservedCode2":""}</vt:lpwstr>
  </property>
  <property fmtid="{D5CDD505-2E9C-101B-9397-08002B2CF9AE}" pid="3" name="ICV">
    <vt:lpwstr>BD9F83767804E15E03C4326ADFC77A18_42</vt:lpwstr>
  </property>
  <property fmtid="{D5CDD505-2E9C-101B-9397-08002B2CF9AE}" pid="4" name="KSOProductBuildVer">
    <vt:lpwstr>2052-12.1.0.23539</vt:lpwstr>
  </property>
</Properties>
</file>